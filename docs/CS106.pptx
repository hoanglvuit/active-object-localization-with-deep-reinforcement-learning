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30"/>
  </p:notesMasterIdLst>
  <p:sldIdLst>
    <p:sldId id="256" r:id="rId2"/>
    <p:sldId id="257" r:id="rId3"/>
    <p:sldId id="258" r:id="rId4"/>
    <p:sldId id="293" r:id="rId5"/>
    <p:sldId id="261" r:id="rId6"/>
    <p:sldId id="297" r:id="rId7"/>
    <p:sldId id="300" r:id="rId8"/>
    <p:sldId id="313" r:id="rId9"/>
    <p:sldId id="264" r:id="rId10"/>
    <p:sldId id="299" r:id="rId11"/>
    <p:sldId id="301" r:id="rId12"/>
    <p:sldId id="307" r:id="rId13"/>
    <p:sldId id="308" r:id="rId14"/>
    <p:sldId id="322" r:id="rId15"/>
    <p:sldId id="324" r:id="rId16"/>
    <p:sldId id="302" r:id="rId17"/>
    <p:sldId id="303" r:id="rId18"/>
    <p:sldId id="304" r:id="rId19"/>
    <p:sldId id="305" r:id="rId20"/>
    <p:sldId id="311" r:id="rId21"/>
    <p:sldId id="312" r:id="rId22"/>
    <p:sldId id="310" r:id="rId23"/>
    <p:sldId id="306" r:id="rId24"/>
    <p:sldId id="314" r:id="rId25"/>
    <p:sldId id="315" r:id="rId26"/>
    <p:sldId id="320" r:id="rId27"/>
    <p:sldId id="319" r:id="rId28"/>
    <p:sldId id="321" r:id="rId29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31"/>
    </p:embeddedFont>
    <p:embeddedFont>
      <p:font typeface="Cambria Math" panose="02040503050406030204" pitchFamily="18" charset="0"/>
      <p:regular r:id="rId32"/>
    </p:embeddedFont>
    <p:embeddedFont>
      <p:font typeface="Golos Text" panose="020B0604020202020204" charset="0"/>
      <p:regular r:id="rId33"/>
      <p:bold r:id="rId34"/>
    </p:embeddedFont>
    <p:embeddedFont>
      <p:font typeface="Golos Text Medium" panose="020B0604020202020204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2CC4312-F826-C26C-C3B8-7FBB154B83A3}" name="Nguyễn Duy Hoàng" initials="HN" userId="S::22520467@ms.uit.edu.vn::fd7581bb-f4a1-4b45-bfbe-1c6740062ca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62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665906-A735-497E-993A-3EC9B9B7B964}">
  <a:tblStyle styleId="{92665906-A735-497E-993A-3EC9B9B7B9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544" y="1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2a8e28482d_0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2a8e28482d_0_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2a8e28482d_0_10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2a8e28482d_0_10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2a8e28482d_0_1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2a8e28482d_0_1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2a8e28482d_0_1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2a8e28482d_0_1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3294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2b21ebf29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2b21ebf29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2b21ebf290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2b21ebf290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4132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312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6105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5009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7075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582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5767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58591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52206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28927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65685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96988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2128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90884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2b21ebf290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2b21ebf290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80229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8359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416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714150"/>
            <a:ext cx="4652400" cy="18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 b="0"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15100" y="1925850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700" b="0"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 b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715100" y="1767700"/>
            <a:ext cx="3856800" cy="284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715096" y="1242400"/>
            <a:ext cx="38568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3"/>
          </p:nvPr>
        </p:nvSpPr>
        <p:spPr>
          <a:xfrm>
            <a:off x="4572000" y="1767700"/>
            <a:ext cx="3856800" cy="284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4"/>
          </p:nvPr>
        </p:nvSpPr>
        <p:spPr>
          <a:xfrm>
            <a:off x="4571996" y="1242400"/>
            <a:ext cx="38568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175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3"/>
          <p:cNvSpPr txBox="1">
            <a:spLocks noGrp="1"/>
          </p:cNvSpPr>
          <p:nvPr>
            <p:ph type="title" hasCustomPrompt="1"/>
          </p:nvPr>
        </p:nvSpPr>
        <p:spPr>
          <a:xfrm>
            <a:off x="715100" y="1547208"/>
            <a:ext cx="13356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1"/>
          </p:nvPr>
        </p:nvSpPr>
        <p:spPr>
          <a:xfrm>
            <a:off x="2050814" y="1547208"/>
            <a:ext cx="63783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"/>
              <a:buNone/>
              <a:defRPr sz="3000" b="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3" hasCustomPrompt="1"/>
          </p:nvPr>
        </p:nvSpPr>
        <p:spPr>
          <a:xfrm>
            <a:off x="715100" y="2224908"/>
            <a:ext cx="13356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4"/>
          </p:nvPr>
        </p:nvSpPr>
        <p:spPr>
          <a:xfrm>
            <a:off x="2050814" y="2224908"/>
            <a:ext cx="63783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5" hasCustomPrompt="1"/>
          </p:nvPr>
        </p:nvSpPr>
        <p:spPr>
          <a:xfrm>
            <a:off x="715100" y="2902608"/>
            <a:ext cx="13356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6"/>
          </p:nvPr>
        </p:nvSpPr>
        <p:spPr>
          <a:xfrm>
            <a:off x="2050814" y="2902608"/>
            <a:ext cx="63783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7" hasCustomPrompt="1"/>
          </p:nvPr>
        </p:nvSpPr>
        <p:spPr>
          <a:xfrm>
            <a:off x="715100" y="3580308"/>
            <a:ext cx="13356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8"/>
          </p:nvPr>
        </p:nvSpPr>
        <p:spPr>
          <a:xfrm>
            <a:off x="2050814" y="3580308"/>
            <a:ext cx="63783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175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2">
            <a:alphaModFix amt="67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>
          <a:blip r:embed="rId2">
            <a:alphaModFix amt="29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2" r:id="rId11"/>
    <p:sldLayoutId id="214748366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ccess.thecvf.com/content_iccv_2015/papers/Caicedo_Active_Object_Localization_ICCV_2015_paper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ccess.thecvf.com/content_iccv_2015/papers/Caicedo_Active_Object_Localization_ICCV_2015_paper.pd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png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29.png"/><Relationship Id="rId4" Type="http://schemas.microsoft.com/office/2007/relationships/hdphoto" Target="../media/hdphoto1.wdp"/><Relationship Id="rId9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>
            <a:spLocks noGrp="1"/>
          </p:cNvSpPr>
          <p:nvPr>
            <p:ph type="ctrTitle"/>
          </p:nvPr>
        </p:nvSpPr>
        <p:spPr>
          <a:xfrm>
            <a:off x="427839" y="531815"/>
            <a:ext cx="5460583" cy="18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Active Object Localization with Deep Reinforcement Learning</a:t>
            </a:r>
            <a:endParaRPr lang="en-US" sz="3600" dirty="0">
              <a:solidFill>
                <a:schemeClr val="accent3"/>
              </a:solidFill>
            </a:endParaRPr>
          </a:p>
        </p:txBody>
      </p:sp>
      <p:grpSp>
        <p:nvGrpSpPr>
          <p:cNvPr id="84" name="Google Shape;84;p21"/>
          <p:cNvGrpSpPr/>
          <p:nvPr/>
        </p:nvGrpSpPr>
        <p:grpSpPr>
          <a:xfrm>
            <a:off x="6507498" y="2917498"/>
            <a:ext cx="3524464" cy="4496740"/>
            <a:chOff x="6483100" y="2237750"/>
            <a:chExt cx="898250" cy="1146075"/>
          </a:xfrm>
        </p:grpSpPr>
        <p:sp>
          <p:nvSpPr>
            <p:cNvPr id="85" name="Google Shape;85;p21"/>
            <p:cNvSpPr/>
            <p:nvPr/>
          </p:nvSpPr>
          <p:spPr>
            <a:xfrm>
              <a:off x="6679525" y="3352075"/>
              <a:ext cx="329550" cy="31750"/>
            </a:xfrm>
            <a:custGeom>
              <a:avLst/>
              <a:gdLst/>
              <a:ahLst/>
              <a:cxnLst/>
              <a:rect l="l" t="t" r="r" b="b"/>
              <a:pathLst>
                <a:path w="13182" h="1270" extrusionOk="0">
                  <a:moveTo>
                    <a:pt x="19" y="1"/>
                  </a:moveTo>
                  <a:cubicBezTo>
                    <a:pt x="7" y="169"/>
                    <a:pt x="1" y="338"/>
                    <a:pt x="1" y="510"/>
                  </a:cubicBezTo>
                  <a:cubicBezTo>
                    <a:pt x="1" y="929"/>
                    <a:pt x="2951" y="1270"/>
                    <a:pt x="6591" y="1270"/>
                  </a:cubicBezTo>
                  <a:cubicBezTo>
                    <a:pt x="10231" y="1270"/>
                    <a:pt x="13182" y="929"/>
                    <a:pt x="13182" y="510"/>
                  </a:cubicBezTo>
                  <a:cubicBezTo>
                    <a:pt x="13182" y="338"/>
                    <a:pt x="13176" y="169"/>
                    <a:pt x="13164" y="1"/>
                  </a:cubicBezTo>
                  <a:cubicBezTo>
                    <a:pt x="12918" y="394"/>
                    <a:pt x="10070" y="705"/>
                    <a:pt x="6591" y="705"/>
                  </a:cubicBezTo>
                  <a:cubicBezTo>
                    <a:pt x="3113" y="705"/>
                    <a:pt x="264" y="394"/>
                    <a:pt x="19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1"/>
            <p:cNvSpPr/>
            <p:nvPr/>
          </p:nvSpPr>
          <p:spPr>
            <a:xfrm>
              <a:off x="6679975" y="3199775"/>
              <a:ext cx="328650" cy="169925"/>
            </a:xfrm>
            <a:custGeom>
              <a:avLst/>
              <a:gdLst/>
              <a:ahLst/>
              <a:cxnLst/>
              <a:rect l="l" t="t" r="r" b="b"/>
              <a:pathLst>
                <a:path w="13146" h="6797" extrusionOk="0">
                  <a:moveTo>
                    <a:pt x="2443" y="0"/>
                  </a:moveTo>
                  <a:cubicBezTo>
                    <a:pt x="2443" y="0"/>
                    <a:pt x="858" y="2032"/>
                    <a:pt x="233" y="4614"/>
                  </a:cubicBezTo>
                  <a:cubicBezTo>
                    <a:pt x="210" y="4711"/>
                    <a:pt x="187" y="4808"/>
                    <a:pt x="167" y="4907"/>
                  </a:cubicBezTo>
                  <a:cubicBezTo>
                    <a:pt x="86" y="5293"/>
                    <a:pt x="28" y="5690"/>
                    <a:pt x="1" y="6093"/>
                  </a:cubicBezTo>
                  <a:cubicBezTo>
                    <a:pt x="246" y="6486"/>
                    <a:pt x="3095" y="6797"/>
                    <a:pt x="6573" y="6797"/>
                  </a:cubicBezTo>
                  <a:cubicBezTo>
                    <a:pt x="10051" y="6797"/>
                    <a:pt x="12900" y="6486"/>
                    <a:pt x="13146" y="6093"/>
                  </a:cubicBezTo>
                  <a:cubicBezTo>
                    <a:pt x="13062" y="4854"/>
                    <a:pt x="12685" y="3672"/>
                    <a:pt x="12252" y="2685"/>
                  </a:cubicBezTo>
                  <a:cubicBezTo>
                    <a:pt x="12211" y="2592"/>
                    <a:pt x="12170" y="2500"/>
                    <a:pt x="12128" y="2410"/>
                  </a:cubicBezTo>
                  <a:cubicBezTo>
                    <a:pt x="11457" y="965"/>
                    <a:pt x="10704" y="0"/>
                    <a:pt x="10704" y="0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1"/>
            <p:cNvSpPr/>
            <p:nvPr/>
          </p:nvSpPr>
          <p:spPr>
            <a:xfrm>
              <a:off x="6483100" y="2567000"/>
              <a:ext cx="714325" cy="702200"/>
            </a:xfrm>
            <a:custGeom>
              <a:avLst/>
              <a:gdLst/>
              <a:ahLst/>
              <a:cxnLst/>
              <a:rect l="l" t="t" r="r" b="b"/>
              <a:pathLst>
                <a:path w="28573" h="28088" extrusionOk="0">
                  <a:moveTo>
                    <a:pt x="3582" y="1"/>
                  </a:moveTo>
                  <a:lnTo>
                    <a:pt x="2817" y="4237"/>
                  </a:lnTo>
                  <a:lnTo>
                    <a:pt x="1190" y="13248"/>
                  </a:lnTo>
                  <a:cubicBezTo>
                    <a:pt x="1" y="19834"/>
                    <a:pt x="4181" y="26148"/>
                    <a:pt x="10616" y="27691"/>
                  </a:cubicBezTo>
                  <a:cubicBezTo>
                    <a:pt x="10825" y="27741"/>
                    <a:pt x="11036" y="27785"/>
                    <a:pt x="11248" y="27826"/>
                  </a:cubicBezTo>
                  <a:cubicBezTo>
                    <a:pt x="11317" y="27838"/>
                    <a:pt x="11385" y="27850"/>
                    <a:pt x="11455" y="27862"/>
                  </a:cubicBezTo>
                  <a:cubicBezTo>
                    <a:pt x="11525" y="27874"/>
                    <a:pt x="11593" y="27888"/>
                    <a:pt x="11663" y="27900"/>
                  </a:cubicBezTo>
                  <a:cubicBezTo>
                    <a:pt x="12391" y="28026"/>
                    <a:pt x="13115" y="28088"/>
                    <a:pt x="13830" y="28088"/>
                  </a:cubicBezTo>
                  <a:cubicBezTo>
                    <a:pt x="14872" y="28088"/>
                    <a:pt x="15893" y="27958"/>
                    <a:pt x="16875" y="27711"/>
                  </a:cubicBezTo>
                  <a:cubicBezTo>
                    <a:pt x="16972" y="27688"/>
                    <a:pt x="17070" y="27662"/>
                    <a:pt x="17167" y="27635"/>
                  </a:cubicBezTo>
                  <a:cubicBezTo>
                    <a:pt x="21672" y="26387"/>
                    <a:pt x="25295" y="22665"/>
                    <a:pt x="26181" y="17761"/>
                  </a:cubicBezTo>
                  <a:lnTo>
                    <a:pt x="28573" y="4513"/>
                  </a:lnTo>
                  <a:lnTo>
                    <a:pt x="3582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1"/>
            <p:cNvSpPr/>
            <p:nvPr/>
          </p:nvSpPr>
          <p:spPr>
            <a:xfrm>
              <a:off x="6567225" y="2545200"/>
              <a:ext cx="635575" cy="156400"/>
            </a:xfrm>
            <a:custGeom>
              <a:avLst/>
              <a:gdLst/>
              <a:ahLst/>
              <a:cxnLst/>
              <a:rect l="l" t="t" r="r" b="b"/>
              <a:pathLst>
                <a:path w="25423" h="6256" extrusionOk="0">
                  <a:moveTo>
                    <a:pt x="3970" y="1"/>
                  </a:moveTo>
                  <a:cubicBezTo>
                    <a:pt x="1742" y="1"/>
                    <a:pt x="321" y="290"/>
                    <a:pt x="217" y="873"/>
                  </a:cubicBezTo>
                  <a:cubicBezTo>
                    <a:pt x="0" y="2069"/>
                    <a:pt x="5420" y="4049"/>
                    <a:pt x="12321" y="5294"/>
                  </a:cubicBezTo>
                  <a:cubicBezTo>
                    <a:pt x="15862" y="5934"/>
                    <a:pt x="19106" y="6256"/>
                    <a:pt x="21454" y="6256"/>
                  </a:cubicBezTo>
                  <a:cubicBezTo>
                    <a:pt x="23681" y="6256"/>
                    <a:pt x="25102" y="5966"/>
                    <a:pt x="25208" y="5383"/>
                  </a:cubicBezTo>
                  <a:lnTo>
                    <a:pt x="25208" y="5385"/>
                  </a:lnTo>
                  <a:cubicBezTo>
                    <a:pt x="25423" y="4187"/>
                    <a:pt x="20005" y="2207"/>
                    <a:pt x="13102" y="962"/>
                  </a:cubicBezTo>
                  <a:cubicBezTo>
                    <a:pt x="9561" y="322"/>
                    <a:pt x="6317" y="1"/>
                    <a:pt x="3970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1"/>
            <p:cNvSpPr/>
            <p:nvPr/>
          </p:nvSpPr>
          <p:spPr>
            <a:xfrm>
              <a:off x="6581275" y="2554550"/>
              <a:ext cx="607525" cy="137700"/>
            </a:xfrm>
            <a:custGeom>
              <a:avLst/>
              <a:gdLst/>
              <a:ahLst/>
              <a:cxnLst/>
              <a:rect l="l" t="t" r="r" b="b"/>
              <a:pathLst>
                <a:path w="24301" h="5508" extrusionOk="0">
                  <a:moveTo>
                    <a:pt x="3410" y="0"/>
                  </a:moveTo>
                  <a:cubicBezTo>
                    <a:pt x="682" y="0"/>
                    <a:pt x="44" y="446"/>
                    <a:pt x="21" y="565"/>
                  </a:cubicBezTo>
                  <a:cubicBezTo>
                    <a:pt x="0" y="690"/>
                    <a:pt x="468" y="1354"/>
                    <a:pt x="3166" y="2341"/>
                  </a:cubicBezTo>
                  <a:cubicBezTo>
                    <a:pt x="5432" y="3169"/>
                    <a:pt x="8508" y="3955"/>
                    <a:pt x="11825" y="4554"/>
                  </a:cubicBezTo>
                  <a:cubicBezTo>
                    <a:pt x="15238" y="5169"/>
                    <a:pt x="18458" y="5508"/>
                    <a:pt x="20892" y="5508"/>
                  </a:cubicBezTo>
                  <a:cubicBezTo>
                    <a:pt x="23619" y="5508"/>
                    <a:pt x="24257" y="5062"/>
                    <a:pt x="24278" y="4943"/>
                  </a:cubicBezTo>
                  <a:cubicBezTo>
                    <a:pt x="24301" y="4820"/>
                    <a:pt x="23832" y="4154"/>
                    <a:pt x="21135" y="3168"/>
                  </a:cubicBezTo>
                  <a:cubicBezTo>
                    <a:pt x="18867" y="2339"/>
                    <a:pt x="15792" y="1554"/>
                    <a:pt x="12475" y="955"/>
                  </a:cubicBezTo>
                  <a:cubicBezTo>
                    <a:pt x="9064" y="340"/>
                    <a:pt x="5844" y="0"/>
                    <a:pt x="3410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1"/>
            <p:cNvSpPr/>
            <p:nvPr/>
          </p:nvSpPr>
          <p:spPr>
            <a:xfrm>
              <a:off x="6576975" y="2495475"/>
              <a:ext cx="634125" cy="151975"/>
            </a:xfrm>
            <a:custGeom>
              <a:avLst/>
              <a:gdLst/>
              <a:ahLst/>
              <a:cxnLst/>
              <a:rect l="l" t="t" r="r" b="b"/>
              <a:pathLst>
                <a:path w="25365" h="6079" extrusionOk="0">
                  <a:moveTo>
                    <a:pt x="343" y="0"/>
                  </a:moveTo>
                  <a:cubicBezTo>
                    <a:pt x="336" y="46"/>
                    <a:pt x="327" y="91"/>
                    <a:pt x="319" y="137"/>
                  </a:cubicBezTo>
                  <a:lnTo>
                    <a:pt x="217" y="696"/>
                  </a:lnTo>
                  <a:cubicBezTo>
                    <a:pt x="1" y="1892"/>
                    <a:pt x="5420" y="3872"/>
                    <a:pt x="12322" y="5117"/>
                  </a:cubicBezTo>
                  <a:cubicBezTo>
                    <a:pt x="15864" y="5756"/>
                    <a:pt x="19108" y="6078"/>
                    <a:pt x="21457" y="6078"/>
                  </a:cubicBezTo>
                  <a:cubicBezTo>
                    <a:pt x="23683" y="6078"/>
                    <a:pt x="25103" y="5789"/>
                    <a:pt x="25209" y="5206"/>
                  </a:cubicBezTo>
                  <a:lnTo>
                    <a:pt x="25309" y="4648"/>
                  </a:lnTo>
                  <a:cubicBezTo>
                    <a:pt x="25330" y="4535"/>
                    <a:pt x="25348" y="4425"/>
                    <a:pt x="25365" y="4313"/>
                  </a:cubicBezTo>
                  <a:lnTo>
                    <a:pt x="25365" y="4313"/>
                  </a:lnTo>
                  <a:cubicBezTo>
                    <a:pt x="24905" y="4717"/>
                    <a:pt x="23593" y="4918"/>
                    <a:pt x="21721" y="4918"/>
                  </a:cubicBezTo>
                  <a:cubicBezTo>
                    <a:pt x="19331" y="4918"/>
                    <a:pt x="16029" y="4590"/>
                    <a:pt x="12425" y="3939"/>
                  </a:cubicBezTo>
                  <a:cubicBezTo>
                    <a:pt x="6394" y="2851"/>
                    <a:pt x="1476" y="1212"/>
                    <a:pt x="343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1"/>
            <p:cNvSpPr/>
            <p:nvPr/>
          </p:nvSpPr>
          <p:spPr>
            <a:xfrm>
              <a:off x="6585550" y="2237750"/>
              <a:ext cx="638350" cy="380675"/>
            </a:xfrm>
            <a:custGeom>
              <a:avLst/>
              <a:gdLst/>
              <a:ahLst/>
              <a:cxnLst/>
              <a:rect l="l" t="t" r="r" b="b"/>
              <a:pathLst>
                <a:path w="25534" h="15227" extrusionOk="0">
                  <a:moveTo>
                    <a:pt x="12456" y="1"/>
                  </a:moveTo>
                  <a:cubicBezTo>
                    <a:pt x="6476" y="1"/>
                    <a:pt x="1163" y="4243"/>
                    <a:pt x="0" y="10308"/>
                  </a:cubicBezTo>
                  <a:cubicBezTo>
                    <a:pt x="1133" y="11521"/>
                    <a:pt x="6051" y="13160"/>
                    <a:pt x="12082" y="14248"/>
                  </a:cubicBezTo>
                  <a:cubicBezTo>
                    <a:pt x="15686" y="14899"/>
                    <a:pt x="18988" y="15227"/>
                    <a:pt x="21378" y="15227"/>
                  </a:cubicBezTo>
                  <a:cubicBezTo>
                    <a:pt x="23250" y="15227"/>
                    <a:pt x="24562" y="15026"/>
                    <a:pt x="25022" y="14622"/>
                  </a:cubicBezTo>
                  <a:cubicBezTo>
                    <a:pt x="25534" y="11288"/>
                    <a:pt x="24694" y="8042"/>
                    <a:pt x="22901" y="5461"/>
                  </a:cubicBezTo>
                  <a:cubicBezTo>
                    <a:pt x="21047" y="2790"/>
                    <a:pt x="18177" y="827"/>
                    <a:pt x="14726" y="205"/>
                  </a:cubicBezTo>
                  <a:cubicBezTo>
                    <a:pt x="13964" y="67"/>
                    <a:pt x="13205" y="1"/>
                    <a:pt x="12456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1"/>
            <p:cNvSpPr/>
            <p:nvPr/>
          </p:nvSpPr>
          <p:spPr>
            <a:xfrm>
              <a:off x="6487875" y="2662925"/>
              <a:ext cx="290925" cy="574125"/>
            </a:xfrm>
            <a:custGeom>
              <a:avLst/>
              <a:gdLst/>
              <a:ahLst/>
              <a:cxnLst/>
              <a:rect l="l" t="t" r="r" b="b"/>
              <a:pathLst>
                <a:path w="11637" h="22965" extrusionOk="0">
                  <a:moveTo>
                    <a:pt x="4908" y="0"/>
                  </a:moveTo>
                  <a:cubicBezTo>
                    <a:pt x="4510" y="0"/>
                    <a:pt x="4104" y="40"/>
                    <a:pt x="3694" y="122"/>
                  </a:cubicBezTo>
                  <a:cubicBezTo>
                    <a:pt x="3056" y="249"/>
                    <a:pt x="2561" y="753"/>
                    <a:pt x="2445" y="1392"/>
                  </a:cubicBezTo>
                  <a:lnTo>
                    <a:pt x="2252" y="2468"/>
                  </a:lnTo>
                  <a:lnTo>
                    <a:pt x="2180" y="2859"/>
                  </a:lnTo>
                  <a:lnTo>
                    <a:pt x="999" y="9411"/>
                  </a:lnTo>
                  <a:cubicBezTo>
                    <a:pt x="1" y="14942"/>
                    <a:pt x="2788" y="20278"/>
                    <a:pt x="7515" y="22762"/>
                  </a:cubicBezTo>
                  <a:cubicBezTo>
                    <a:pt x="7781" y="22901"/>
                    <a:pt x="8058" y="22965"/>
                    <a:pt x="8326" y="22965"/>
                  </a:cubicBezTo>
                  <a:cubicBezTo>
                    <a:pt x="8412" y="22965"/>
                    <a:pt x="8498" y="22958"/>
                    <a:pt x="8582" y="22945"/>
                  </a:cubicBezTo>
                  <a:cubicBezTo>
                    <a:pt x="9466" y="22810"/>
                    <a:pt x="10195" y="21992"/>
                    <a:pt x="10071" y="20982"/>
                  </a:cubicBezTo>
                  <a:cubicBezTo>
                    <a:pt x="10068" y="20972"/>
                    <a:pt x="10068" y="20961"/>
                    <a:pt x="10066" y="20950"/>
                  </a:cubicBezTo>
                  <a:cubicBezTo>
                    <a:pt x="9480" y="16234"/>
                    <a:pt x="10177" y="10996"/>
                    <a:pt x="10898" y="7312"/>
                  </a:cubicBezTo>
                  <a:cubicBezTo>
                    <a:pt x="11637" y="3539"/>
                    <a:pt x="8778" y="156"/>
                    <a:pt x="5160" y="6"/>
                  </a:cubicBezTo>
                  <a:cubicBezTo>
                    <a:pt x="5077" y="2"/>
                    <a:pt x="4993" y="0"/>
                    <a:pt x="4908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1"/>
            <p:cNvSpPr/>
            <p:nvPr/>
          </p:nvSpPr>
          <p:spPr>
            <a:xfrm>
              <a:off x="6616850" y="2662925"/>
              <a:ext cx="175175" cy="574125"/>
            </a:xfrm>
            <a:custGeom>
              <a:avLst/>
              <a:gdLst/>
              <a:ahLst/>
              <a:cxnLst/>
              <a:rect l="l" t="t" r="r" b="b"/>
              <a:pathLst>
                <a:path w="7007" h="22965" extrusionOk="0">
                  <a:moveTo>
                    <a:pt x="261" y="0"/>
                  </a:moveTo>
                  <a:cubicBezTo>
                    <a:pt x="175" y="0"/>
                    <a:pt x="89" y="2"/>
                    <a:pt x="1" y="6"/>
                  </a:cubicBezTo>
                  <a:cubicBezTo>
                    <a:pt x="3619" y="156"/>
                    <a:pt x="6478" y="3539"/>
                    <a:pt x="5739" y="7312"/>
                  </a:cubicBezTo>
                  <a:cubicBezTo>
                    <a:pt x="5018" y="10997"/>
                    <a:pt x="4321" y="16234"/>
                    <a:pt x="4907" y="20949"/>
                  </a:cubicBezTo>
                  <a:cubicBezTo>
                    <a:pt x="4909" y="20961"/>
                    <a:pt x="4910" y="20972"/>
                    <a:pt x="4912" y="20982"/>
                  </a:cubicBezTo>
                  <a:cubicBezTo>
                    <a:pt x="5036" y="21992"/>
                    <a:pt x="4307" y="22810"/>
                    <a:pt x="3423" y="22945"/>
                  </a:cubicBezTo>
                  <a:cubicBezTo>
                    <a:pt x="3508" y="22958"/>
                    <a:pt x="3594" y="22965"/>
                    <a:pt x="3678" y="22965"/>
                  </a:cubicBezTo>
                  <a:cubicBezTo>
                    <a:pt x="4673" y="22965"/>
                    <a:pt x="5560" y="22089"/>
                    <a:pt x="5422" y="20982"/>
                  </a:cubicBezTo>
                  <a:cubicBezTo>
                    <a:pt x="5420" y="20972"/>
                    <a:pt x="5419" y="20961"/>
                    <a:pt x="5417" y="20949"/>
                  </a:cubicBezTo>
                  <a:cubicBezTo>
                    <a:pt x="4833" y="16234"/>
                    <a:pt x="5528" y="10997"/>
                    <a:pt x="6251" y="7312"/>
                  </a:cubicBezTo>
                  <a:cubicBezTo>
                    <a:pt x="7006" y="3451"/>
                    <a:pt x="3998" y="0"/>
                    <a:pt x="261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1"/>
            <p:cNvSpPr/>
            <p:nvPr/>
          </p:nvSpPr>
          <p:spPr>
            <a:xfrm>
              <a:off x="6663675" y="2345200"/>
              <a:ext cx="382100" cy="240775"/>
            </a:xfrm>
            <a:custGeom>
              <a:avLst/>
              <a:gdLst/>
              <a:ahLst/>
              <a:cxnLst/>
              <a:rect l="l" t="t" r="r" b="b"/>
              <a:pathLst>
                <a:path w="15284" h="9631" extrusionOk="0">
                  <a:moveTo>
                    <a:pt x="2935" y="0"/>
                  </a:moveTo>
                  <a:cubicBezTo>
                    <a:pt x="2124" y="0"/>
                    <a:pt x="1376" y="529"/>
                    <a:pt x="1135" y="1346"/>
                  </a:cubicBezTo>
                  <a:lnTo>
                    <a:pt x="295" y="4179"/>
                  </a:lnTo>
                  <a:cubicBezTo>
                    <a:pt x="0" y="5174"/>
                    <a:pt x="568" y="6220"/>
                    <a:pt x="1563" y="6516"/>
                  </a:cubicBezTo>
                  <a:lnTo>
                    <a:pt x="11812" y="9553"/>
                  </a:lnTo>
                  <a:cubicBezTo>
                    <a:pt x="11989" y="9605"/>
                    <a:pt x="12169" y="9630"/>
                    <a:pt x="12345" y="9630"/>
                  </a:cubicBezTo>
                  <a:cubicBezTo>
                    <a:pt x="13157" y="9630"/>
                    <a:pt x="13906" y="9101"/>
                    <a:pt x="14149" y="8283"/>
                  </a:cubicBezTo>
                  <a:lnTo>
                    <a:pt x="14988" y="5451"/>
                  </a:lnTo>
                  <a:cubicBezTo>
                    <a:pt x="15283" y="4456"/>
                    <a:pt x="14715" y="3409"/>
                    <a:pt x="13719" y="3115"/>
                  </a:cubicBezTo>
                  <a:lnTo>
                    <a:pt x="3470" y="78"/>
                  </a:lnTo>
                  <a:cubicBezTo>
                    <a:pt x="3292" y="25"/>
                    <a:pt x="3112" y="0"/>
                    <a:pt x="293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1"/>
            <p:cNvSpPr/>
            <p:nvPr/>
          </p:nvSpPr>
          <p:spPr>
            <a:xfrm>
              <a:off x="6606775" y="2328350"/>
              <a:ext cx="382125" cy="240750"/>
            </a:xfrm>
            <a:custGeom>
              <a:avLst/>
              <a:gdLst/>
              <a:ahLst/>
              <a:cxnLst/>
              <a:rect l="l" t="t" r="r" b="b"/>
              <a:pathLst>
                <a:path w="15285" h="9630" extrusionOk="0">
                  <a:moveTo>
                    <a:pt x="2936" y="0"/>
                  </a:moveTo>
                  <a:cubicBezTo>
                    <a:pt x="2125" y="0"/>
                    <a:pt x="1377" y="529"/>
                    <a:pt x="1135" y="1346"/>
                  </a:cubicBezTo>
                  <a:lnTo>
                    <a:pt x="295" y="4179"/>
                  </a:lnTo>
                  <a:cubicBezTo>
                    <a:pt x="1" y="5174"/>
                    <a:pt x="569" y="6220"/>
                    <a:pt x="1564" y="6516"/>
                  </a:cubicBezTo>
                  <a:lnTo>
                    <a:pt x="11813" y="9551"/>
                  </a:lnTo>
                  <a:cubicBezTo>
                    <a:pt x="11991" y="9604"/>
                    <a:pt x="12171" y="9629"/>
                    <a:pt x="12348" y="9629"/>
                  </a:cubicBezTo>
                  <a:cubicBezTo>
                    <a:pt x="13159" y="9629"/>
                    <a:pt x="13907" y="9100"/>
                    <a:pt x="14150" y="8283"/>
                  </a:cubicBezTo>
                  <a:lnTo>
                    <a:pt x="14989" y="5451"/>
                  </a:lnTo>
                  <a:cubicBezTo>
                    <a:pt x="15284" y="4456"/>
                    <a:pt x="14716" y="3409"/>
                    <a:pt x="13721" y="3114"/>
                  </a:cubicBezTo>
                  <a:lnTo>
                    <a:pt x="3471" y="78"/>
                  </a:lnTo>
                  <a:cubicBezTo>
                    <a:pt x="3293" y="25"/>
                    <a:pt x="3113" y="0"/>
                    <a:pt x="293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1"/>
            <p:cNvSpPr/>
            <p:nvPr/>
          </p:nvSpPr>
          <p:spPr>
            <a:xfrm>
              <a:off x="6617200" y="2337675"/>
              <a:ext cx="361250" cy="222100"/>
            </a:xfrm>
            <a:custGeom>
              <a:avLst/>
              <a:gdLst/>
              <a:ahLst/>
              <a:cxnLst/>
              <a:rect l="l" t="t" r="r" b="b"/>
              <a:pathLst>
                <a:path w="14450" h="8884" extrusionOk="0">
                  <a:moveTo>
                    <a:pt x="2518" y="0"/>
                  </a:moveTo>
                  <a:cubicBezTo>
                    <a:pt x="2508" y="0"/>
                    <a:pt x="2498" y="0"/>
                    <a:pt x="2488" y="1"/>
                  </a:cubicBezTo>
                  <a:cubicBezTo>
                    <a:pt x="1830" y="14"/>
                    <a:pt x="1262" y="447"/>
                    <a:pt x="1076" y="1079"/>
                  </a:cubicBezTo>
                  <a:lnTo>
                    <a:pt x="237" y="3912"/>
                  </a:lnTo>
                  <a:cubicBezTo>
                    <a:pt x="0" y="4708"/>
                    <a:pt x="456" y="5547"/>
                    <a:pt x="1253" y="5784"/>
                  </a:cubicBezTo>
                  <a:lnTo>
                    <a:pt x="11502" y="8821"/>
                  </a:lnTo>
                  <a:cubicBezTo>
                    <a:pt x="11643" y="8863"/>
                    <a:pt x="11787" y="8883"/>
                    <a:pt x="11931" y="8883"/>
                  </a:cubicBezTo>
                  <a:cubicBezTo>
                    <a:pt x="11942" y="8883"/>
                    <a:pt x="11952" y="8883"/>
                    <a:pt x="11962" y="8883"/>
                  </a:cubicBezTo>
                  <a:cubicBezTo>
                    <a:pt x="12620" y="8869"/>
                    <a:pt x="13188" y="8436"/>
                    <a:pt x="13374" y="7804"/>
                  </a:cubicBezTo>
                  <a:lnTo>
                    <a:pt x="14213" y="4972"/>
                  </a:lnTo>
                  <a:cubicBezTo>
                    <a:pt x="14449" y="4175"/>
                    <a:pt x="13993" y="3336"/>
                    <a:pt x="13197" y="3100"/>
                  </a:cubicBezTo>
                  <a:lnTo>
                    <a:pt x="2948" y="63"/>
                  </a:lnTo>
                  <a:cubicBezTo>
                    <a:pt x="2808" y="20"/>
                    <a:pt x="2663" y="0"/>
                    <a:pt x="251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1"/>
            <p:cNvSpPr/>
            <p:nvPr/>
          </p:nvSpPr>
          <p:spPr>
            <a:xfrm>
              <a:off x="6648825" y="2370300"/>
              <a:ext cx="58900" cy="92675"/>
            </a:xfrm>
            <a:custGeom>
              <a:avLst/>
              <a:gdLst/>
              <a:ahLst/>
              <a:cxnLst/>
              <a:rect l="l" t="t" r="r" b="b"/>
              <a:pathLst>
                <a:path w="2356" h="3707" extrusionOk="0">
                  <a:moveTo>
                    <a:pt x="1501" y="0"/>
                  </a:moveTo>
                  <a:cubicBezTo>
                    <a:pt x="1169" y="0"/>
                    <a:pt x="864" y="216"/>
                    <a:pt x="765" y="548"/>
                  </a:cubicBezTo>
                  <a:lnTo>
                    <a:pt x="121" y="2723"/>
                  </a:lnTo>
                  <a:cubicBezTo>
                    <a:pt x="0" y="3129"/>
                    <a:pt x="232" y="3555"/>
                    <a:pt x="638" y="3674"/>
                  </a:cubicBezTo>
                  <a:cubicBezTo>
                    <a:pt x="711" y="3696"/>
                    <a:pt x="785" y="3707"/>
                    <a:pt x="857" y="3707"/>
                  </a:cubicBezTo>
                  <a:cubicBezTo>
                    <a:pt x="1188" y="3707"/>
                    <a:pt x="1493" y="3491"/>
                    <a:pt x="1591" y="3158"/>
                  </a:cubicBezTo>
                  <a:lnTo>
                    <a:pt x="2234" y="984"/>
                  </a:lnTo>
                  <a:cubicBezTo>
                    <a:pt x="2356" y="578"/>
                    <a:pt x="2124" y="151"/>
                    <a:pt x="1718" y="32"/>
                  </a:cubicBezTo>
                  <a:cubicBezTo>
                    <a:pt x="1646" y="10"/>
                    <a:pt x="1572" y="0"/>
                    <a:pt x="150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1"/>
            <p:cNvSpPr/>
            <p:nvPr/>
          </p:nvSpPr>
          <p:spPr>
            <a:xfrm>
              <a:off x="6796425" y="2413275"/>
              <a:ext cx="58875" cy="92700"/>
            </a:xfrm>
            <a:custGeom>
              <a:avLst/>
              <a:gdLst/>
              <a:ahLst/>
              <a:cxnLst/>
              <a:rect l="l" t="t" r="r" b="b"/>
              <a:pathLst>
                <a:path w="2355" h="3708" extrusionOk="0">
                  <a:moveTo>
                    <a:pt x="1500" y="0"/>
                  </a:moveTo>
                  <a:cubicBezTo>
                    <a:pt x="1169" y="0"/>
                    <a:pt x="864" y="216"/>
                    <a:pt x="764" y="550"/>
                  </a:cubicBezTo>
                  <a:lnTo>
                    <a:pt x="120" y="2723"/>
                  </a:lnTo>
                  <a:cubicBezTo>
                    <a:pt x="1" y="3129"/>
                    <a:pt x="232" y="3555"/>
                    <a:pt x="638" y="3676"/>
                  </a:cubicBezTo>
                  <a:cubicBezTo>
                    <a:pt x="711" y="3697"/>
                    <a:pt x="784" y="3708"/>
                    <a:pt x="855" y="3708"/>
                  </a:cubicBezTo>
                  <a:cubicBezTo>
                    <a:pt x="1186" y="3708"/>
                    <a:pt x="1491" y="3492"/>
                    <a:pt x="1590" y="3158"/>
                  </a:cubicBezTo>
                  <a:lnTo>
                    <a:pt x="2235" y="985"/>
                  </a:lnTo>
                  <a:cubicBezTo>
                    <a:pt x="2354" y="579"/>
                    <a:pt x="2123" y="153"/>
                    <a:pt x="1717" y="32"/>
                  </a:cubicBezTo>
                  <a:cubicBezTo>
                    <a:pt x="1644" y="10"/>
                    <a:pt x="1571" y="0"/>
                    <a:pt x="1500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1"/>
            <p:cNvSpPr/>
            <p:nvPr/>
          </p:nvSpPr>
          <p:spPr>
            <a:xfrm>
              <a:off x="6831125" y="2259625"/>
              <a:ext cx="202075" cy="116650"/>
            </a:xfrm>
            <a:custGeom>
              <a:avLst/>
              <a:gdLst/>
              <a:ahLst/>
              <a:cxnLst/>
              <a:rect l="l" t="t" r="r" b="b"/>
              <a:pathLst>
                <a:path w="8083" h="4666" extrusionOk="0">
                  <a:moveTo>
                    <a:pt x="3015" y="1"/>
                  </a:moveTo>
                  <a:cubicBezTo>
                    <a:pt x="1613" y="1"/>
                    <a:pt x="515" y="497"/>
                    <a:pt x="298" y="1343"/>
                  </a:cubicBezTo>
                  <a:cubicBezTo>
                    <a:pt x="0" y="2508"/>
                    <a:pt x="1491" y="3897"/>
                    <a:pt x="3626" y="4443"/>
                  </a:cubicBezTo>
                  <a:cubicBezTo>
                    <a:pt x="4213" y="4594"/>
                    <a:pt x="4788" y="4665"/>
                    <a:pt x="5319" y="4665"/>
                  </a:cubicBezTo>
                  <a:cubicBezTo>
                    <a:pt x="6332" y="4665"/>
                    <a:pt x="7186" y="4406"/>
                    <a:pt x="7665" y="3944"/>
                  </a:cubicBezTo>
                  <a:cubicBezTo>
                    <a:pt x="7848" y="3765"/>
                    <a:pt x="7975" y="3557"/>
                    <a:pt x="8036" y="3323"/>
                  </a:cubicBezTo>
                  <a:cubicBezTo>
                    <a:pt x="8072" y="3182"/>
                    <a:pt x="8083" y="3036"/>
                    <a:pt x="8067" y="2891"/>
                  </a:cubicBezTo>
                  <a:cubicBezTo>
                    <a:pt x="7963" y="1834"/>
                    <a:pt x="6585" y="704"/>
                    <a:pt x="4708" y="222"/>
                  </a:cubicBezTo>
                  <a:cubicBezTo>
                    <a:pt x="4121" y="72"/>
                    <a:pt x="3546" y="1"/>
                    <a:pt x="3015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1"/>
            <p:cNvSpPr/>
            <p:nvPr/>
          </p:nvSpPr>
          <p:spPr>
            <a:xfrm>
              <a:off x="7014775" y="2331875"/>
              <a:ext cx="18400" cy="26350"/>
            </a:xfrm>
            <a:custGeom>
              <a:avLst/>
              <a:gdLst/>
              <a:ahLst/>
              <a:cxnLst/>
              <a:rect l="l" t="t" r="r" b="b"/>
              <a:pathLst>
                <a:path w="736" h="1054" extrusionOk="0">
                  <a:moveTo>
                    <a:pt x="721" y="1"/>
                  </a:moveTo>
                  <a:cubicBezTo>
                    <a:pt x="399" y="4"/>
                    <a:pt x="126" y="170"/>
                    <a:pt x="58" y="433"/>
                  </a:cubicBezTo>
                  <a:cubicBezTo>
                    <a:pt x="0" y="655"/>
                    <a:pt x="109" y="891"/>
                    <a:pt x="319" y="1054"/>
                  </a:cubicBezTo>
                  <a:cubicBezTo>
                    <a:pt x="502" y="875"/>
                    <a:pt x="629" y="667"/>
                    <a:pt x="690" y="433"/>
                  </a:cubicBezTo>
                  <a:cubicBezTo>
                    <a:pt x="726" y="292"/>
                    <a:pt x="735" y="146"/>
                    <a:pt x="721" y="1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1"/>
            <p:cNvSpPr/>
            <p:nvPr/>
          </p:nvSpPr>
          <p:spPr>
            <a:xfrm>
              <a:off x="6968050" y="2474475"/>
              <a:ext cx="50825" cy="77725"/>
            </a:xfrm>
            <a:custGeom>
              <a:avLst/>
              <a:gdLst/>
              <a:ahLst/>
              <a:cxnLst/>
              <a:rect l="l" t="t" r="r" b="b"/>
              <a:pathLst>
                <a:path w="2033" h="3109" extrusionOk="0">
                  <a:moveTo>
                    <a:pt x="1011" y="0"/>
                  </a:moveTo>
                  <a:cubicBezTo>
                    <a:pt x="865" y="0"/>
                    <a:pt x="730" y="96"/>
                    <a:pt x="686" y="244"/>
                  </a:cubicBezTo>
                  <a:lnTo>
                    <a:pt x="53" y="2382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1277" y="3100"/>
                  </a:lnTo>
                  <a:cubicBezTo>
                    <a:pt x="1297" y="3106"/>
                    <a:pt x="1312" y="3109"/>
                    <a:pt x="1324" y="3109"/>
                  </a:cubicBezTo>
                  <a:cubicBezTo>
                    <a:pt x="1424" y="3109"/>
                    <a:pt x="1298" y="2926"/>
                    <a:pt x="1345" y="2766"/>
                  </a:cubicBezTo>
                  <a:lnTo>
                    <a:pt x="1978" y="627"/>
                  </a:lnTo>
                  <a:cubicBezTo>
                    <a:pt x="2033" y="447"/>
                    <a:pt x="1930" y="257"/>
                    <a:pt x="1750" y="204"/>
                  </a:cubicBezTo>
                  <a:lnTo>
                    <a:pt x="1109" y="15"/>
                  </a:lnTo>
                  <a:cubicBezTo>
                    <a:pt x="1076" y="5"/>
                    <a:pt x="1043" y="0"/>
                    <a:pt x="101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1"/>
            <p:cNvSpPr/>
            <p:nvPr/>
          </p:nvSpPr>
          <p:spPr>
            <a:xfrm>
              <a:off x="6981225" y="2478250"/>
              <a:ext cx="45925" cy="73900"/>
            </a:xfrm>
            <a:custGeom>
              <a:avLst/>
              <a:gdLst/>
              <a:ahLst/>
              <a:cxnLst/>
              <a:rect l="l" t="t" r="r" b="b"/>
              <a:pathLst>
                <a:path w="1837" h="2956" extrusionOk="0">
                  <a:moveTo>
                    <a:pt x="1013" y="1"/>
                  </a:moveTo>
                  <a:cubicBezTo>
                    <a:pt x="866" y="1"/>
                    <a:pt x="731" y="97"/>
                    <a:pt x="688" y="244"/>
                  </a:cubicBezTo>
                  <a:lnTo>
                    <a:pt x="53" y="2383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726" y="2942"/>
                  </a:lnTo>
                  <a:cubicBezTo>
                    <a:pt x="758" y="2951"/>
                    <a:pt x="790" y="2956"/>
                    <a:pt x="822" y="2956"/>
                  </a:cubicBezTo>
                  <a:cubicBezTo>
                    <a:pt x="969" y="2956"/>
                    <a:pt x="1105" y="2860"/>
                    <a:pt x="1150" y="2712"/>
                  </a:cubicBezTo>
                  <a:lnTo>
                    <a:pt x="1783" y="574"/>
                  </a:lnTo>
                  <a:cubicBezTo>
                    <a:pt x="1836" y="394"/>
                    <a:pt x="1733" y="205"/>
                    <a:pt x="1553" y="150"/>
                  </a:cubicBezTo>
                  <a:lnTo>
                    <a:pt x="1111" y="15"/>
                  </a:lnTo>
                  <a:cubicBezTo>
                    <a:pt x="1078" y="5"/>
                    <a:pt x="1045" y="1"/>
                    <a:pt x="1013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1"/>
            <p:cNvSpPr/>
            <p:nvPr/>
          </p:nvSpPr>
          <p:spPr>
            <a:xfrm>
              <a:off x="7000600" y="2281000"/>
              <a:ext cx="81250" cy="232325"/>
            </a:xfrm>
            <a:custGeom>
              <a:avLst/>
              <a:gdLst/>
              <a:ahLst/>
              <a:cxnLst/>
              <a:rect l="l" t="t" r="r" b="b"/>
              <a:pathLst>
                <a:path w="3250" h="9293" extrusionOk="0">
                  <a:moveTo>
                    <a:pt x="2928" y="0"/>
                  </a:moveTo>
                  <a:cubicBezTo>
                    <a:pt x="2804" y="0"/>
                    <a:pt x="2690" y="81"/>
                    <a:pt x="2653" y="206"/>
                  </a:cubicBezTo>
                  <a:lnTo>
                    <a:pt x="45" y="8923"/>
                  </a:lnTo>
                  <a:cubicBezTo>
                    <a:pt x="1" y="9076"/>
                    <a:pt x="87" y="9237"/>
                    <a:pt x="240" y="9281"/>
                  </a:cubicBezTo>
                  <a:cubicBezTo>
                    <a:pt x="268" y="9289"/>
                    <a:pt x="295" y="9293"/>
                    <a:pt x="322" y="9293"/>
                  </a:cubicBezTo>
                  <a:cubicBezTo>
                    <a:pt x="446" y="9293"/>
                    <a:pt x="560" y="9212"/>
                    <a:pt x="598" y="9087"/>
                  </a:cubicBezTo>
                  <a:lnTo>
                    <a:pt x="3205" y="370"/>
                  </a:lnTo>
                  <a:cubicBezTo>
                    <a:pt x="3250" y="217"/>
                    <a:pt x="3164" y="58"/>
                    <a:pt x="3011" y="12"/>
                  </a:cubicBezTo>
                  <a:cubicBezTo>
                    <a:pt x="2983" y="4"/>
                    <a:pt x="2955" y="0"/>
                    <a:pt x="2928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1"/>
            <p:cNvSpPr/>
            <p:nvPr/>
          </p:nvSpPr>
          <p:spPr>
            <a:xfrm>
              <a:off x="6684150" y="3257875"/>
              <a:ext cx="302125" cy="78425"/>
            </a:xfrm>
            <a:custGeom>
              <a:avLst/>
              <a:gdLst/>
              <a:ahLst/>
              <a:cxnLst/>
              <a:rect l="l" t="t" r="r" b="b"/>
              <a:pathLst>
                <a:path w="12085" h="3137" extrusionOk="0">
                  <a:moveTo>
                    <a:pt x="9125" y="0"/>
                  </a:moveTo>
                  <a:cubicBezTo>
                    <a:pt x="9028" y="26"/>
                    <a:pt x="8931" y="53"/>
                    <a:pt x="8833" y="76"/>
                  </a:cubicBezTo>
                  <a:cubicBezTo>
                    <a:pt x="8971" y="736"/>
                    <a:pt x="9084" y="1544"/>
                    <a:pt x="9101" y="2454"/>
                  </a:cubicBezTo>
                  <a:cubicBezTo>
                    <a:pt x="7409" y="2738"/>
                    <a:pt x="5925" y="2839"/>
                    <a:pt x="4667" y="2839"/>
                  </a:cubicBezTo>
                  <a:cubicBezTo>
                    <a:pt x="2285" y="2839"/>
                    <a:pt x="710" y="2475"/>
                    <a:pt x="67" y="2292"/>
                  </a:cubicBezTo>
                  <a:cubicBezTo>
                    <a:pt x="43" y="2387"/>
                    <a:pt x="22" y="2484"/>
                    <a:pt x="0" y="2583"/>
                  </a:cubicBezTo>
                  <a:cubicBezTo>
                    <a:pt x="679" y="2775"/>
                    <a:pt x="2276" y="3137"/>
                    <a:pt x="4669" y="3137"/>
                  </a:cubicBezTo>
                  <a:cubicBezTo>
                    <a:pt x="5975" y="3137"/>
                    <a:pt x="7518" y="3029"/>
                    <a:pt x="9278" y="2725"/>
                  </a:cubicBezTo>
                  <a:lnTo>
                    <a:pt x="9404" y="2704"/>
                  </a:lnTo>
                  <a:lnTo>
                    <a:pt x="9402" y="2577"/>
                  </a:lnTo>
                  <a:cubicBezTo>
                    <a:pt x="9398" y="2054"/>
                    <a:pt x="9361" y="1565"/>
                    <a:pt x="9307" y="1113"/>
                  </a:cubicBezTo>
                  <a:cubicBezTo>
                    <a:pt x="9749" y="1101"/>
                    <a:pt x="10950" y="1006"/>
                    <a:pt x="12085" y="361"/>
                  </a:cubicBezTo>
                  <a:cubicBezTo>
                    <a:pt x="12044" y="268"/>
                    <a:pt x="12003" y="176"/>
                    <a:pt x="11962" y="86"/>
                  </a:cubicBezTo>
                  <a:cubicBezTo>
                    <a:pt x="10858" y="723"/>
                    <a:pt x="9654" y="806"/>
                    <a:pt x="9267" y="815"/>
                  </a:cubicBezTo>
                  <a:cubicBezTo>
                    <a:pt x="9227" y="523"/>
                    <a:pt x="9177" y="250"/>
                    <a:pt x="912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1"/>
            <p:cNvSpPr/>
            <p:nvPr/>
          </p:nvSpPr>
          <p:spPr>
            <a:xfrm>
              <a:off x="6679525" y="3352075"/>
              <a:ext cx="329550" cy="31750"/>
            </a:xfrm>
            <a:custGeom>
              <a:avLst/>
              <a:gdLst/>
              <a:ahLst/>
              <a:cxnLst/>
              <a:rect l="l" t="t" r="r" b="b"/>
              <a:pathLst>
                <a:path w="13182" h="1270" extrusionOk="0">
                  <a:moveTo>
                    <a:pt x="19" y="1"/>
                  </a:moveTo>
                  <a:cubicBezTo>
                    <a:pt x="7" y="169"/>
                    <a:pt x="1" y="338"/>
                    <a:pt x="1" y="510"/>
                  </a:cubicBezTo>
                  <a:cubicBezTo>
                    <a:pt x="1" y="929"/>
                    <a:pt x="2951" y="1270"/>
                    <a:pt x="6591" y="1270"/>
                  </a:cubicBezTo>
                  <a:cubicBezTo>
                    <a:pt x="10231" y="1270"/>
                    <a:pt x="13182" y="929"/>
                    <a:pt x="13182" y="510"/>
                  </a:cubicBezTo>
                  <a:cubicBezTo>
                    <a:pt x="13182" y="338"/>
                    <a:pt x="13176" y="169"/>
                    <a:pt x="13164" y="1"/>
                  </a:cubicBezTo>
                  <a:cubicBezTo>
                    <a:pt x="12918" y="394"/>
                    <a:pt x="10070" y="705"/>
                    <a:pt x="6591" y="705"/>
                  </a:cubicBezTo>
                  <a:cubicBezTo>
                    <a:pt x="3113" y="705"/>
                    <a:pt x="264" y="394"/>
                    <a:pt x="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1"/>
            <p:cNvSpPr/>
            <p:nvPr/>
          </p:nvSpPr>
          <p:spPr>
            <a:xfrm>
              <a:off x="6679975" y="3199775"/>
              <a:ext cx="328650" cy="169925"/>
            </a:xfrm>
            <a:custGeom>
              <a:avLst/>
              <a:gdLst/>
              <a:ahLst/>
              <a:cxnLst/>
              <a:rect l="l" t="t" r="r" b="b"/>
              <a:pathLst>
                <a:path w="13146" h="6797" extrusionOk="0">
                  <a:moveTo>
                    <a:pt x="2443" y="0"/>
                  </a:moveTo>
                  <a:cubicBezTo>
                    <a:pt x="2443" y="0"/>
                    <a:pt x="858" y="2032"/>
                    <a:pt x="233" y="4614"/>
                  </a:cubicBezTo>
                  <a:cubicBezTo>
                    <a:pt x="210" y="4711"/>
                    <a:pt x="187" y="4808"/>
                    <a:pt x="167" y="4907"/>
                  </a:cubicBezTo>
                  <a:cubicBezTo>
                    <a:pt x="86" y="5293"/>
                    <a:pt x="28" y="5690"/>
                    <a:pt x="1" y="6093"/>
                  </a:cubicBezTo>
                  <a:cubicBezTo>
                    <a:pt x="246" y="6486"/>
                    <a:pt x="3095" y="6797"/>
                    <a:pt x="6573" y="6797"/>
                  </a:cubicBezTo>
                  <a:cubicBezTo>
                    <a:pt x="10051" y="6797"/>
                    <a:pt x="12900" y="6486"/>
                    <a:pt x="13146" y="6093"/>
                  </a:cubicBezTo>
                  <a:cubicBezTo>
                    <a:pt x="13062" y="4854"/>
                    <a:pt x="12685" y="3672"/>
                    <a:pt x="12252" y="2685"/>
                  </a:cubicBezTo>
                  <a:cubicBezTo>
                    <a:pt x="12211" y="2592"/>
                    <a:pt x="12170" y="2500"/>
                    <a:pt x="12128" y="2410"/>
                  </a:cubicBezTo>
                  <a:cubicBezTo>
                    <a:pt x="11457" y="965"/>
                    <a:pt x="10704" y="0"/>
                    <a:pt x="107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1"/>
            <p:cNvSpPr/>
            <p:nvPr/>
          </p:nvSpPr>
          <p:spPr>
            <a:xfrm>
              <a:off x="6483100" y="2567000"/>
              <a:ext cx="714325" cy="702200"/>
            </a:xfrm>
            <a:custGeom>
              <a:avLst/>
              <a:gdLst/>
              <a:ahLst/>
              <a:cxnLst/>
              <a:rect l="l" t="t" r="r" b="b"/>
              <a:pathLst>
                <a:path w="28573" h="28088" extrusionOk="0">
                  <a:moveTo>
                    <a:pt x="3582" y="1"/>
                  </a:moveTo>
                  <a:lnTo>
                    <a:pt x="2817" y="4237"/>
                  </a:lnTo>
                  <a:lnTo>
                    <a:pt x="1190" y="13248"/>
                  </a:lnTo>
                  <a:cubicBezTo>
                    <a:pt x="1" y="19834"/>
                    <a:pt x="4181" y="26148"/>
                    <a:pt x="10616" y="27691"/>
                  </a:cubicBezTo>
                  <a:cubicBezTo>
                    <a:pt x="10825" y="27741"/>
                    <a:pt x="11036" y="27785"/>
                    <a:pt x="11248" y="27826"/>
                  </a:cubicBezTo>
                  <a:cubicBezTo>
                    <a:pt x="11317" y="27838"/>
                    <a:pt x="11385" y="27850"/>
                    <a:pt x="11455" y="27862"/>
                  </a:cubicBezTo>
                  <a:cubicBezTo>
                    <a:pt x="11525" y="27874"/>
                    <a:pt x="11593" y="27888"/>
                    <a:pt x="11663" y="27900"/>
                  </a:cubicBezTo>
                  <a:cubicBezTo>
                    <a:pt x="12391" y="28026"/>
                    <a:pt x="13115" y="28088"/>
                    <a:pt x="13830" y="28088"/>
                  </a:cubicBezTo>
                  <a:cubicBezTo>
                    <a:pt x="14872" y="28088"/>
                    <a:pt x="15893" y="27958"/>
                    <a:pt x="16875" y="27711"/>
                  </a:cubicBezTo>
                  <a:cubicBezTo>
                    <a:pt x="16972" y="27688"/>
                    <a:pt x="17070" y="27662"/>
                    <a:pt x="17167" y="27635"/>
                  </a:cubicBezTo>
                  <a:cubicBezTo>
                    <a:pt x="21672" y="26387"/>
                    <a:pt x="25295" y="22665"/>
                    <a:pt x="26181" y="17761"/>
                  </a:cubicBezTo>
                  <a:lnTo>
                    <a:pt x="28573" y="4513"/>
                  </a:lnTo>
                  <a:lnTo>
                    <a:pt x="35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1"/>
            <p:cNvSpPr/>
            <p:nvPr/>
          </p:nvSpPr>
          <p:spPr>
            <a:xfrm>
              <a:off x="6567225" y="2545200"/>
              <a:ext cx="635575" cy="156400"/>
            </a:xfrm>
            <a:custGeom>
              <a:avLst/>
              <a:gdLst/>
              <a:ahLst/>
              <a:cxnLst/>
              <a:rect l="l" t="t" r="r" b="b"/>
              <a:pathLst>
                <a:path w="25423" h="6256" extrusionOk="0">
                  <a:moveTo>
                    <a:pt x="3970" y="1"/>
                  </a:moveTo>
                  <a:cubicBezTo>
                    <a:pt x="1742" y="1"/>
                    <a:pt x="321" y="290"/>
                    <a:pt x="217" y="873"/>
                  </a:cubicBezTo>
                  <a:cubicBezTo>
                    <a:pt x="0" y="2069"/>
                    <a:pt x="5420" y="4049"/>
                    <a:pt x="12321" y="5294"/>
                  </a:cubicBezTo>
                  <a:cubicBezTo>
                    <a:pt x="15862" y="5934"/>
                    <a:pt x="19106" y="6256"/>
                    <a:pt x="21454" y="6256"/>
                  </a:cubicBezTo>
                  <a:cubicBezTo>
                    <a:pt x="23681" y="6256"/>
                    <a:pt x="25102" y="5966"/>
                    <a:pt x="25208" y="5383"/>
                  </a:cubicBezTo>
                  <a:lnTo>
                    <a:pt x="25208" y="5385"/>
                  </a:lnTo>
                  <a:cubicBezTo>
                    <a:pt x="25423" y="4187"/>
                    <a:pt x="20005" y="2207"/>
                    <a:pt x="13102" y="962"/>
                  </a:cubicBezTo>
                  <a:cubicBezTo>
                    <a:pt x="9561" y="322"/>
                    <a:pt x="6317" y="1"/>
                    <a:pt x="39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1"/>
            <p:cNvSpPr/>
            <p:nvPr/>
          </p:nvSpPr>
          <p:spPr>
            <a:xfrm>
              <a:off x="6581275" y="2554550"/>
              <a:ext cx="607525" cy="137700"/>
            </a:xfrm>
            <a:custGeom>
              <a:avLst/>
              <a:gdLst/>
              <a:ahLst/>
              <a:cxnLst/>
              <a:rect l="l" t="t" r="r" b="b"/>
              <a:pathLst>
                <a:path w="24301" h="5508" extrusionOk="0">
                  <a:moveTo>
                    <a:pt x="3410" y="0"/>
                  </a:moveTo>
                  <a:cubicBezTo>
                    <a:pt x="682" y="0"/>
                    <a:pt x="44" y="446"/>
                    <a:pt x="21" y="565"/>
                  </a:cubicBezTo>
                  <a:cubicBezTo>
                    <a:pt x="0" y="690"/>
                    <a:pt x="468" y="1354"/>
                    <a:pt x="3166" y="2341"/>
                  </a:cubicBezTo>
                  <a:cubicBezTo>
                    <a:pt x="5432" y="3169"/>
                    <a:pt x="8508" y="3955"/>
                    <a:pt x="11825" y="4554"/>
                  </a:cubicBezTo>
                  <a:cubicBezTo>
                    <a:pt x="15238" y="5169"/>
                    <a:pt x="18458" y="5508"/>
                    <a:pt x="20892" y="5508"/>
                  </a:cubicBezTo>
                  <a:cubicBezTo>
                    <a:pt x="23619" y="5508"/>
                    <a:pt x="24257" y="5062"/>
                    <a:pt x="24278" y="4943"/>
                  </a:cubicBezTo>
                  <a:cubicBezTo>
                    <a:pt x="24301" y="4820"/>
                    <a:pt x="23832" y="4154"/>
                    <a:pt x="21135" y="3168"/>
                  </a:cubicBezTo>
                  <a:cubicBezTo>
                    <a:pt x="18867" y="2339"/>
                    <a:pt x="15792" y="1554"/>
                    <a:pt x="12475" y="955"/>
                  </a:cubicBezTo>
                  <a:cubicBezTo>
                    <a:pt x="9064" y="340"/>
                    <a:pt x="5844" y="0"/>
                    <a:pt x="3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1"/>
            <p:cNvSpPr/>
            <p:nvPr/>
          </p:nvSpPr>
          <p:spPr>
            <a:xfrm>
              <a:off x="6576975" y="2495475"/>
              <a:ext cx="634125" cy="151975"/>
            </a:xfrm>
            <a:custGeom>
              <a:avLst/>
              <a:gdLst/>
              <a:ahLst/>
              <a:cxnLst/>
              <a:rect l="l" t="t" r="r" b="b"/>
              <a:pathLst>
                <a:path w="25365" h="6079" extrusionOk="0">
                  <a:moveTo>
                    <a:pt x="343" y="0"/>
                  </a:moveTo>
                  <a:cubicBezTo>
                    <a:pt x="336" y="46"/>
                    <a:pt x="327" y="91"/>
                    <a:pt x="319" y="137"/>
                  </a:cubicBezTo>
                  <a:lnTo>
                    <a:pt x="217" y="696"/>
                  </a:lnTo>
                  <a:cubicBezTo>
                    <a:pt x="1" y="1892"/>
                    <a:pt x="5420" y="3872"/>
                    <a:pt x="12322" y="5117"/>
                  </a:cubicBezTo>
                  <a:cubicBezTo>
                    <a:pt x="15864" y="5756"/>
                    <a:pt x="19108" y="6078"/>
                    <a:pt x="21457" y="6078"/>
                  </a:cubicBezTo>
                  <a:cubicBezTo>
                    <a:pt x="23683" y="6078"/>
                    <a:pt x="25103" y="5789"/>
                    <a:pt x="25209" y="5206"/>
                  </a:cubicBezTo>
                  <a:lnTo>
                    <a:pt x="25309" y="4648"/>
                  </a:lnTo>
                  <a:cubicBezTo>
                    <a:pt x="25330" y="4535"/>
                    <a:pt x="25348" y="4425"/>
                    <a:pt x="25365" y="4313"/>
                  </a:cubicBezTo>
                  <a:lnTo>
                    <a:pt x="25365" y="4313"/>
                  </a:lnTo>
                  <a:cubicBezTo>
                    <a:pt x="24905" y="4717"/>
                    <a:pt x="23593" y="4918"/>
                    <a:pt x="21721" y="4918"/>
                  </a:cubicBezTo>
                  <a:cubicBezTo>
                    <a:pt x="19331" y="4918"/>
                    <a:pt x="16029" y="4590"/>
                    <a:pt x="12425" y="3939"/>
                  </a:cubicBezTo>
                  <a:cubicBezTo>
                    <a:pt x="6394" y="2851"/>
                    <a:pt x="1476" y="1212"/>
                    <a:pt x="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1"/>
            <p:cNvSpPr/>
            <p:nvPr/>
          </p:nvSpPr>
          <p:spPr>
            <a:xfrm>
              <a:off x="6585550" y="2237750"/>
              <a:ext cx="638350" cy="380675"/>
            </a:xfrm>
            <a:custGeom>
              <a:avLst/>
              <a:gdLst/>
              <a:ahLst/>
              <a:cxnLst/>
              <a:rect l="l" t="t" r="r" b="b"/>
              <a:pathLst>
                <a:path w="25534" h="15227" extrusionOk="0">
                  <a:moveTo>
                    <a:pt x="12456" y="1"/>
                  </a:moveTo>
                  <a:cubicBezTo>
                    <a:pt x="6476" y="1"/>
                    <a:pt x="1163" y="4243"/>
                    <a:pt x="0" y="10308"/>
                  </a:cubicBezTo>
                  <a:cubicBezTo>
                    <a:pt x="1133" y="11521"/>
                    <a:pt x="6051" y="13160"/>
                    <a:pt x="12082" y="14248"/>
                  </a:cubicBezTo>
                  <a:cubicBezTo>
                    <a:pt x="15686" y="14899"/>
                    <a:pt x="18988" y="15227"/>
                    <a:pt x="21378" y="15227"/>
                  </a:cubicBezTo>
                  <a:cubicBezTo>
                    <a:pt x="23250" y="15227"/>
                    <a:pt x="24562" y="15026"/>
                    <a:pt x="25022" y="14622"/>
                  </a:cubicBezTo>
                  <a:cubicBezTo>
                    <a:pt x="25534" y="11288"/>
                    <a:pt x="24694" y="8042"/>
                    <a:pt x="22901" y="5461"/>
                  </a:cubicBezTo>
                  <a:cubicBezTo>
                    <a:pt x="21047" y="2790"/>
                    <a:pt x="18177" y="827"/>
                    <a:pt x="14726" y="205"/>
                  </a:cubicBezTo>
                  <a:cubicBezTo>
                    <a:pt x="13964" y="67"/>
                    <a:pt x="13205" y="1"/>
                    <a:pt x="124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1"/>
            <p:cNvSpPr/>
            <p:nvPr/>
          </p:nvSpPr>
          <p:spPr>
            <a:xfrm>
              <a:off x="6487875" y="2662925"/>
              <a:ext cx="290925" cy="574125"/>
            </a:xfrm>
            <a:custGeom>
              <a:avLst/>
              <a:gdLst/>
              <a:ahLst/>
              <a:cxnLst/>
              <a:rect l="l" t="t" r="r" b="b"/>
              <a:pathLst>
                <a:path w="11637" h="22965" extrusionOk="0">
                  <a:moveTo>
                    <a:pt x="4908" y="0"/>
                  </a:moveTo>
                  <a:cubicBezTo>
                    <a:pt x="4510" y="0"/>
                    <a:pt x="4106" y="40"/>
                    <a:pt x="3694" y="122"/>
                  </a:cubicBezTo>
                  <a:cubicBezTo>
                    <a:pt x="3056" y="249"/>
                    <a:pt x="2562" y="753"/>
                    <a:pt x="2445" y="1394"/>
                  </a:cubicBezTo>
                  <a:lnTo>
                    <a:pt x="2252" y="2468"/>
                  </a:lnTo>
                  <a:lnTo>
                    <a:pt x="2182" y="2859"/>
                  </a:lnTo>
                  <a:lnTo>
                    <a:pt x="1671" y="5682"/>
                  </a:lnTo>
                  <a:lnTo>
                    <a:pt x="1465" y="6829"/>
                  </a:lnTo>
                  <a:lnTo>
                    <a:pt x="999" y="9411"/>
                  </a:lnTo>
                  <a:cubicBezTo>
                    <a:pt x="1" y="14942"/>
                    <a:pt x="2788" y="20278"/>
                    <a:pt x="7517" y="22762"/>
                  </a:cubicBezTo>
                  <a:cubicBezTo>
                    <a:pt x="7783" y="22901"/>
                    <a:pt x="8059" y="22964"/>
                    <a:pt x="8328" y="22964"/>
                  </a:cubicBezTo>
                  <a:cubicBezTo>
                    <a:pt x="8413" y="22964"/>
                    <a:pt x="8498" y="22958"/>
                    <a:pt x="8582" y="22945"/>
                  </a:cubicBezTo>
                  <a:cubicBezTo>
                    <a:pt x="9466" y="22810"/>
                    <a:pt x="10196" y="21992"/>
                    <a:pt x="10071" y="20982"/>
                  </a:cubicBezTo>
                  <a:cubicBezTo>
                    <a:pt x="10069" y="20972"/>
                    <a:pt x="10068" y="20961"/>
                    <a:pt x="10066" y="20949"/>
                  </a:cubicBezTo>
                  <a:cubicBezTo>
                    <a:pt x="9480" y="16234"/>
                    <a:pt x="10177" y="10996"/>
                    <a:pt x="10898" y="7312"/>
                  </a:cubicBezTo>
                  <a:cubicBezTo>
                    <a:pt x="11637" y="3539"/>
                    <a:pt x="8778" y="156"/>
                    <a:pt x="5160" y="6"/>
                  </a:cubicBezTo>
                  <a:cubicBezTo>
                    <a:pt x="5077" y="2"/>
                    <a:pt x="4993" y="0"/>
                    <a:pt x="49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1"/>
            <p:cNvSpPr/>
            <p:nvPr/>
          </p:nvSpPr>
          <p:spPr>
            <a:xfrm>
              <a:off x="6616850" y="2662925"/>
              <a:ext cx="175175" cy="574125"/>
            </a:xfrm>
            <a:custGeom>
              <a:avLst/>
              <a:gdLst/>
              <a:ahLst/>
              <a:cxnLst/>
              <a:rect l="l" t="t" r="r" b="b"/>
              <a:pathLst>
                <a:path w="7007" h="22965" extrusionOk="0">
                  <a:moveTo>
                    <a:pt x="261" y="0"/>
                  </a:moveTo>
                  <a:cubicBezTo>
                    <a:pt x="175" y="0"/>
                    <a:pt x="89" y="2"/>
                    <a:pt x="1" y="6"/>
                  </a:cubicBezTo>
                  <a:cubicBezTo>
                    <a:pt x="3619" y="156"/>
                    <a:pt x="6478" y="3539"/>
                    <a:pt x="5739" y="7312"/>
                  </a:cubicBezTo>
                  <a:cubicBezTo>
                    <a:pt x="5018" y="10997"/>
                    <a:pt x="4321" y="16234"/>
                    <a:pt x="4907" y="20949"/>
                  </a:cubicBezTo>
                  <a:cubicBezTo>
                    <a:pt x="4909" y="20961"/>
                    <a:pt x="4910" y="20972"/>
                    <a:pt x="4912" y="20982"/>
                  </a:cubicBezTo>
                  <a:cubicBezTo>
                    <a:pt x="5036" y="21992"/>
                    <a:pt x="4307" y="22810"/>
                    <a:pt x="3423" y="22945"/>
                  </a:cubicBezTo>
                  <a:cubicBezTo>
                    <a:pt x="3508" y="22958"/>
                    <a:pt x="3594" y="22965"/>
                    <a:pt x="3678" y="22965"/>
                  </a:cubicBezTo>
                  <a:cubicBezTo>
                    <a:pt x="4673" y="22965"/>
                    <a:pt x="5560" y="22089"/>
                    <a:pt x="5422" y="20982"/>
                  </a:cubicBezTo>
                  <a:cubicBezTo>
                    <a:pt x="5420" y="20972"/>
                    <a:pt x="5419" y="20961"/>
                    <a:pt x="5417" y="20949"/>
                  </a:cubicBezTo>
                  <a:cubicBezTo>
                    <a:pt x="4833" y="16234"/>
                    <a:pt x="5528" y="10997"/>
                    <a:pt x="6251" y="7312"/>
                  </a:cubicBezTo>
                  <a:cubicBezTo>
                    <a:pt x="7006" y="3451"/>
                    <a:pt x="3998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1"/>
            <p:cNvSpPr/>
            <p:nvPr/>
          </p:nvSpPr>
          <p:spPr>
            <a:xfrm>
              <a:off x="6663675" y="2345200"/>
              <a:ext cx="382100" cy="240775"/>
            </a:xfrm>
            <a:custGeom>
              <a:avLst/>
              <a:gdLst/>
              <a:ahLst/>
              <a:cxnLst/>
              <a:rect l="l" t="t" r="r" b="b"/>
              <a:pathLst>
                <a:path w="15284" h="9631" extrusionOk="0">
                  <a:moveTo>
                    <a:pt x="2935" y="0"/>
                  </a:moveTo>
                  <a:cubicBezTo>
                    <a:pt x="2124" y="0"/>
                    <a:pt x="1376" y="529"/>
                    <a:pt x="1135" y="1346"/>
                  </a:cubicBezTo>
                  <a:lnTo>
                    <a:pt x="295" y="4179"/>
                  </a:lnTo>
                  <a:cubicBezTo>
                    <a:pt x="0" y="5174"/>
                    <a:pt x="568" y="6220"/>
                    <a:pt x="1563" y="6516"/>
                  </a:cubicBezTo>
                  <a:lnTo>
                    <a:pt x="11812" y="9553"/>
                  </a:lnTo>
                  <a:cubicBezTo>
                    <a:pt x="11989" y="9605"/>
                    <a:pt x="12169" y="9630"/>
                    <a:pt x="12345" y="9630"/>
                  </a:cubicBezTo>
                  <a:cubicBezTo>
                    <a:pt x="13157" y="9630"/>
                    <a:pt x="13906" y="9101"/>
                    <a:pt x="14149" y="8283"/>
                  </a:cubicBezTo>
                  <a:lnTo>
                    <a:pt x="14988" y="5451"/>
                  </a:lnTo>
                  <a:cubicBezTo>
                    <a:pt x="15283" y="4456"/>
                    <a:pt x="14715" y="3409"/>
                    <a:pt x="13719" y="3115"/>
                  </a:cubicBezTo>
                  <a:lnTo>
                    <a:pt x="3470" y="78"/>
                  </a:lnTo>
                  <a:cubicBezTo>
                    <a:pt x="3292" y="25"/>
                    <a:pt x="3112" y="0"/>
                    <a:pt x="29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1"/>
            <p:cNvSpPr/>
            <p:nvPr/>
          </p:nvSpPr>
          <p:spPr>
            <a:xfrm>
              <a:off x="6606775" y="2328350"/>
              <a:ext cx="382125" cy="240750"/>
            </a:xfrm>
            <a:custGeom>
              <a:avLst/>
              <a:gdLst/>
              <a:ahLst/>
              <a:cxnLst/>
              <a:rect l="l" t="t" r="r" b="b"/>
              <a:pathLst>
                <a:path w="15285" h="9630" extrusionOk="0">
                  <a:moveTo>
                    <a:pt x="2936" y="0"/>
                  </a:moveTo>
                  <a:cubicBezTo>
                    <a:pt x="2125" y="0"/>
                    <a:pt x="1377" y="529"/>
                    <a:pt x="1135" y="1346"/>
                  </a:cubicBezTo>
                  <a:lnTo>
                    <a:pt x="295" y="4179"/>
                  </a:lnTo>
                  <a:cubicBezTo>
                    <a:pt x="1" y="5174"/>
                    <a:pt x="569" y="6220"/>
                    <a:pt x="1564" y="6516"/>
                  </a:cubicBezTo>
                  <a:lnTo>
                    <a:pt x="11813" y="9551"/>
                  </a:lnTo>
                  <a:cubicBezTo>
                    <a:pt x="11991" y="9604"/>
                    <a:pt x="12171" y="9629"/>
                    <a:pt x="12348" y="9629"/>
                  </a:cubicBezTo>
                  <a:cubicBezTo>
                    <a:pt x="13159" y="9629"/>
                    <a:pt x="13907" y="9100"/>
                    <a:pt x="14150" y="8283"/>
                  </a:cubicBezTo>
                  <a:lnTo>
                    <a:pt x="14989" y="5451"/>
                  </a:lnTo>
                  <a:cubicBezTo>
                    <a:pt x="15284" y="4456"/>
                    <a:pt x="14716" y="3409"/>
                    <a:pt x="13721" y="3114"/>
                  </a:cubicBezTo>
                  <a:lnTo>
                    <a:pt x="3471" y="78"/>
                  </a:lnTo>
                  <a:cubicBezTo>
                    <a:pt x="3293" y="25"/>
                    <a:pt x="3113" y="0"/>
                    <a:pt x="29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1"/>
            <p:cNvSpPr/>
            <p:nvPr/>
          </p:nvSpPr>
          <p:spPr>
            <a:xfrm>
              <a:off x="6617200" y="2337675"/>
              <a:ext cx="361250" cy="222100"/>
            </a:xfrm>
            <a:custGeom>
              <a:avLst/>
              <a:gdLst/>
              <a:ahLst/>
              <a:cxnLst/>
              <a:rect l="l" t="t" r="r" b="b"/>
              <a:pathLst>
                <a:path w="14450" h="8884" extrusionOk="0">
                  <a:moveTo>
                    <a:pt x="2518" y="0"/>
                  </a:moveTo>
                  <a:cubicBezTo>
                    <a:pt x="2508" y="0"/>
                    <a:pt x="2498" y="0"/>
                    <a:pt x="2488" y="1"/>
                  </a:cubicBezTo>
                  <a:cubicBezTo>
                    <a:pt x="1830" y="14"/>
                    <a:pt x="1262" y="447"/>
                    <a:pt x="1076" y="1079"/>
                  </a:cubicBezTo>
                  <a:lnTo>
                    <a:pt x="237" y="3912"/>
                  </a:lnTo>
                  <a:cubicBezTo>
                    <a:pt x="0" y="4708"/>
                    <a:pt x="456" y="5547"/>
                    <a:pt x="1253" y="5784"/>
                  </a:cubicBezTo>
                  <a:lnTo>
                    <a:pt x="11502" y="8821"/>
                  </a:lnTo>
                  <a:cubicBezTo>
                    <a:pt x="11643" y="8863"/>
                    <a:pt x="11787" y="8883"/>
                    <a:pt x="11931" y="8883"/>
                  </a:cubicBezTo>
                  <a:cubicBezTo>
                    <a:pt x="11942" y="8883"/>
                    <a:pt x="11952" y="8883"/>
                    <a:pt x="11962" y="8883"/>
                  </a:cubicBezTo>
                  <a:cubicBezTo>
                    <a:pt x="12620" y="8869"/>
                    <a:pt x="13188" y="8436"/>
                    <a:pt x="13374" y="7804"/>
                  </a:cubicBezTo>
                  <a:lnTo>
                    <a:pt x="14213" y="4972"/>
                  </a:lnTo>
                  <a:cubicBezTo>
                    <a:pt x="14449" y="4175"/>
                    <a:pt x="13993" y="3336"/>
                    <a:pt x="13197" y="3100"/>
                  </a:cubicBezTo>
                  <a:lnTo>
                    <a:pt x="2948" y="63"/>
                  </a:lnTo>
                  <a:cubicBezTo>
                    <a:pt x="2808" y="20"/>
                    <a:pt x="2663" y="0"/>
                    <a:pt x="2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1"/>
            <p:cNvSpPr/>
            <p:nvPr/>
          </p:nvSpPr>
          <p:spPr>
            <a:xfrm>
              <a:off x="6648825" y="2370300"/>
              <a:ext cx="58900" cy="92675"/>
            </a:xfrm>
            <a:custGeom>
              <a:avLst/>
              <a:gdLst/>
              <a:ahLst/>
              <a:cxnLst/>
              <a:rect l="l" t="t" r="r" b="b"/>
              <a:pathLst>
                <a:path w="2356" h="3707" extrusionOk="0">
                  <a:moveTo>
                    <a:pt x="1501" y="0"/>
                  </a:moveTo>
                  <a:cubicBezTo>
                    <a:pt x="1169" y="0"/>
                    <a:pt x="864" y="216"/>
                    <a:pt x="765" y="548"/>
                  </a:cubicBezTo>
                  <a:lnTo>
                    <a:pt x="121" y="2723"/>
                  </a:lnTo>
                  <a:cubicBezTo>
                    <a:pt x="0" y="3129"/>
                    <a:pt x="232" y="3555"/>
                    <a:pt x="638" y="3674"/>
                  </a:cubicBezTo>
                  <a:cubicBezTo>
                    <a:pt x="711" y="3696"/>
                    <a:pt x="785" y="3707"/>
                    <a:pt x="857" y="3707"/>
                  </a:cubicBezTo>
                  <a:cubicBezTo>
                    <a:pt x="1188" y="3707"/>
                    <a:pt x="1493" y="3491"/>
                    <a:pt x="1591" y="3158"/>
                  </a:cubicBezTo>
                  <a:lnTo>
                    <a:pt x="2234" y="984"/>
                  </a:lnTo>
                  <a:cubicBezTo>
                    <a:pt x="2356" y="578"/>
                    <a:pt x="2124" y="151"/>
                    <a:pt x="1718" y="32"/>
                  </a:cubicBezTo>
                  <a:cubicBezTo>
                    <a:pt x="1646" y="10"/>
                    <a:pt x="1572" y="0"/>
                    <a:pt x="15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1"/>
            <p:cNvSpPr/>
            <p:nvPr/>
          </p:nvSpPr>
          <p:spPr>
            <a:xfrm>
              <a:off x="6796425" y="2413275"/>
              <a:ext cx="58875" cy="92700"/>
            </a:xfrm>
            <a:custGeom>
              <a:avLst/>
              <a:gdLst/>
              <a:ahLst/>
              <a:cxnLst/>
              <a:rect l="l" t="t" r="r" b="b"/>
              <a:pathLst>
                <a:path w="2355" h="3708" extrusionOk="0">
                  <a:moveTo>
                    <a:pt x="1500" y="0"/>
                  </a:moveTo>
                  <a:cubicBezTo>
                    <a:pt x="1169" y="0"/>
                    <a:pt x="864" y="216"/>
                    <a:pt x="764" y="550"/>
                  </a:cubicBezTo>
                  <a:lnTo>
                    <a:pt x="120" y="2723"/>
                  </a:lnTo>
                  <a:cubicBezTo>
                    <a:pt x="1" y="3129"/>
                    <a:pt x="232" y="3555"/>
                    <a:pt x="638" y="3676"/>
                  </a:cubicBezTo>
                  <a:cubicBezTo>
                    <a:pt x="711" y="3697"/>
                    <a:pt x="784" y="3708"/>
                    <a:pt x="855" y="3708"/>
                  </a:cubicBezTo>
                  <a:cubicBezTo>
                    <a:pt x="1186" y="3708"/>
                    <a:pt x="1491" y="3492"/>
                    <a:pt x="1590" y="3158"/>
                  </a:cubicBezTo>
                  <a:lnTo>
                    <a:pt x="2235" y="985"/>
                  </a:lnTo>
                  <a:cubicBezTo>
                    <a:pt x="2354" y="579"/>
                    <a:pt x="2123" y="153"/>
                    <a:pt x="1717" y="32"/>
                  </a:cubicBezTo>
                  <a:cubicBezTo>
                    <a:pt x="1644" y="10"/>
                    <a:pt x="1571" y="0"/>
                    <a:pt x="15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1"/>
            <p:cNvSpPr/>
            <p:nvPr/>
          </p:nvSpPr>
          <p:spPr>
            <a:xfrm>
              <a:off x="6831125" y="2259625"/>
              <a:ext cx="202075" cy="116650"/>
            </a:xfrm>
            <a:custGeom>
              <a:avLst/>
              <a:gdLst/>
              <a:ahLst/>
              <a:cxnLst/>
              <a:rect l="l" t="t" r="r" b="b"/>
              <a:pathLst>
                <a:path w="8083" h="4666" extrusionOk="0">
                  <a:moveTo>
                    <a:pt x="3015" y="1"/>
                  </a:moveTo>
                  <a:cubicBezTo>
                    <a:pt x="1613" y="1"/>
                    <a:pt x="515" y="497"/>
                    <a:pt x="298" y="1343"/>
                  </a:cubicBezTo>
                  <a:cubicBezTo>
                    <a:pt x="0" y="2508"/>
                    <a:pt x="1491" y="3897"/>
                    <a:pt x="3626" y="4443"/>
                  </a:cubicBezTo>
                  <a:cubicBezTo>
                    <a:pt x="4213" y="4594"/>
                    <a:pt x="4788" y="4665"/>
                    <a:pt x="5319" y="4665"/>
                  </a:cubicBezTo>
                  <a:cubicBezTo>
                    <a:pt x="6332" y="4665"/>
                    <a:pt x="7186" y="4406"/>
                    <a:pt x="7665" y="3944"/>
                  </a:cubicBezTo>
                  <a:cubicBezTo>
                    <a:pt x="7848" y="3765"/>
                    <a:pt x="7975" y="3557"/>
                    <a:pt x="8036" y="3323"/>
                  </a:cubicBezTo>
                  <a:cubicBezTo>
                    <a:pt x="8072" y="3182"/>
                    <a:pt x="8083" y="3036"/>
                    <a:pt x="8067" y="2891"/>
                  </a:cubicBezTo>
                  <a:cubicBezTo>
                    <a:pt x="7963" y="1834"/>
                    <a:pt x="6585" y="704"/>
                    <a:pt x="4708" y="222"/>
                  </a:cubicBezTo>
                  <a:cubicBezTo>
                    <a:pt x="4121" y="72"/>
                    <a:pt x="3546" y="1"/>
                    <a:pt x="30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1"/>
            <p:cNvSpPr/>
            <p:nvPr/>
          </p:nvSpPr>
          <p:spPr>
            <a:xfrm>
              <a:off x="7014775" y="2331875"/>
              <a:ext cx="18400" cy="26350"/>
            </a:xfrm>
            <a:custGeom>
              <a:avLst/>
              <a:gdLst/>
              <a:ahLst/>
              <a:cxnLst/>
              <a:rect l="l" t="t" r="r" b="b"/>
              <a:pathLst>
                <a:path w="736" h="1054" extrusionOk="0">
                  <a:moveTo>
                    <a:pt x="721" y="1"/>
                  </a:moveTo>
                  <a:cubicBezTo>
                    <a:pt x="399" y="4"/>
                    <a:pt x="126" y="170"/>
                    <a:pt x="58" y="433"/>
                  </a:cubicBezTo>
                  <a:cubicBezTo>
                    <a:pt x="0" y="655"/>
                    <a:pt x="109" y="891"/>
                    <a:pt x="319" y="1054"/>
                  </a:cubicBezTo>
                  <a:cubicBezTo>
                    <a:pt x="502" y="875"/>
                    <a:pt x="629" y="667"/>
                    <a:pt x="690" y="433"/>
                  </a:cubicBezTo>
                  <a:cubicBezTo>
                    <a:pt x="726" y="292"/>
                    <a:pt x="735" y="146"/>
                    <a:pt x="7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1"/>
            <p:cNvSpPr/>
            <p:nvPr/>
          </p:nvSpPr>
          <p:spPr>
            <a:xfrm>
              <a:off x="6968050" y="2474475"/>
              <a:ext cx="50825" cy="77725"/>
            </a:xfrm>
            <a:custGeom>
              <a:avLst/>
              <a:gdLst/>
              <a:ahLst/>
              <a:cxnLst/>
              <a:rect l="l" t="t" r="r" b="b"/>
              <a:pathLst>
                <a:path w="2033" h="3109" extrusionOk="0">
                  <a:moveTo>
                    <a:pt x="1011" y="0"/>
                  </a:moveTo>
                  <a:cubicBezTo>
                    <a:pt x="865" y="0"/>
                    <a:pt x="730" y="96"/>
                    <a:pt x="686" y="244"/>
                  </a:cubicBezTo>
                  <a:lnTo>
                    <a:pt x="53" y="2382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1277" y="3100"/>
                  </a:lnTo>
                  <a:cubicBezTo>
                    <a:pt x="1297" y="3106"/>
                    <a:pt x="1312" y="3109"/>
                    <a:pt x="1324" y="3109"/>
                  </a:cubicBezTo>
                  <a:cubicBezTo>
                    <a:pt x="1424" y="3109"/>
                    <a:pt x="1298" y="2926"/>
                    <a:pt x="1345" y="2766"/>
                  </a:cubicBezTo>
                  <a:lnTo>
                    <a:pt x="1978" y="627"/>
                  </a:lnTo>
                  <a:cubicBezTo>
                    <a:pt x="2033" y="447"/>
                    <a:pt x="1930" y="257"/>
                    <a:pt x="1750" y="204"/>
                  </a:cubicBezTo>
                  <a:lnTo>
                    <a:pt x="1109" y="15"/>
                  </a:lnTo>
                  <a:cubicBezTo>
                    <a:pt x="1076" y="5"/>
                    <a:pt x="1043" y="0"/>
                    <a:pt x="101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1"/>
            <p:cNvSpPr/>
            <p:nvPr/>
          </p:nvSpPr>
          <p:spPr>
            <a:xfrm>
              <a:off x="6981225" y="2478250"/>
              <a:ext cx="45925" cy="73900"/>
            </a:xfrm>
            <a:custGeom>
              <a:avLst/>
              <a:gdLst/>
              <a:ahLst/>
              <a:cxnLst/>
              <a:rect l="l" t="t" r="r" b="b"/>
              <a:pathLst>
                <a:path w="1837" h="2956" extrusionOk="0">
                  <a:moveTo>
                    <a:pt x="1013" y="1"/>
                  </a:moveTo>
                  <a:cubicBezTo>
                    <a:pt x="866" y="1"/>
                    <a:pt x="731" y="97"/>
                    <a:pt x="688" y="244"/>
                  </a:cubicBezTo>
                  <a:lnTo>
                    <a:pt x="53" y="2383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726" y="2942"/>
                  </a:lnTo>
                  <a:cubicBezTo>
                    <a:pt x="758" y="2951"/>
                    <a:pt x="790" y="2956"/>
                    <a:pt x="822" y="2956"/>
                  </a:cubicBezTo>
                  <a:cubicBezTo>
                    <a:pt x="969" y="2956"/>
                    <a:pt x="1105" y="2860"/>
                    <a:pt x="1150" y="2712"/>
                  </a:cubicBezTo>
                  <a:lnTo>
                    <a:pt x="1783" y="574"/>
                  </a:lnTo>
                  <a:cubicBezTo>
                    <a:pt x="1836" y="394"/>
                    <a:pt x="1733" y="205"/>
                    <a:pt x="1553" y="150"/>
                  </a:cubicBezTo>
                  <a:lnTo>
                    <a:pt x="1111" y="15"/>
                  </a:lnTo>
                  <a:cubicBezTo>
                    <a:pt x="1078" y="5"/>
                    <a:pt x="1045" y="1"/>
                    <a:pt x="10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1"/>
            <p:cNvSpPr/>
            <p:nvPr/>
          </p:nvSpPr>
          <p:spPr>
            <a:xfrm>
              <a:off x="7000600" y="2281000"/>
              <a:ext cx="81250" cy="232325"/>
            </a:xfrm>
            <a:custGeom>
              <a:avLst/>
              <a:gdLst/>
              <a:ahLst/>
              <a:cxnLst/>
              <a:rect l="l" t="t" r="r" b="b"/>
              <a:pathLst>
                <a:path w="3250" h="9293" extrusionOk="0">
                  <a:moveTo>
                    <a:pt x="2928" y="0"/>
                  </a:moveTo>
                  <a:cubicBezTo>
                    <a:pt x="2804" y="0"/>
                    <a:pt x="2690" y="81"/>
                    <a:pt x="2653" y="206"/>
                  </a:cubicBezTo>
                  <a:lnTo>
                    <a:pt x="45" y="8923"/>
                  </a:lnTo>
                  <a:cubicBezTo>
                    <a:pt x="1" y="9076"/>
                    <a:pt x="87" y="9237"/>
                    <a:pt x="240" y="9281"/>
                  </a:cubicBezTo>
                  <a:cubicBezTo>
                    <a:pt x="268" y="9289"/>
                    <a:pt x="295" y="9293"/>
                    <a:pt x="322" y="9293"/>
                  </a:cubicBezTo>
                  <a:cubicBezTo>
                    <a:pt x="446" y="9293"/>
                    <a:pt x="560" y="9212"/>
                    <a:pt x="598" y="9087"/>
                  </a:cubicBezTo>
                  <a:lnTo>
                    <a:pt x="3205" y="370"/>
                  </a:lnTo>
                  <a:cubicBezTo>
                    <a:pt x="3250" y="217"/>
                    <a:pt x="3164" y="58"/>
                    <a:pt x="3011" y="12"/>
                  </a:cubicBezTo>
                  <a:cubicBezTo>
                    <a:pt x="2983" y="4"/>
                    <a:pt x="2955" y="0"/>
                    <a:pt x="29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1"/>
            <p:cNvSpPr/>
            <p:nvPr/>
          </p:nvSpPr>
          <p:spPr>
            <a:xfrm>
              <a:off x="6684150" y="3257875"/>
              <a:ext cx="302125" cy="78425"/>
            </a:xfrm>
            <a:custGeom>
              <a:avLst/>
              <a:gdLst/>
              <a:ahLst/>
              <a:cxnLst/>
              <a:rect l="l" t="t" r="r" b="b"/>
              <a:pathLst>
                <a:path w="12085" h="3137" extrusionOk="0">
                  <a:moveTo>
                    <a:pt x="9125" y="0"/>
                  </a:moveTo>
                  <a:cubicBezTo>
                    <a:pt x="9028" y="26"/>
                    <a:pt x="8931" y="53"/>
                    <a:pt x="8833" y="76"/>
                  </a:cubicBezTo>
                  <a:cubicBezTo>
                    <a:pt x="8971" y="736"/>
                    <a:pt x="9084" y="1544"/>
                    <a:pt x="9101" y="2454"/>
                  </a:cubicBezTo>
                  <a:cubicBezTo>
                    <a:pt x="7409" y="2738"/>
                    <a:pt x="5925" y="2839"/>
                    <a:pt x="4667" y="2839"/>
                  </a:cubicBezTo>
                  <a:cubicBezTo>
                    <a:pt x="2285" y="2839"/>
                    <a:pt x="710" y="2475"/>
                    <a:pt x="67" y="2292"/>
                  </a:cubicBezTo>
                  <a:cubicBezTo>
                    <a:pt x="43" y="2387"/>
                    <a:pt x="22" y="2484"/>
                    <a:pt x="0" y="2583"/>
                  </a:cubicBezTo>
                  <a:cubicBezTo>
                    <a:pt x="679" y="2775"/>
                    <a:pt x="2276" y="3137"/>
                    <a:pt x="4669" y="3137"/>
                  </a:cubicBezTo>
                  <a:cubicBezTo>
                    <a:pt x="5975" y="3137"/>
                    <a:pt x="7518" y="3029"/>
                    <a:pt x="9278" y="2725"/>
                  </a:cubicBezTo>
                  <a:lnTo>
                    <a:pt x="9404" y="2704"/>
                  </a:lnTo>
                  <a:lnTo>
                    <a:pt x="9402" y="2577"/>
                  </a:lnTo>
                  <a:cubicBezTo>
                    <a:pt x="9398" y="2054"/>
                    <a:pt x="9361" y="1565"/>
                    <a:pt x="9307" y="1113"/>
                  </a:cubicBezTo>
                  <a:cubicBezTo>
                    <a:pt x="9749" y="1101"/>
                    <a:pt x="10950" y="1006"/>
                    <a:pt x="12085" y="361"/>
                  </a:cubicBezTo>
                  <a:cubicBezTo>
                    <a:pt x="12044" y="268"/>
                    <a:pt x="12003" y="176"/>
                    <a:pt x="11962" y="86"/>
                  </a:cubicBezTo>
                  <a:cubicBezTo>
                    <a:pt x="10858" y="723"/>
                    <a:pt x="9654" y="806"/>
                    <a:pt x="9267" y="815"/>
                  </a:cubicBezTo>
                  <a:cubicBezTo>
                    <a:pt x="9227" y="523"/>
                    <a:pt x="9177" y="250"/>
                    <a:pt x="9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1"/>
            <p:cNvSpPr/>
            <p:nvPr/>
          </p:nvSpPr>
          <p:spPr>
            <a:xfrm>
              <a:off x="7009900" y="2721050"/>
              <a:ext cx="145500" cy="173350"/>
            </a:xfrm>
            <a:custGeom>
              <a:avLst/>
              <a:gdLst/>
              <a:ahLst/>
              <a:cxnLst/>
              <a:rect l="l" t="t" r="r" b="b"/>
              <a:pathLst>
                <a:path w="5820" h="6934" extrusionOk="0">
                  <a:moveTo>
                    <a:pt x="3247" y="0"/>
                  </a:moveTo>
                  <a:cubicBezTo>
                    <a:pt x="1995" y="0"/>
                    <a:pt x="776" y="1219"/>
                    <a:pt x="407" y="2927"/>
                  </a:cubicBezTo>
                  <a:cubicBezTo>
                    <a:pt x="0" y="4819"/>
                    <a:pt x="791" y="6593"/>
                    <a:pt x="2172" y="6891"/>
                  </a:cubicBezTo>
                  <a:cubicBezTo>
                    <a:pt x="2305" y="6920"/>
                    <a:pt x="2439" y="6933"/>
                    <a:pt x="2573" y="6933"/>
                  </a:cubicBezTo>
                  <a:cubicBezTo>
                    <a:pt x="3824" y="6933"/>
                    <a:pt x="5044" y="5715"/>
                    <a:pt x="5412" y="4005"/>
                  </a:cubicBezTo>
                  <a:cubicBezTo>
                    <a:pt x="5820" y="2115"/>
                    <a:pt x="5030" y="340"/>
                    <a:pt x="3649" y="43"/>
                  </a:cubicBezTo>
                  <a:cubicBezTo>
                    <a:pt x="3515" y="14"/>
                    <a:pt x="3381" y="0"/>
                    <a:pt x="3247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1"/>
            <p:cNvSpPr/>
            <p:nvPr/>
          </p:nvSpPr>
          <p:spPr>
            <a:xfrm>
              <a:off x="7038900" y="2742800"/>
              <a:ext cx="128800" cy="138550"/>
            </a:xfrm>
            <a:custGeom>
              <a:avLst/>
              <a:gdLst/>
              <a:ahLst/>
              <a:cxnLst/>
              <a:rect l="l" t="t" r="r" b="b"/>
              <a:pathLst>
                <a:path w="5152" h="5542" extrusionOk="0">
                  <a:moveTo>
                    <a:pt x="2534" y="0"/>
                  </a:moveTo>
                  <a:cubicBezTo>
                    <a:pt x="1547" y="0"/>
                    <a:pt x="619" y="926"/>
                    <a:pt x="326" y="2284"/>
                  </a:cubicBezTo>
                  <a:cubicBezTo>
                    <a:pt x="0" y="3796"/>
                    <a:pt x="585" y="5270"/>
                    <a:pt x="1689" y="5507"/>
                  </a:cubicBezTo>
                  <a:cubicBezTo>
                    <a:pt x="1796" y="5530"/>
                    <a:pt x="1908" y="5542"/>
                    <a:pt x="2024" y="5542"/>
                  </a:cubicBezTo>
                  <a:cubicBezTo>
                    <a:pt x="3110" y="5542"/>
                    <a:pt x="4532" y="4568"/>
                    <a:pt x="4826" y="3202"/>
                  </a:cubicBezTo>
                  <a:cubicBezTo>
                    <a:pt x="5152" y="1692"/>
                    <a:pt x="3973" y="274"/>
                    <a:pt x="2869" y="36"/>
                  </a:cubicBezTo>
                  <a:cubicBezTo>
                    <a:pt x="2757" y="12"/>
                    <a:pt x="2645" y="0"/>
                    <a:pt x="2534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1"/>
            <p:cNvSpPr/>
            <p:nvPr/>
          </p:nvSpPr>
          <p:spPr>
            <a:xfrm>
              <a:off x="7099950" y="2783600"/>
              <a:ext cx="43150" cy="63700"/>
            </a:xfrm>
            <a:custGeom>
              <a:avLst/>
              <a:gdLst/>
              <a:ahLst/>
              <a:cxnLst/>
              <a:rect l="l" t="t" r="r" b="b"/>
              <a:pathLst>
                <a:path w="1726" h="2548" extrusionOk="0">
                  <a:moveTo>
                    <a:pt x="863" y="1"/>
                  </a:moveTo>
                  <a:cubicBezTo>
                    <a:pt x="386" y="1"/>
                    <a:pt x="0" y="572"/>
                    <a:pt x="0" y="1275"/>
                  </a:cubicBezTo>
                  <a:cubicBezTo>
                    <a:pt x="0" y="1978"/>
                    <a:pt x="386" y="2547"/>
                    <a:pt x="863" y="2547"/>
                  </a:cubicBezTo>
                  <a:cubicBezTo>
                    <a:pt x="1339" y="2547"/>
                    <a:pt x="1725" y="1978"/>
                    <a:pt x="1725" y="1275"/>
                  </a:cubicBezTo>
                  <a:cubicBezTo>
                    <a:pt x="1725" y="570"/>
                    <a:pt x="1339" y="1"/>
                    <a:pt x="863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1"/>
            <p:cNvSpPr/>
            <p:nvPr/>
          </p:nvSpPr>
          <p:spPr>
            <a:xfrm>
              <a:off x="7084000" y="2783600"/>
              <a:ext cx="37500" cy="63700"/>
            </a:xfrm>
            <a:custGeom>
              <a:avLst/>
              <a:gdLst/>
              <a:ahLst/>
              <a:cxnLst/>
              <a:rect l="l" t="t" r="r" b="b"/>
              <a:pathLst>
                <a:path w="1500" h="2548" extrusionOk="0">
                  <a:moveTo>
                    <a:pt x="862" y="1"/>
                  </a:moveTo>
                  <a:cubicBezTo>
                    <a:pt x="387" y="1"/>
                    <a:pt x="0" y="572"/>
                    <a:pt x="0" y="1275"/>
                  </a:cubicBezTo>
                  <a:cubicBezTo>
                    <a:pt x="0" y="1978"/>
                    <a:pt x="387" y="2547"/>
                    <a:pt x="862" y="2547"/>
                  </a:cubicBezTo>
                  <a:lnTo>
                    <a:pt x="1500" y="2547"/>
                  </a:lnTo>
                  <a:cubicBezTo>
                    <a:pt x="1024" y="2547"/>
                    <a:pt x="638" y="1978"/>
                    <a:pt x="638" y="1275"/>
                  </a:cubicBezTo>
                  <a:cubicBezTo>
                    <a:pt x="638" y="570"/>
                    <a:pt x="1024" y="1"/>
                    <a:pt x="1500" y="1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1"/>
            <p:cNvSpPr/>
            <p:nvPr/>
          </p:nvSpPr>
          <p:spPr>
            <a:xfrm>
              <a:off x="7009900" y="2721050"/>
              <a:ext cx="145500" cy="173350"/>
            </a:xfrm>
            <a:custGeom>
              <a:avLst/>
              <a:gdLst/>
              <a:ahLst/>
              <a:cxnLst/>
              <a:rect l="l" t="t" r="r" b="b"/>
              <a:pathLst>
                <a:path w="5820" h="6934" extrusionOk="0">
                  <a:moveTo>
                    <a:pt x="3247" y="0"/>
                  </a:moveTo>
                  <a:cubicBezTo>
                    <a:pt x="1995" y="0"/>
                    <a:pt x="776" y="1219"/>
                    <a:pt x="407" y="2927"/>
                  </a:cubicBezTo>
                  <a:cubicBezTo>
                    <a:pt x="0" y="4819"/>
                    <a:pt x="791" y="6593"/>
                    <a:pt x="2172" y="6891"/>
                  </a:cubicBezTo>
                  <a:cubicBezTo>
                    <a:pt x="2305" y="6920"/>
                    <a:pt x="2439" y="6933"/>
                    <a:pt x="2573" y="6933"/>
                  </a:cubicBezTo>
                  <a:cubicBezTo>
                    <a:pt x="3824" y="6933"/>
                    <a:pt x="5044" y="5715"/>
                    <a:pt x="5412" y="4005"/>
                  </a:cubicBezTo>
                  <a:cubicBezTo>
                    <a:pt x="5820" y="2115"/>
                    <a:pt x="5030" y="340"/>
                    <a:pt x="3649" y="43"/>
                  </a:cubicBezTo>
                  <a:cubicBezTo>
                    <a:pt x="3515" y="14"/>
                    <a:pt x="3381" y="0"/>
                    <a:pt x="32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1"/>
            <p:cNvSpPr/>
            <p:nvPr/>
          </p:nvSpPr>
          <p:spPr>
            <a:xfrm>
              <a:off x="7038900" y="2742800"/>
              <a:ext cx="128800" cy="138550"/>
            </a:xfrm>
            <a:custGeom>
              <a:avLst/>
              <a:gdLst/>
              <a:ahLst/>
              <a:cxnLst/>
              <a:rect l="l" t="t" r="r" b="b"/>
              <a:pathLst>
                <a:path w="5152" h="5542" extrusionOk="0">
                  <a:moveTo>
                    <a:pt x="2534" y="0"/>
                  </a:moveTo>
                  <a:cubicBezTo>
                    <a:pt x="1547" y="0"/>
                    <a:pt x="619" y="926"/>
                    <a:pt x="326" y="2284"/>
                  </a:cubicBezTo>
                  <a:cubicBezTo>
                    <a:pt x="0" y="3796"/>
                    <a:pt x="585" y="5270"/>
                    <a:pt x="1689" y="5507"/>
                  </a:cubicBezTo>
                  <a:cubicBezTo>
                    <a:pt x="1796" y="5530"/>
                    <a:pt x="1908" y="5542"/>
                    <a:pt x="2024" y="5542"/>
                  </a:cubicBezTo>
                  <a:cubicBezTo>
                    <a:pt x="3110" y="5542"/>
                    <a:pt x="4532" y="4568"/>
                    <a:pt x="4826" y="3202"/>
                  </a:cubicBezTo>
                  <a:cubicBezTo>
                    <a:pt x="5152" y="1692"/>
                    <a:pt x="3973" y="274"/>
                    <a:pt x="2869" y="36"/>
                  </a:cubicBezTo>
                  <a:cubicBezTo>
                    <a:pt x="2757" y="12"/>
                    <a:pt x="2645" y="0"/>
                    <a:pt x="25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1"/>
            <p:cNvSpPr/>
            <p:nvPr/>
          </p:nvSpPr>
          <p:spPr>
            <a:xfrm>
              <a:off x="7099950" y="2783600"/>
              <a:ext cx="43150" cy="63700"/>
            </a:xfrm>
            <a:custGeom>
              <a:avLst/>
              <a:gdLst/>
              <a:ahLst/>
              <a:cxnLst/>
              <a:rect l="l" t="t" r="r" b="b"/>
              <a:pathLst>
                <a:path w="1726" h="2548" extrusionOk="0">
                  <a:moveTo>
                    <a:pt x="863" y="1"/>
                  </a:moveTo>
                  <a:cubicBezTo>
                    <a:pt x="386" y="1"/>
                    <a:pt x="0" y="572"/>
                    <a:pt x="0" y="1275"/>
                  </a:cubicBezTo>
                  <a:cubicBezTo>
                    <a:pt x="0" y="1978"/>
                    <a:pt x="386" y="2547"/>
                    <a:pt x="863" y="2547"/>
                  </a:cubicBezTo>
                  <a:cubicBezTo>
                    <a:pt x="1339" y="2547"/>
                    <a:pt x="1725" y="1978"/>
                    <a:pt x="1725" y="1275"/>
                  </a:cubicBezTo>
                  <a:cubicBezTo>
                    <a:pt x="1725" y="570"/>
                    <a:pt x="1339" y="1"/>
                    <a:pt x="8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1"/>
            <p:cNvSpPr/>
            <p:nvPr/>
          </p:nvSpPr>
          <p:spPr>
            <a:xfrm>
              <a:off x="7084000" y="2783600"/>
              <a:ext cx="37500" cy="63700"/>
            </a:xfrm>
            <a:custGeom>
              <a:avLst/>
              <a:gdLst/>
              <a:ahLst/>
              <a:cxnLst/>
              <a:rect l="l" t="t" r="r" b="b"/>
              <a:pathLst>
                <a:path w="1500" h="2548" extrusionOk="0">
                  <a:moveTo>
                    <a:pt x="862" y="1"/>
                  </a:moveTo>
                  <a:cubicBezTo>
                    <a:pt x="387" y="1"/>
                    <a:pt x="0" y="572"/>
                    <a:pt x="0" y="1275"/>
                  </a:cubicBezTo>
                  <a:cubicBezTo>
                    <a:pt x="0" y="1978"/>
                    <a:pt x="387" y="2547"/>
                    <a:pt x="862" y="2547"/>
                  </a:cubicBezTo>
                  <a:lnTo>
                    <a:pt x="1500" y="2547"/>
                  </a:lnTo>
                  <a:cubicBezTo>
                    <a:pt x="1024" y="2547"/>
                    <a:pt x="638" y="1978"/>
                    <a:pt x="638" y="1275"/>
                  </a:cubicBezTo>
                  <a:cubicBezTo>
                    <a:pt x="638" y="570"/>
                    <a:pt x="1024" y="1"/>
                    <a:pt x="1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1"/>
            <p:cNvSpPr/>
            <p:nvPr/>
          </p:nvSpPr>
          <p:spPr>
            <a:xfrm>
              <a:off x="6980875" y="2790225"/>
              <a:ext cx="400475" cy="397525"/>
            </a:xfrm>
            <a:custGeom>
              <a:avLst/>
              <a:gdLst/>
              <a:ahLst/>
              <a:cxnLst/>
              <a:rect l="l" t="t" r="r" b="b"/>
              <a:pathLst>
                <a:path w="16019" h="15901" extrusionOk="0">
                  <a:moveTo>
                    <a:pt x="5859" y="1"/>
                  </a:moveTo>
                  <a:cubicBezTo>
                    <a:pt x="5417" y="1"/>
                    <a:pt x="5034" y="289"/>
                    <a:pt x="4904" y="699"/>
                  </a:cubicBezTo>
                  <a:cubicBezTo>
                    <a:pt x="4880" y="772"/>
                    <a:pt x="4864" y="849"/>
                    <a:pt x="4858" y="928"/>
                  </a:cubicBezTo>
                  <a:cubicBezTo>
                    <a:pt x="4813" y="1482"/>
                    <a:pt x="5227" y="1968"/>
                    <a:pt x="5781" y="2014"/>
                  </a:cubicBezTo>
                  <a:cubicBezTo>
                    <a:pt x="5798" y="2014"/>
                    <a:pt x="6328" y="2061"/>
                    <a:pt x="7111" y="2221"/>
                  </a:cubicBezTo>
                  <a:lnTo>
                    <a:pt x="7112" y="2221"/>
                  </a:lnTo>
                  <a:cubicBezTo>
                    <a:pt x="7277" y="2255"/>
                    <a:pt x="7453" y="2294"/>
                    <a:pt x="7639" y="2338"/>
                  </a:cubicBezTo>
                  <a:cubicBezTo>
                    <a:pt x="8374" y="2515"/>
                    <a:pt x="9245" y="2782"/>
                    <a:pt x="10104" y="3177"/>
                  </a:cubicBezTo>
                  <a:cubicBezTo>
                    <a:pt x="10249" y="3244"/>
                    <a:pt x="10393" y="3315"/>
                    <a:pt x="10537" y="3389"/>
                  </a:cubicBezTo>
                  <a:cubicBezTo>
                    <a:pt x="11175" y="3719"/>
                    <a:pt x="11790" y="4128"/>
                    <a:pt x="12320" y="4630"/>
                  </a:cubicBezTo>
                  <a:cubicBezTo>
                    <a:pt x="12433" y="4737"/>
                    <a:pt x="12543" y="4849"/>
                    <a:pt x="12647" y="4965"/>
                  </a:cubicBezTo>
                  <a:cubicBezTo>
                    <a:pt x="12724" y="5051"/>
                    <a:pt x="12800" y="5139"/>
                    <a:pt x="12871" y="5230"/>
                  </a:cubicBezTo>
                  <a:cubicBezTo>
                    <a:pt x="13398" y="5892"/>
                    <a:pt x="13735" y="6628"/>
                    <a:pt x="13886" y="7452"/>
                  </a:cubicBezTo>
                  <a:cubicBezTo>
                    <a:pt x="13915" y="7606"/>
                    <a:pt x="13936" y="7762"/>
                    <a:pt x="13953" y="7921"/>
                  </a:cubicBezTo>
                  <a:cubicBezTo>
                    <a:pt x="14003" y="8447"/>
                    <a:pt x="13985" y="9006"/>
                    <a:pt x="13897" y="9603"/>
                  </a:cubicBezTo>
                  <a:cubicBezTo>
                    <a:pt x="13854" y="9890"/>
                    <a:pt x="13801" y="10165"/>
                    <a:pt x="13741" y="10422"/>
                  </a:cubicBezTo>
                  <a:cubicBezTo>
                    <a:pt x="13703" y="10578"/>
                    <a:pt x="13662" y="10730"/>
                    <a:pt x="13618" y="10876"/>
                  </a:cubicBezTo>
                  <a:cubicBezTo>
                    <a:pt x="13386" y="11637"/>
                    <a:pt x="13058" y="12247"/>
                    <a:pt x="12627" y="12712"/>
                  </a:cubicBezTo>
                  <a:cubicBezTo>
                    <a:pt x="12515" y="12837"/>
                    <a:pt x="12394" y="12949"/>
                    <a:pt x="12267" y="13052"/>
                  </a:cubicBezTo>
                  <a:cubicBezTo>
                    <a:pt x="12052" y="13227"/>
                    <a:pt x="11815" y="13373"/>
                    <a:pt x="11558" y="13491"/>
                  </a:cubicBezTo>
                  <a:cubicBezTo>
                    <a:pt x="11140" y="13683"/>
                    <a:pt x="10678" y="13797"/>
                    <a:pt x="10187" y="13847"/>
                  </a:cubicBezTo>
                  <a:cubicBezTo>
                    <a:pt x="10022" y="13864"/>
                    <a:pt x="9855" y="13874"/>
                    <a:pt x="9684" y="13877"/>
                  </a:cubicBezTo>
                  <a:cubicBezTo>
                    <a:pt x="9642" y="13879"/>
                    <a:pt x="9601" y="13879"/>
                    <a:pt x="9557" y="13879"/>
                  </a:cubicBezTo>
                  <a:cubicBezTo>
                    <a:pt x="8771" y="13879"/>
                    <a:pt x="7933" y="13744"/>
                    <a:pt x="7100" y="13532"/>
                  </a:cubicBezTo>
                  <a:cubicBezTo>
                    <a:pt x="6935" y="13489"/>
                    <a:pt x="6768" y="13444"/>
                    <a:pt x="6603" y="13395"/>
                  </a:cubicBezTo>
                  <a:cubicBezTo>
                    <a:pt x="5805" y="13161"/>
                    <a:pt x="5022" y="12865"/>
                    <a:pt x="4310" y="12555"/>
                  </a:cubicBezTo>
                  <a:cubicBezTo>
                    <a:pt x="4154" y="12487"/>
                    <a:pt x="4003" y="12418"/>
                    <a:pt x="3853" y="12350"/>
                  </a:cubicBezTo>
                  <a:cubicBezTo>
                    <a:pt x="3498" y="12187"/>
                    <a:pt x="3165" y="12022"/>
                    <a:pt x="2862" y="11864"/>
                  </a:cubicBezTo>
                  <a:cubicBezTo>
                    <a:pt x="2379" y="11613"/>
                    <a:pt x="1970" y="11378"/>
                    <a:pt x="1665" y="11185"/>
                  </a:cubicBezTo>
                  <a:cubicBezTo>
                    <a:pt x="1602" y="11145"/>
                    <a:pt x="1534" y="11114"/>
                    <a:pt x="1467" y="11090"/>
                  </a:cubicBezTo>
                  <a:cubicBezTo>
                    <a:pt x="1356" y="11050"/>
                    <a:pt x="1242" y="11031"/>
                    <a:pt x="1128" y="11031"/>
                  </a:cubicBezTo>
                  <a:cubicBezTo>
                    <a:pt x="793" y="11031"/>
                    <a:pt x="466" y="11198"/>
                    <a:pt x="275" y="11501"/>
                  </a:cubicBezTo>
                  <a:cubicBezTo>
                    <a:pt x="1" y="11935"/>
                    <a:pt x="101" y="12499"/>
                    <a:pt x="487" y="12817"/>
                  </a:cubicBezTo>
                  <a:cubicBezTo>
                    <a:pt x="520" y="12844"/>
                    <a:pt x="554" y="12868"/>
                    <a:pt x="590" y="12891"/>
                  </a:cubicBezTo>
                  <a:cubicBezTo>
                    <a:pt x="646" y="12926"/>
                    <a:pt x="1667" y="13565"/>
                    <a:pt x="3156" y="14245"/>
                  </a:cubicBezTo>
                  <a:cubicBezTo>
                    <a:pt x="3298" y="14310"/>
                    <a:pt x="3444" y="14375"/>
                    <a:pt x="3594" y="14441"/>
                  </a:cubicBezTo>
                  <a:cubicBezTo>
                    <a:pt x="3931" y="14588"/>
                    <a:pt x="4289" y="14733"/>
                    <a:pt x="4662" y="14874"/>
                  </a:cubicBezTo>
                  <a:cubicBezTo>
                    <a:pt x="5030" y="15012"/>
                    <a:pt x="5389" y="15136"/>
                    <a:pt x="5740" y="15246"/>
                  </a:cubicBezTo>
                  <a:cubicBezTo>
                    <a:pt x="5941" y="15309"/>
                    <a:pt x="6141" y="15368"/>
                    <a:pt x="6337" y="15422"/>
                  </a:cubicBezTo>
                  <a:cubicBezTo>
                    <a:pt x="7496" y="15742"/>
                    <a:pt x="8565" y="15901"/>
                    <a:pt x="9537" y="15901"/>
                  </a:cubicBezTo>
                  <a:cubicBezTo>
                    <a:pt x="9590" y="15901"/>
                    <a:pt x="9643" y="15901"/>
                    <a:pt x="9696" y="15899"/>
                  </a:cubicBezTo>
                  <a:cubicBezTo>
                    <a:pt x="9881" y="15896"/>
                    <a:pt x="10064" y="15887"/>
                    <a:pt x="10242" y="15870"/>
                  </a:cubicBezTo>
                  <a:cubicBezTo>
                    <a:pt x="11031" y="15805"/>
                    <a:pt x="11750" y="15622"/>
                    <a:pt x="12399" y="15324"/>
                  </a:cubicBezTo>
                  <a:cubicBezTo>
                    <a:pt x="12755" y="15160"/>
                    <a:pt x="13086" y="14963"/>
                    <a:pt x="13391" y="14734"/>
                  </a:cubicBezTo>
                  <a:cubicBezTo>
                    <a:pt x="13566" y="14603"/>
                    <a:pt x="13733" y="14460"/>
                    <a:pt x="13891" y="14307"/>
                  </a:cubicBezTo>
                  <a:cubicBezTo>
                    <a:pt x="14559" y="13664"/>
                    <a:pt x="15074" y="12827"/>
                    <a:pt x="15431" y="11808"/>
                  </a:cubicBezTo>
                  <a:cubicBezTo>
                    <a:pt x="15495" y="11629"/>
                    <a:pt x="15552" y="11446"/>
                    <a:pt x="15605" y="11257"/>
                  </a:cubicBezTo>
                  <a:cubicBezTo>
                    <a:pt x="15725" y="10833"/>
                    <a:pt x="15819" y="10378"/>
                    <a:pt x="15890" y="9896"/>
                  </a:cubicBezTo>
                  <a:cubicBezTo>
                    <a:pt x="15990" y="9210"/>
                    <a:pt x="16019" y="8553"/>
                    <a:pt x="15973" y="7924"/>
                  </a:cubicBezTo>
                  <a:cubicBezTo>
                    <a:pt x="15961" y="7740"/>
                    <a:pt x="15942" y="7558"/>
                    <a:pt x="15916" y="7378"/>
                  </a:cubicBezTo>
                  <a:cubicBezTo>
                    <a:pt x="15737" y="6128"/>
                    <a:pt x="15255" y="5001"/>
                    <a:pt x="14474" y="4007"/>
                  </a:cubicBezTo>
                  <a:cubicBezTo>
                    <a:pt x="14465" y="3994"/>
                    <a:pt x="14454" y="3982"/>
                    <a:pt x="14444" y="3968"/>
                  </a:cubicBezTo>
                  <a:cubicBezTo>
                    <a:pt x="14339" y="3838"/>
                    <a:pt x="14230" y="3710"/>
                    <a:pt x="14118" y="3588"/>
                  </a:cubicBezTo>
                  <a:cubicBezTo>
                    <a:pt x="13417" y="2817"/>
                    <a:pt x="12577" y="2211"/>
                    <a:pt x="11709" y="1732"/>
                  </a:cubicBezTo>
                  <a:cubicBezTo>
                    <a:pt x="11575" y="1658"/>
                    <a:pt x="11438" y="1587"/>
                    <a:pt x="11302" y="1517"/>
                  </a:cubicBezTo>
                  <a:lnTo>
                    <a:pt x="11300" y="1517"/>
                  </a:lnTo>
                  <a:cubicBezTo>
                    <a:pt x="10213" y="973"/>
                    <a:pt x="9106" y="620"/>
                    <a:pt x="8182" y="392"/>
                  </a:cubicBezTo>
                  <a:cubicBezTo>
                    <a:pt x="8011" y="351"/>
                    <a:pt x="7845" y="313"/>
                    <a:pt x="7689" y="280"/>
                  </a:cubicBezTo>
                  <a:cubicBezTo>
                    <a:pt x="6706" y="68"/>
                    <a:pt x="6019" y="10"/>
                    <a:pt x="5940" y="4"/>
                  </a:cubicBezTo>
                  <a:cubicBezTo>
                    <a:pt x="5913" y="2"/>
                    <a:pt x="5886" y="1"/>
                    <a:pt x="5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1"/>
            <p:cNvSpPr/>
            <p:nvPr/>
          </p:nvSpPr>
          <p:spPr>
            <a:xfrm>
              <a:off x="7059750" y="3098975"/>
              <a:ext cx="28900" cy="52275"/>
            </a:xfrm>
            <a:custGeom>
              <a:avLst/>
              <a:gdLst/>
              <a:ahLst/>
              <a:cxnLst/>
              <a:rect l="l" t="t" r="r" b="b"/>
              <a:pathLst>
                <a:path w="1156" h="2091" extrusionOk="0">
                  <a:moveTo>
                    <a:pt x="698" y="0"/>
                  </a:moveTo>
                  <a:cubicBezTo>
                    <a:pt x="696" y="497"/>
                    <a:pt x="572" y="1218"/>
                    <a:pt x="1" y="1895"/>
                  </a:cubicBezTo>
                  <a:cubicBezTo>
                    <a:pt x="143" y="1960"/>
                    <a:pt x="289" y="2025"/>
                    <a:pt x="439" y="2091"/>
                  </a:cubicBezTo>
                  <a:cubicBezTo>
                    <a:pt x="835" y="1585"/>
                    <a:pt x="1017" y="1071"/>
                    <a:pt x="1098" y="658"/>
                  </a:cubicBezTo>
                  <a:cubicBezTo>
                    <a:pt x="1129" y="499"/>
                    <a:pt x="1146" y="346"/>
                    <a:pt x="1155" y="205"/>
                  </a:cubicBezTo>
                  <a:lnTo>
                    <a:pt x="1154" y="205"/>
                  </a:lnTo>
                  <a:cubicBezTo>
                    <a:pt x="999" y="138"/>
                    <a:pt x="846" y="70"/>
                    <a:pt x="698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1"/>
            <p:cNvSpPr/>
            <p:nvPr/>
          </p:nvSpPr>
          <p:spPr>
            <a:xfrm>
              <a:off x="7124350" y="3125100"/>
              <a:ext cx="35250" cy="50700"/>
            </a:xfrm>
            <a:custGeom>
              <a:avLst/>
              <a:gdLst/>
              <a:ahLst/>
              <a:cxnLst/>
              <a:rect l="l" t="t" r="r" b="b"/>
              <a:pathLst>
                <a:path w="1410" h="2028" extrusionOk="0">
                  <a:moveTo>
                    <a:pt x="864" y="0"/>
                  </a:moveTo>
                  <a:lnTo>
                    <a:pt x="864" y="0"/>
                  </a:lnTo>
                  <a:cubicBezTo>
                    <a:pt x="970" y="343"/>
                    <a:pt x="917" y="711"/>
                    <a:pt x="801" y="1003"/>
                  </a:cubicBezTo>
                  <a:cubicBezTo>
                    <a:pt x="669" y="1324"/>
                    <a:pt x="398" y="1682"/>
                    <a:pt x="1" y="1851"/>
                  </a:cubicBezTo>
                  <a:cubicBezTo>
                    <a:pt x="202" y="1914"/>
                    <a:pt x="402" y="1973"/>
                    <a:pt x="598" y="2027"/>
                  </a:cubicBezTo>
                  <a:cubicBezTo>
                    <a:pt x="866" y="1815"/>
                    <a:pt x="1086" y="1526"/>
                    <a:pt x="1226" y="1174"/>
                  </a:cubicBezTo>
                  <a:cubicBezTo>
                    <a:pt x="1367" y="827"/>
                    <a:pt x="1410" y="470"/>
                    <a:pt x="1363" y="137"/>
                  </a:cubicBezTo>
                  <a:cubicBezTo>
                    <a:pt x="1196" y="94"/>
                    <a:pt x="1029" y="49"/>
                    <a:pt x="86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1"/>
            <p:cNvSpPr/>
            <p:nvPr/>
          </p:nvSpPr>
          <p:spPr>
            <a:xfrm>
              <a:off x="7223000" y="3136375"/>
              <a:ext cx="20550" cy="51350"/>
            </a:xfrm>
            <a:custGeom>
              <a:avLst/>
              <a:gdLst/>
              <a:ahLst/>
              <a:cxnLst/>
              <a:rect l="l" t="t" r="r" b="b"/>
              <a:pathLst>
                <a:path w="822" h="2054" extrusionOk="0">
                  <a:moveTo>
                    <a:pt x="502" y="1"/>
                  </a:moveTo>
                  <a:cubicBezTo>
                    <a:pt x="337" y="18"/>
                    <a:pt x="170" y="28"/>
                    <a:pt x="1" y="31"/>
                  </a:cubicBezTo>
                  <a:cubicBezTo>
                    <a:pt x="164" y="336"/>
                    <a:pt x="363" y="832"/>
                    <a:pt x="281" y="1367"/>
                  </a:cubicBezTo>
                  <a:cubicBezTo>
                    <a:pt x="245" y="1609"/>
                    <a:pt x="154" y="1838"/>
                    <a:pt x="11" y="2053"/>
                  </a:cubicBezTo>
                  <a:cubicBezTo>
                    <a:pt x="196" y="2050"/>
                    <a:pt x="379" y="2041"/>
                    <a:pt x="557" y="2024"/>
                  </a:cubicBezTo>
                  <a:cubicBezTo>
                    <a:pt x="646" y="1835"/>
                    <a:pt x="707" y="1638"/>
                    <a:pt x="737" y="1432"/>
                  </a:cubicBezTo>
                  <a:lnTo>
                    <a:pt x="738" y="1432"/>
                  </a:lnTo>
                  <a:cubicBezTo>
                    <a:pt x="822" y="875"/>
                    <a:pt x="669" y="366"/>
                    <a:pt x="50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1"/>
            <p:cNvSpPr/>
            <p:nvPr/>
          </p:nvSpPr>
          <p:spPr>
            <a:xfrm>
              <a:off x="7287525" y="3108050"/>
              <a:ext cx="40625" cy="50550"/>
            </a:xfrm>
            <a:custGeom>
              <a:avLst/>
              <a:gdLst/>
              <a:ahLst/>
              <a:cxnLst/>
              <a:rect l="l" t="t" r="r" b="b"/>
              <a:pathLst>
                <a:path w="1625" h="2022" extrusionOk="0">
                  <a:moveTo>
                    <a:pt x="361" y="1"/>
                  </a:moveTo>
                  <a:cubicBezTo>
                    <a:pt x="249" y="124"/>
                    <a:pt x="128" y="236"/>
                    <a:pt x="1" y="339"/>
                  </a:cubicBezTo>
                  <a:cubicBezTo>
                    <a:pt x="369" y="502"/>
                    <a:pt x="890" y="810"/>
                    <a:pt x="1087" y="1296"/>
                  </a:cubicBezTo>
                  <a:cubicBezTo>
                    <a:pt x="1178" y="1517"/>
                    <a:pt x="1190" y="1759"/>
                    <a:pt x="1125" y="2021"/>
                  </a:cubicBezTo>
                  <a:cubicBezTo>
                    <a:pt x="1300" y="1890"/>
                    <a:pt x="1467" y="1747"/>
                    <a:pt x="1625" y="1594"/>
                  </a:cubicBezTo>
                  <a:cubicBezTo>
                    <a:pt x="1613" y="1432"/>
                    <a:pt x="1576" y="1275"/>
                    <a:pt x="1514" y="1123"/>
                  </a:cubicBezTo>
                  <a:cubicBezTo>
                    <a:pt x="1291" y="572"/>
                    <a:pt x="781" y="213"/>
                    <a:pt x="361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1"/>
            <p:cNvSpPr/>
            <p:nvPr/>
          </p:nvSpPr>
          <p:spPr>
            <a:xfrm>
              <a:off x="7321300" y="3050775"/>
              <a:ext cx="49725" cy="34675"/>
            </a:xfrm>
            <a:custGeom>
              <a:avLst/>
              <a:gdLst/>
              <a:ahLst/>
              <a:cxnLst/>
              <a:rect l="l" t="t" r="r" b="b"/>
              <a:pathLst>
                <a:path w="1989" h="1387" extrusionOk="0">
                  <a:moveTo>
                    <a:pt x="124" y="0"/>
                  </a:moveTo>
                  <a:cubicBezTo>
                    <a:pt x="86" y="156"/>
                    <a:pt x="45" y="309"/>
                    <a:pt x="1" y="454"/>
                  </a:cubicBezTo>
                  <a:cubicBezTo>
                    <a:pt x="498" y="500"/>
                    <a:pt x="1449" y="683"/>
                    <a:pt x="1814" y="1386"/>
                  </a:cubicBezTo>
                  <a:cubicBezTo>
                    <a:pt x="1878" y="1207"/>
                    <a:pt x="1935" y="1024"/>
                    <a:pt x="1988" y="835"/>
                  </a:cubicBezTo>
                  <a:lnTo>
                    <a:pt x="1987" y="835"/>
                  </a:lnTo>
                  <a:cubicBezTo>
                    <a:pt x="1514" y="303"/>
                    <a:pt x="743" y="70"/>
                    <a:pt x="12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1"/>
            <p:cNvSpPr/>
            <p:nvPr/>
          </p:nvSpPr>
          <p:spPr>
            <a:xfrm>
              <a:off x="7328025" y="2970225"/>
              <a:ext cx="52200" cy="18150"/>
            </a:xfrm>
            <a:custGeom>
              <a:avLst/>
              <a:gdLst/>
              <a:ahLst/>
              <a:cxnLst/>
              <a:rect l="l" t="t" r="r" b="b"/>
              <a:pathLst>
                <a:path w="2088" h="726" extrusionOk="0">
                  <a:moveTo>
                    <a:pt x="1145" y="0"/>
                  </a:moveTo>
                  <a:cubicBezTo>
                    <a:pt x="702" y="0"/>
                    <a:pt x="302" y="121"/>
                    <a:pt x="0" y="252"/>
                  </a:cubicBezTo>
                  <a:cubicBezTo>
                    <a:pt x="29" y="406"/>
                    <a:pt x="50" y="562"/>
                    <a:pt x="67" y="723"/>
                  </a:cubicBezTo>
                  <a:cubicBezTo>
                    <a:pt x="324" y="595"/>
                    <a:pt x="700" y="457"/>
                    <a:pt x="1125" y="457"/>
                  </a:cubicBezTo>
                  <a:cubicBezTo>
                    <a:pt x="1430" y="457"/>
                    <a:pt x="1759" y="528"/>
                    <a:pt x="2087" y="726"/>
                  </a:cubicBezTo>
                  <a:cubicBezTo>
                    <a:pt x="2075" y="541"/>
                    <a:pt x="2056" y="358"/>
                    <a:pt x="2030" y="178"/>
                  </a:cubicBezTo>
                  <a:cubicBezTo>
                    <a:pt x="1727" y="49"/>
                    <a:pt x="1427" y="0"/>
                    <a:pt x="114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1"/>
            <p:cNvSpPr/>
            <p:nvPr/>
          </p:nvSpPr>
          <p:spPr>
            <a:xfrm>
              <a:off x="7288850" y="2879900"/>
              <a:ext cx="53875" cy="34500"/>
            </a:xfrm>
            <a:custGeom>
              <a:avLst/>
              <a:gdLst/>
              <a:ahLst/>
              <a:cxnLst/>
              <a:rect l="l" t="t" r="r" b="b"/>
              <a:pathLst>
                <a:path w="2155" h="1380" extrusionOk="0">
                  <a:moveTo>
                    <a:pt x="1799" y="1"/>
                  </a:moveTo>
                  <a:cubicBezTo>
                    <a:pt x="813" y="166"/>
                    <a:pt x="272" y="675"/>
                    <a:pt x="1" y="1043"/>
                  </a:cubicBezTo>
                  <a:cubicBezTo>
                    <a:pt x="114" y="1150"/>
                    <a:pt x="224" y="1262"/>
                    <a:pt x="328" y="1379"/>
                  </a:cubicBezTo>
                  <a:cubicBezTo>
                    <a:pt x="543" y="1058"/>
                    <a:pt x="1064" y="513"/>
                    <a:pt x="2155" y="420"/>
                  </a:cubicBezTo>
                  <a:cubicBezTo>
                    <a:pt x="2146" y="408"/>
                    <a:pt x="2135" y="395"/>
                    <a:pt x="2125" y="382"/>
                  </a:cubicBezTo>
                  <a:cubicBezTo>
                    <a:pt x="2020" y="251"/>
                    <a:pt x="1911" y="123"/>
                    <a:pt x="179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1"/>
            <p:cNvSpPr/>
            <p:nvPr/>
          </p:nvSpPr>
          <p:spPr>
            <a:xfrm>
              <a:off x="7233450" y="2828150"/>
              <a:ext cx="40175" cy="46825"/>
            </a:xfrm>
            <a:custGeom>
              <a:avLst/>
              <a:gdLst/>
              <a:ahLst/>
              <a:cxnLst/>
              <a:rect l="l" t="t" r="r" b="b"/>
              <a:pathLst>
                <a:path w="1607" h="1873" extrusionOk="0">
                  <a:moveTo>
                    <a:pt x="1197" y="0"/>
                  </a:moveTo>
                  <a:cubicBezTo>
                    <a:pt x="649" y="929"/>
                    <a:pt x="225" y="1428"/>
                    <a:pt x="1" y="1660"/>
                  </a:cubicBezTo>
                  <a:cubicBezTo>
                    <a:pt x="146" y="1728"/>
                    <a:pt x="290" y="1798"/>
                    <a:pt x="434" y="1872"/>
                  </a:cubicBezTo>
                  <a:cubicBezTo>
                    <a:pt x="698" y="1581"/>
                    <a:pt x="1104" y="1068"/>
                    <a:pt x="1606" y="217"/>
                  </a:cubicBezTo>
                  <a:cubicBezTo>
                    <a:pt x="1472" y="141"/>
                    <a:pt x="1335" y="70"/>
                    <a:pt x="119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>
              <a:off x="7158675" y="2797200"/>
              <a:ext cx="30475" cy="51500"/>
            </a:xfrm>
            <a:custGeom>
              <a:avLst/>
              <a:gdLst/>
              <a:ahLst/>
              <a:cxnLst/>
              <a:rect l="l" t="t" r="r" b="b"/>
              <a:pathLst>
                <a:path w="1219" h="2060" extrusionOk="0">
                  <a:moveTo>
                    <a:pt x="577" y="1"/>
                  </a:moveTo>
                  <a:lnTo>
                    <a:pt x="577" y="1"/>
                  </a:lnTo>
                  <a:cubicBezTo>
                    <a:pt x="832" y="1082"/>
                    <a:pt x="282" y="1705"/>
                    <a:pt x="0" y="1942"/>
                  </a:cubicBezTo>
                  <a:cubicBezTo>
                    <a:pt x="165" y="1976"/>
                    <a:pt x="341" y="2015"/>
                    <a:pt x="527" y="2059"/>
                  </a:cubicBezTo>
                  <a:cubicBezTo>
                    <a:pt x="855" y="1688"/>
                    <a:pt x="1218" y="1046"/>
                    <a:pt x="1070" y="114"/>
                  </a:cubicBezTo>
                  <a:cubicBezTo>
                    <a:pt x="899" y="72"/>
                    <a:pt x="733" y="34"/>
                    <a:pt x="577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1"/>
            <p:cNvSpPr/>
            <p:nvPr/>
          </p:nvSpPr>
          <p:spPr>
            <a:xfrm>
              <a:off x="6971650" y="3048425"/>
              <a:ext cx="64925" cy="77500"/>
            </a:xfrm>
            <a:custGeom>
              <a:avLst/>
              <a:gdLst/>
              <a:ahLst/>
              <a:cxnLst/>
              <a:rect l="l" t="t" r="r" b="b"/>
              <a:pathLst>
                <a:path w="2597" h="3100" extrusionOk="0">
                  <a:moveTo>
                    <a:pt x="1398" y="0"/>
                  </a:moveTo>
                  <a:lnTo>
                    <a:pt x="0" y="2518"/>
                  </a:lnTo>
                  <a:lnTo>
                    <a:pt x="979" y="3061"/>
                  </a:lnTo>
                  <a:cubicBezTo>
                    <a:pt x="1026" y="3087"/>
                    <a:pt x="1079" y="3100"/>
                    <a:pt x="1136" y="3100"/>
                  </a:cubicBezTo>
                  <a:cubicBezTo>
                    <a:pt x="1255" y="3100"/>
                    <a:pt x="1392" y="3046"/>
                    <a:pt x="1535" y="2948"/>
                  </a:cubicBezTo>
                  <a:cubicBezTo>
                    <a:pt x="1545" y="2940"/>
                    <a:pt x="1557" y="2931"/>
                    <a:pt x="1568" y="2922"/>
                  </a:cubicBezTo>
                  <a:cubicBezTo>
                    <a:pt x="1592" y="2905"/>
                    <a:pt x="1616" y="2886"/>
                    <a:pt x="1642" y="2866"/>
                  </a:cubicBezTo>
                  <a:cubicBezTo>
                    <a:pt x="1851" y="2693"/>
                    <a:pt x="2065" y="2433"/>
                    <a:pt x="2240" y="2115"/>
                  </a:cubicBezTo>
                  <a:cubicBezTo>
                    <a:pt x="2259" y="2084"/>
                    <a:pt x="2275" y="2053"/>
                    <a:pt x="2290" y="2022"/>
                  </a:cubicBezTo>
                  <a:cubicBezTo>
                    <a:pt x="2416" y="1777"/>
                    <a:pt x="2501" y="1535"/>
                    <a:pt x="2543" y="1318"/>
                  </a:cubicBezTo>
                  <a:lnTo>
                    <a:pt x="2543" y="1316"/>
                  </a:lnTo>
                  <a:cubicBezTo>
                    <a:pt x="2554" y="1268"/>
                    <a:pt x="2562" y="1221"/>
                    <a:pt x="2566" y="1174"/>
                  </a:cubicBezTo>
                  <a:cubicBezTo>
                    <a:pt x="2566" y="1162"/>
                    <a:pt x="2568" y="1151"/>
                    <a:pt x="2569" y="1139"/>
                  </a:cubicBezTo>
                  <a:cubicBezTo>
                    <a:pt x="2596" y="853"/>
                    <a:pt x="2534" y="632"/>
                    <a:pt x="2377" y="544"/>
                  </a:cubicBezTo>
                  <a:lnTo>
                    <a:pt x="13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1"/>
            <p:cNvSpPr/>
            <p:nvPr/>
          </p:nvSpPr>
          <p:spPr>
            <a:xfrm>
              <a:off x="6923425" y="3011375"/>
              <a:ext cx="90950" cy="102225"/>
            </a:xfrm>
            <a:custGeom>
              <a:avLst/>
              <a:gdLst/>
              <a:ahLst/>
              <a:cxnLst/>
              <a:rect l="l" t="t" r="r" b="b"/>
              <a:pathLst>
                <a:path w="3638" h="4089" extrusionOk="0">
                  <a:moveTo>
                    <a:pt x="2037" y="1"/>
                  </a:moveTo>
                  <a:lnTo>
                    <a:pt x="1" y="3745"/>
                  </a:lnTo>
                  <a:cubicBezTo>
                    <a:pt x="1" y="3745"/>
                    <a:pt x="510" y="4089"/>
                    <a:pt x="1319" y="4089"/>
                  </a:cubicBezTo>
                  <a:cubicBezTo>
                    <a:pt x="1512" y="4089"/>
                    <a:pt x="1722" y="4069"/>
                    <a:pt x="1946" y="4021"/>
                  </a:cubicBezTo>
                  <a:lnTo>
                    <a:pt x="1952" y="4012"/>
                  </a:lnTo>
                  <a:cubicBezTo>
                    <a:pt x="1993" y="4030"/>
                    <a:pt x="2037" y="4038"/>
                    <a:pt x="2085" y="4038"/>
                  </a:cubicBezTo>
                  <a:cubicBezTo>
                    <a:pt x="2405" y="4038"/>
                    <a:pt x="2862" y="3644"/>
                    <a:pt x="3191" y="3053"/>
                  </a:cubicBezTo>
                  <a:cubicBezTo>
                    <a:pt x="3577" y="2358"/>
                    <a:pt x="3638" y="1655"/>
                    <a:pt x="3327" y="1482"/>
                  </a:cubicBezTo>
                  <a:cubicBezTo>
                    <a:pt x="2905" y="369"/>
                    <a:pt x="2037" y="1"/>
                    <a:pt x="20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1"/>
            <p:cNvSpPr/>
            <p:nvPr/>
          </p:nvSpPr>
          <p:spPr>
            <a:xfrm>
              <a:off x="6913125" y="3009950"/>
              <a:ext cx="71875" cy="95800"/>
            </a:xfrm>
            <a:custGeom>
              <a:avLst/>
              <a:gdLst/>
              <a:ahLst/>
              <a:cxnLst/>
              <a:rect l="l" t="t" r="r" b="b"/>
              <a:pathLst>
                <a:path w="2875" h="3832" extrusionOk="0">
                  <a:moveTo>
                    <a:pt x="2216" y="0"/>
                  </a:moveTo>
                  <a:cubicBezTo>
                    <a:pt x="1798" y="0"/>
                    <a:pt x="1224" y="453"/>
                    <a:pt x="763" y="1159"/>
                  </a:cubicBezTo>
                  <a:cubicBezTo>
                    <a:pt x="702" y="1253"/>
                    <a:pt x="642" y="1351"/>
                    <a:pt x="586" y="1454"/>
                  </a:cubicBezTo>
                  <a:cubicBezTo>
                    <a:pt x="489" y="1629"/>
                    <a:pt x="405" y="1803"/>
                    <a:pt x="337" y="1974"/>
                  </a:cubicBezTo>
                  <a:cubicBezTo>
                    <a:pt x="1" y="2812"/>
                    <a:pt x="4" y="3563"/>
                    <a:pt x="384" y="3775"/>
                  </a:cubicBezTo>
                  <a:cubicBezTo>
                    <a:pt x="454" y="3813"/>
                    <a:pt x="531" y="3832"/>
                    <a:pt x="616" y="3832"/>
                  </a:cubicBezTo>
                  <a:cubicBezTo>
                    <a:pt x="1002" y="3832"/>
                    <a:pt x="1521" y="3444"/>
                    <a:pt x="1962" y="2830"/>
                  </a:cubicBezTo>
                  <a:cubicBezTo>
                    <a:pt x="2062" y="2689"/>
                    <a:pt x="2158" y="2539"/>
                    <a:pt x="2247" y="2378"/>
                  </a:cubicBezTo>
                  <a:cubicBezTo>
                    <a:pt x="2290" y="2304"/>
                    <a:pt x="2329" y="2228"/>
                    <a:pt x="2364" y="2154"/>
                  </a:cubicBezTo>
                  <a:cubicBezTo>
                    <a:pt x="2829" y="1204"/>
                    <a:pt x="2874" y="294"/>
                    <a:pt x="2449" y="58"/>
                  </a:cubicBezTo>
                  <a:cubicBezTo>
                    <a:pt x="2379" y="19"/>
                    <a:pt x="2301" y="0"/>
                    <a:pt x="2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1"/>
            <p:cNvSpPr/>
            <p:nvPr/>
          </p:nvSpPr>
          <p:spPr>
            <a:xfrm>
              <a:off x="6917000" y="3019900"/>
              <a:ext cx="51025" cy="72075"/>
            </a:xfrm>
            <a:custGeom>
              <a:avLst/>
              <a:gdLst/>
              <a:ahLst/>
              <a:cxnLst/>
              <a:rect l="l" t="t" r="r" b="b"/>
              <a:pathLst>
                <a:path w="2041" h="2883" extrusionOk="0">
                  <a:moveTo>
                    <a:pt x="1725" y="0"/>
                  </a:moveTo>
                  <a:cubicBezTo>
                    <a:pt x="1369" y="0"/>
                    <a:pt x="861" y="438"/>
                    <a:pt x="497" y="1094"/>
                  </a:cubicBezTo>
                  <a:cubicBezTo>
                    <a:pt x="67" y="1867"/>
                    <a:pt x="0" y="2648"/>
                    <a:pt x="346" y="2841"/>
                  </a:cubicBezTo>
                  <a:cubicBezTo>
                    <a:pt x="397" y="2869"/>
                    <a:pt x="456" y="2883"/>
                    <a:pt x="519" y="2883"/>
                  </a:cubicBezTo>
                  <a:cubicBezTo>
                    <a:pt x="530" y="2883"/>
                    <a:pt x="542" y="2883"/>
                    <a:pt x="553" y="2882"/>
                  </a:cubicBezTo>
                  <a:cubicBezTo>
                    <a:pt x="382" y="2571"/>
                    <a:pt x="490" y="1924"/>
                    <a:pt x="846" y="1284"/>
                  </a:cubicBezTo>
                  <a:cubicBezTo>
                    <a:pt x="1199" y="649"/>
                    <a:pt x="1686" y="216"/>
                    <a:pt x="2041" y="191"/>
                  </a:cubicBezTo>
                  <a:cubicBezTo>
                    <a:pt x="2004" y="126"/>
                    <a:pt x="1957" y="76"/>
                    <a:pt x="1898" y="43"/>
                  </a:cubicBezTo>
                  <a:cubicBezTo>
                    <a:pt x="1846" y="14"/>
                    <a:pt x="1788" y="0"/>
                    <a:pt x="17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1"/>
            <p:cNvSpPr/>
            <p:nvPr/>
          </p:nvSpPr>
          <p:spPr>
            <a:xfrm>
              <a:off x="6928275" y="3024675"/>
              <a:ext cx="43925" cy="67275"/>
            </a:xfrm>
            <a:custGeom>
              <a:avLst/>
              <a:gdLst/>
              <a:ahLst/>
              <a:cxnLst/>
              <a:rect l="l" t="t" r="r" b="b"/>
              <a:pathLst>
                <a:path w="1757" h="2691" extrusionOk="0">
                  <a:moveTo>
                    <a:pt x="1590" y="0"/>
                  </a:moveTo>
                  <a:cubicBezTo>
                    <a:pt x="1235" y="26"/>
                    <a:pt x="748" y="458"/>
                    <a:pt x="395" y="1093"/>
                  </a:cubicBezTo>
                  <a:cubicBezTo>
                    <a:pt x="378" y="1123"/>
                    <a:pt x="361" y="1155"/>
                    <a:pt x="346" y="1185"/>
                  </a:cubicBezTo>
                  <a:cubicBezTo>
                    <a:pt x="199" y="1467"/>
                    <a:pt x="102" y="1748"/>
                    <a:pt x="55" y="1998"/>
                  </a:cubicBezTo>
                  <a:cubicBezTo>
                    <a:pt x="1" y="2286"/>
                    <a:pt x="16" y="2532"/>
                    <a:pt x="102" y="2691"/>
                  </a:cubicBezTo>
                  <a:cubicBezTo>
                    <a:pt x="310" y="2675"/>
                    <a:pt x="561" y="2522"/>
                    <a:pt x="807" y="2269"/>
                  </a:cubicBezTo>
                  <a:cubicBezTo>
                    <a:pt x="979" y="2091"/>
                    <a:pt x="1149" y="1862"/>
                    <a:pt x="1296" y="1598"/>
                  </a:cubicBezTo>
                  <a:cubicBezTo>
                    <a:pt x="1302" y="1589"/>
                    <a:pt x="1307" y="1580"/>
                    <a:pt x="1311" y="1571"/>
                  </a:cubicBezTo>
                  <a:cubicBezTo>
                    <a:pt x="1655" y="941"/>
                    <a:pt x="1756" y="308"/>
                    <a:pt x="15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1"/>
            <p:cNvSpPr/>
            <p:nvPr/>
          </p:nvSpPr>
          <p:spPr>
            <a:xfrm>
              <a:off x="6890000" y="3015350"/>
              <a:ext cx="84100" cy="43000"/>
            </a:xfrm>
            <a:custGeom>
              <a:avLst/>
              <a:gdLst/>
              <a:ahLst/>
              <a:cxnLst/>
              <a:rect l="l" t="t" r="r" b="b"/>
              <a:pathLst>
                <a:path w="3364" h="1720" extrusionOk="0">
                  <a:moveTo>
                    <a:pt x="1271" y="1"/>
                  </a:moveTo>
                  <a:cubicBezTo>
                    <a:pt x="1158" y="1"/>
                    <a:pt x="1046" y="15"/>
                    <a:pt x="937" y="46"/>
                  </a:cubicBezTo>
                  <a:cubicBezTo>
                    <a:pt x="631" y="136"/>
                    <a:pt x="228" y="396"/>
                    <a:pt x="46" y="1134"/>
                  </a:cubicBezTo>
                  <a:cubicBezTo>
                    <a:pt x="0" y="1322"/>
                    <a:pt x="85" y="1509"/>
                    <a:pt x="243" y="1603"/>
                  </a:cubicBezTo>
                  <a:cubicBezTo>
                    <a:pt x="279" y="1625"/>
                    <a:pt x="317" y="1641"/>
                    <a:pt x="359" y="1652"/>
                  </a:cubicBezTo>
                  <a:cubicBezTo>
                    <a:pt x="394" y="1660"/>
                    <a:pt x="428" y="1664"/>
                    <a:pt x="461" y="1664"/>
                  </a:cubicBezTo>
                  <a:cubicBezTo>
                    <a:pt x="655" y="1664"/>
                    <a:pt x="830" y="1533"/>
                    <a:pt x="877" y="1338"/>
                  </a:cubicBezTo>
                  <a:cubicBezTo>
                    <a:pt x="924" y="1150"/>
                    <a:pt x="1012" y="916"/>
                    <a:pt x="1174" y="869"/>
                  </a:cubicBezTo>
                  <a:cubicBezTo>
                    <a:pt x="1204" y="860"/>
                    <a:pt x="1238" y="856"/>
                    <a:pt x="1274" y="856"/>
                  </a:cubicBezTo>
                  <a:cubicBezTo>
                    <a:pt x="1632" y="856"/>
                    <a:pt x="2247" y="1266"/>
                    <a:pt x="2594" y="1599"/>
                  </a:cubicBezTo>
                  <a:cubicBezTo>
                    <a:pt x="2676" y="1679"/>
                    <a:pt x="2783" y="1719"/>
                    <a:pt x="2890" y="1719"/>
                  </a:cubicBezTo>
                  <a:cubicBezTo>
                    <a:pt x="3002" y="1719"/>
                    <a:pt x="3114" y="1675"/>
                    <a:pt x="3198" y="1588"/>
                  </a:cubicBezTo>
                  <a:cubicBezTo>
                    <a:pt x="3363" y="1419"/>
                    <a:pt x="3357" y="1147"/>
                    <a:pt x="3187" y="982"/>
                  </a:cubicBezTo>
                  <a:cubicBezTo>
                    <a:pt x="3000" y="803"/>
                    <a:pt x="2120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1"/>
            <p:cNvSpPr/>
            <p:nvPr/>
          </p:nvSpPr>
          <p:spPr>
            <a:xfrm>
              <a:off x="6897800" y="2988950"/>
              <a:ext cx="83900" cy="47800"/>
            </a:xfrm>
            <a:custGeom>
              <a:avLst/>
              <a:gdLst/>
              <a:ahLst/>
              <a:cxnLst/>
              <a:rect l="l" t="t" r="r" b="b"/>
              <a:pathLst>
                <a:path w="3356" h="1912" extrusionOk="0">
                  <a:moveTo>
                    <a:pt x="1271" y="1"/>
                  </a:moveTo>
                  <a:cubicBezTo>
                    <a:pt x="1208" y="1"/>
                    <a:pt x="1145" y="6"/>
                    <a:pt x="1082" y="16"/>
                  </a:cubicBezTo>
                  <a:cubicBezTo>
                    <a:pt x="767" y="68"/>
                    <a:pt x="337" y="278"/>
                    <a:pt x="69" y="989"/>
                  </a:cubicBezTo>
                  <a:cubicBezTo>
                    <a:pt x="0" y="1170"/>
                    <a:pt x="63" y="1367"/>
                    <a:pt x="208" y="1479"/>
                  </a:cubicBezTo>
                  <a:cubicBezTo>
                    <a:pt x="241" y="1505"/>
                    <a:pt x="278" y="1525"/>
                    <a:pt x="319" y="1540"/>
                  </a:cubicBezTo>
                  <a:cubicBezTo>
                    <a:pt x="368" y="1559"/>
                    <a:pt x="419" y="1568"/>
                    <a:pt x="469" y="1568"/>
                  </a:cubicBezTo>
                  <a:cubicBezTo>
                    <a:pt x="642" y="1568"/>
                    <a:pt x="805" y="1462"/>
                    <a:pt x="870" y="1290"/>
                  </a:cubicBezTo>
                  <a:cubicBezTo>
                    <a:pt x="938" y="1110"/>
                    <a:pt x="1055" y="887"/>
                    <a:pt x="1221" y="860"/>
                  </a:cubicBezTo>
                  <a:cubicBezTo>
                    <a:pt x="1238" y="857"/>
                    <a:pt x="1255" y="856"/>
                    <a:pt x="1273" y="856"/>
                  </a:cubicBezTo>
                  <a:cubicBezTo>
                    <a:pt x="1624" y="856"/>
                    <a:pt x="2224" y="1363"/>
                    <a:pt x="2542" y="1754"/>
                  </a:cubicBezTo>
                  <a:cubicBezTo>
                    <a:pt x="2627" y="1857"/>
                    <a:pt x="2750" y="1911"/>
                    <a:pt x="2874" y="1911"/>
                  </a:cubicBezTo>
                  <a:cubicBezTo>
                    <a:pt x="2970" y="1911"/>
                    <a:pt x="3065" y="1879"/>
                    <a:pt x="3145" y="1814"/>
                  </a:cubicBezTo>
                  <a:cubicBezTo>
                    <a:pt x="3328" y="1664"/>
                    <a:pt x="3356" y="1395"/>
                    <a:pt x="3206" y="1213"/>
                  </a:cubicBezTo>
                  <a:cubicBezTo>
                    <a:pt x="3031" y="999"/>
                    <a:pt x="2168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1"/>
            <p:cNvSpPr/>
            <p:nvPr/>
          </p:nvSpPr>
          <p:spPr>
            <a:xfrm>
              <a:off x="6884925" y="3051625"/>
              <a:ext cx="76150" cy="47575"/>
            </a:xfrm>
            <a:custGeom>
              <a:avLst/>
              <a:gdLst/>
              <a:ahLst/>
              <a:cxnLst/>
              <a:rect l="l" t="t" r="r" b="b"/>
              <a:pathLst>
                <a:path w="3046" h="1903" extrusionOk="0">
                  <a:moveTo>
                    <a:pt x="1343" y="1"/>
                  </a:moveTo>
                  <a:cubicBezTo>
                    <a:pt x="1314" y="1"/>
                    <a:pt x="1284" y="1"/>
                    <a:pt x="1255" y="2"/>
                  </a:cubicBezTo>
                  <a:cubicBezTo>
                    <a:pt x="1015" y="15"/>
                    <a:pt x="784" y="72"/>
                    <a:pt x="582" y="199"/>
                  </a:cubicBezTo>
                  <a:cubicBezTo>
                    <a:pt x="313" y="371"/>
                    <a:pt x="0" y="734"/>
                    <a:pt x="32" y="1493"/>
                  </a:cubicBezTo>
                  <a:cubicBezTo>
                    <a:pt x="40" y="1685"/>
                    <a:pt x="175" y="1843"/>
                    <a:pt x="353" y="1890"/>
                  </a:cubicBezTo>
                  <a:cubicBezTo>
                    <a:pt x="386" y="1897"/>
                    <a:pt x="419" y="1903"/>
                    <a:pt x="455" y="1903"/>
                  </a:cubicBezTo>
                  <a:cubicBezTo>
                    <a:pt x="462" y="1903"/>
                    <a:pt x="470" y="1902"/>
                    <a:pt x="478" y="1902"/>
                  </a:cubicBezTo>
                  <a:cubicBezTo>
                    <a:pt x="715" y="1893"/>
                    <a:pt x="897" y="1693"/>
                    <a:pt x="888" y="1457"/>
                  </a:cubicBezTo>
                  <a:cubicBezTo>
                    <a:pt x="879" y="1263"/>
                    <a:pt x="899" y="1013"/>
                    <a:pt x="1041" y="923"/>
                  </a:cubicBezTo>
                  <a:cubicBezTo>
                    <a:pt x="1052" y="916"/>
                    <a:pt x="1062" y="911"/>
                    <a:pt x="1073" y="905"/>
                  </a:cubicBezTo>
                  <a:cubicBezTo>
                    <a:pt x="1142" y="872"/>
                    <a:pt x="1233" y="857"/>
                    <a:pt x="1338" y="857"/>
                  </a:cubicBezTo>
                  <a:cubicBezTo>
                    <a:pt x="1472" y="857"/>
                    <a:pt x="1628" y="881"/>
                    <a:pt x="1789" y="920"/>
                  </a:cubicBezTo>
                  <a:cubicBezTo>
                    <a:pt x="2048" y="984"/>
                    <a:pt x="2323" y="1085"/>
                    <a:pt x="2541" y="1191"/>
                  </a:cubicBezTo>
                  <a:cubicBezTo>
                    <a:pt x="2713" y="1013"/>
                    <a:pt x="2883" y="784"/>
                    <a:pt x="3030" y="520"/>
                  </a:cubicBezTo>
                  <a:cubicBezTo>
                    <a:pt x="3036" y="511"/>
                    <a:pt x="3041" y="502"/>
                    <a:pt x="3045" y="493"/>
                  </a:cubicBezTo>
                  <a:cubicBezTo>
                    <a:pt x="3033" y="484"/>
                    <a:pt x="3019" y="477"/>
                    <a:pt x="3006" y="469"/>
                  </a:cubicBezTo>
                  <a:cubicBezTo>
                    <a:pt x="2881" y="404"/>
                    <a:pt x="2518" y="224"/>
                    <a:pt x="2080" y="107"/>
                  </a:cubicBezTo>
                  <a:cubicBezTo>
                    <a:pt x="1847" y="45"/>
                    <a:pt x="1593" y="1"/>
                    <a:pt x="1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1"/>
            <p:cNvSpPr/>
            <p:nvPr/>
          </p:nvSpPr>
          <p:spPr>
            <a:xfrm>
              <a:off x="7010825" y="2790225"/>
              <a:ext cx="370525" cy="397525"/>
            </a:xfrm>
            <a:custGeom>
              <a:avLst/>
              <a:gdLst/>
              <a:ahLst/>
              <a:cxnLst/>
              <a:rect l="l" t="t" r="r" b="b"/>
              <a:pathLst>
                <a:path w="14821" h="15901" extrusionOk="0">
                  <a:moveTo>
                    <a:pt x="4661" y="1"/>
                  </a:moveTo>
                  <a:cubicBezTo>
                    <a:pt x="4219" y="1"/>
                    <a:pt x="3836" y="289"/>
                    <a:pt x="3704" y="699"/>
                  </a:cubicBezTo>
                  <a:cubicBezTo>
                    <a:pt x="4266" y="716"/>
                    <a:pt x="14548" y="1132"/>
                    <a:pt x="13732" y="9188"/>
                  </a:cubicBezTo>
                  <a:cubicBezTo>
                    <a:pt x="13337" y="11384"/>
                    <a:pt x="12717" y="15024"/>
                    <a:pt x="8377" y="15024"/>
                  </a:cubicBezTo>
                  <a:cubicBezTo>
                    <a:pt x="6839" y="15024"/>
                    <a:pt x="4834" y="14567"/>
                    <a:pt x="2206" y="13426"/>
                  </a:cubicBezTo>
                  <a:cubicBezTo>
                    <a:pt x="1667" y="13192"/>
                    <a:pt x="1414" y="12578"/>
                    <a:pt x="1611" y="12023"/>
                  </a:cubicBezTo>
                  <a:cubicBezTo>
                    <a:pt x="1631" y="11969"/>
                    <a:pt x="1649" y="11916"/>
                    <a:pt x="1664" y="11864"/>
                  </a:cubicBezTo>
                  <a:cubicBezTo>
                    <a:pt x="1422" y="11738"/>
                    <a:pt x="1199" y="11616"/>
                    <a:pt x="998" y="11502"/>
                  </a:cubicBezTo>
                  <a:cubicBezTo>
                    <a:pt x="993" y="11549"/>
                    <a:pt x="987" y="11596"/>
                    <a:pt x="976" y="11644"/>
                  </a:cubicBezTo>
                  <a:lnTo>
                    <a:pt x="976" y="11646"/>
                  </a:lnTo>
                  <a:cubicBezTo>
                    <a:pt x="934" y="11863"/>
                    <a:pt x="849" y="12105"/>
                    <a:pt x="723" y="12350"/>
                  </a:cubicBezTo>
                  <a:cubicBezTo>
                    <a:pt x="707" y="12381"/>
                    <a:pt x="690" y="12412"/>
                    <a:pt x="673" y="12443"/>
                  </a:cubicBezTo>
                  <a:cubicBezTo>
                    <a:pt x="498" y="12761"/>
                    <a:pt x="284" y="13021"/>
                    <a:pt x="75" y="13194"/>
                  </a:cubicBezTo>
                  <a:cubicBezTo>
                    <a:pt x="49" y="13214"/>
                    <a:pt x="25" y="13233"/>
                    <a:pt x="1" y="13250"/>
                  </a:cubicBezTo>
                  <a:cubicBezTo>
                    <a:pt x="455" y="13506"/>
                    <a:pt x="1135" y="13870"/>
                    <a:pt x="1958" y="14245"/>
                  </a:cubicBezTo>
                  <a:cubicBezTo>
                    <a:pt x="2100" y="14310"/>
                    <a:pt x="2246" y="14375"/>
                    <a:pt x="2396" y="14441"/>
                  </a:cubicBezTo>
                  <a:cubicBezTo>
                    <a:pt x="2733" y="14588"/>
                    <a:pt x="3091" y="14733"/>
                    <a:pt x="3464" y="14874"/>
                  </a:cubicBezTo>
                  <a:cubicBezTo>
                    <a:pt x="3832" y="15012"/>
                    <a:pt x="4191" y="15136"/>
                    <a:pt x="4542" y="15246"/>
                  </a:cubicBezTo>
                  <a:cubicBezTo>
                    <a:pt x="4743" y="15309"/>
                    <a:pt x="4943" y="15368"/>
                    <a:pt x="5139" y="15422"/>
                  </a:cubicBezTo>
                  <a:cubicBezTo>
                    <a:pt x="6298" y="15742"/>
                    <a:pt x="7367" y="15901"/>
                    <a:pt x="8339" y="15901"/>
                  </a:cubicBezTo>
                  <a:cubicBezTo>
                    <a:pt x="8392" y="15901"/>
                    <a:pt x="8445" y="15901"/>
                    <a:pt x="8498" y="15899"/>
                  </a:cubicBezTo>
                  <a:cubicBezTo>
                    <a:pt x="8683" y="15896"/>
                    <a:pt x="8866" y="15887"/>
                    <a:pt x="9044" y="15870"/>
                  </a:cubicBezTo>
                  <a:cubicBezTo>
                    <a:pt x="9833" y="15805"/>
                    <a:pt x="10552" y="15622"/>
                    <a:pt x="11201" y="15324"/>
                  </a:cubicBezTo>
                  <a:cubicBezTo>
                    <a:pt x="11557" y="15160"/>
                    <a:pt x="11888" y="14963"/>
                    <a:pt x="12193" y="14734"/>
                  </a:cubicBezTo>
                  <a:cubicBezTo>
                    <a:pt x="12368" y="14603"/>
                    <a:pt x="12535" y="14460"/>
                    <a:pt x="12693" y="14307"/>
                  </a:cubicBezTo>
                  <a:cubicBezTo>
                    <a:pt x="13361" y="13664"/>
                    <a:pt x="13876" y="12827"/>
                    <a:pt x="14233" y="11808"/>
                  </a:cubicBezTo>
                  <a:cubicBezTo>
                    <a:pt x="14297" y="11629"/>
                    <a:pt x="14354" y="11446"/>
                    <a:pt x="14407" y="11257"/>
                  </a:cubicBezTo>
                  <a:cubicBezTo>
                    <a:pt x="14527" y="10833"/>
                    <a:pt x="14621" y="10378"/>
                    <a:pt x="14692" y="9896"/>
                  </a:cubicBezTo>
                  <a:cubicBezTo>
                    <a:pt x="14792" y="9210"/>
                    <a:pt x="14821" y="8553"/>
                    <a:pt x="14775" y="7924"/>
                  </a:cubicBezTo>
                  <a:cubicBezTo>
                    <a:pt x="14763" y="7740"/>
                    <a:pt x="14744" y="7558"/>
                    <a:pt x="14718" y="7378"/>
                  </a:cubicBezTo>
                  <a:cubicBezTo>
                    <a:pt x="14539" y="6128"/>
                    <a:pt x="14056" y="5001"/>
                    <a:pt x="13276" y="4007"/>
                  </a:cubicBezTo>
                  <a:cubicBezTo>
                    <a:pt x="13265" y="3994"/>
                    <a:pt x="13256" y="3982"/>
                    <a:pt x="13246" y="3968"/>
                  </a:cubicBezTo>
                  <a:cubicBezTo>
                    <a:pt x="13141" y="3838"/>
                    <a:pt x="13032" y="3710"/>
                    <a:pt x="12920" y="3588"/>
                  </a:cubicBezTo>
                  <a:cubicBezTo>
                    <a:pt x="12219" y="2817"/>
                    <a:pt x="11379" y="2211"/>
                    <a:pt x="10511" y="1734"/>
                  </a:cubicBezTo>
                  <a:cubicBezTo>
                    <a:pt x="10377" y="1658"/>
                    <a:pt x="10240" y="1587"/>
                    <a:pt x="10104" y="1517"/>
                  </a:cubicBezTo>
                  <a:lnTo>
                    <a:pt x="10102" y="1517"/>
                  </a:lnTo>
                  <a:cubicBezTo>
                    <a:pt x="9015" y="973"/>
                    <a:pt x="7908" y="620"/>
                    <a:pt x="6984" y="392"/>
                  </a:cubicBezTo>
                  <a:cubicBezTo>
                    <a:pt x="6813" y="351"/>
                    <a:pt x="6647" y="313"/>
                    <a:pt x="6490" y="280"/>
                  </a:cubicBezTo>
                  <a:cubicBezTo>
                    <a:pt x="5508" y="68"/>
                    <a:pt x="4821" y="10"/>
                    <a:pt x="4742" y="4"/>
                  </a:cubicBezTo>
                  <a:cubicBezTo>
                    <a:pt x="4715" y="2"/>
                    <a:pt x="4688" y="1"/>
                    <a:pt x="4661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" name="Google Shape;152;p21"/>
          <p:cNvGrpSpPr/>
          <p:nvPr/>
        </p:nvGrpSpPr>
        <p:grpSpPr>
          <a:xfrm>
            <a:off x="6939118" y="1364742"/>
            <a:ext cx="1718823" cy="935599"/>
            <a:chOff x="238125" y="2409350"/>
            <a:chExt cx="760575" cy="414000"/>
          </a:xfrm>
        </p:grpSpPr>
        <p:sp>
          <p:nvSpPr>
            <p:cNvPr id="153" name="Google Shape;153;p21"/>
            <p:cNvSpPr/>
            <p:nvPr/>
          </p:nvSpPr>
          <p:spPr>
            <a:xfrm>
              <a:off x="238125" y="2409350"/>
              <a:ext cx="760575" cy="414000"/>
            </a:xfrm>
            <a:custGeom>
              <a:avLst/>
              <a:gdLst/>
              <a:ahLst/>
              <a:cxnLst/>
              <a:rect l="l" t="t" r="r" b="b"/>
              <a:pathLst>
                <a:path w="30423" h="16560" extrusionOk="0">
                  <a:moveTo>
                    <a:pt x="0" y="1"/>
                  </a:moveTo>
                  <a:lnTo>
                    <a:pt x="0" y="16560"/>
                  </a:lnTo>
                  <a:lnTo>
                    <a:pt x="2330" y="14045"/>
                  </a:lnTo>
                  <a:lnTo>
                    <a:pt x="30423" y="14045"/>
                  </a:lnTo>
                  <a:lnTo>
                    <a:pt x="304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1"/>
            <p:cNvSpPr/>
            <p:nvPr/>
          </p:nvSpPr>
          <p:spPr>
            <a:xfrm>
              <a:off x="782450" y="2485325"/>
              <a:ext cx="180850" cy="180850"/>
            </a:xfrm>
            <a:custGeom>
              <a:avLst/>
              <a:gdLst/>
              <a:ahLst/>
              <a:cxnLst/>
              <a:rect l="l" t="t" r="r" b="b"/>
              <a:pathLst>
                <a:path w="7234" h="7234" extrusionOk="0">
                  <a:moveTo>
                    <a:pt x="3618" y="0"/>
                  </a:moveTo>
                  <a:cubicBezTo>
                    <a:pt x="1620" y="0"/>
                    <a:pt x="1" y="1620"/>
                    <a:pt x="1" y="3618"/>
                  </a:cubicBezTo>
                  <a:cubicBezTo>
                    <a:pt x="1" y="5614"/>
                    <a:pt x="1620" y="7233"/>
                    <a:pt x="3618" y="7233"/>
                  </a:cubicBezTo>
                  <a:cubicBezTo>
                    <a:pt x="5614" y="7233"/>
                    <a:pt x="7234" y="5614"/>
                    <a:pt x="7234" y="3618"/>
                  </a:cubicBezTo>
                  <a:cubicBezTo>
                    <a:pt x="7234" y="1620"/>
                    <a:pt x="5614" y="0"/>
                    <a:pt x="36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1"/>
            <p:cNvSpPr/>
            <p:nvPr/>
          </p:nvSpPr>
          <p:spPr>
            <a:xfrm>
              <a:off x="277200" y="2506650"/>
              <a:ext cx="457150" cy="14700"/>
            </a:xfrm>
            <a:custGeom>
              <a:avLst/>
              <a:gdLst/>
              <a:ahLst/>
              <a:cxnLst/>
              <a:rect l="l" t="t" r="r" b="b"/>
              <a:pathLst>
                <a:path w="18286" h="588" extrusionOk="0">
                  <a:moveTo>
                    <a:pt x="294" y="0"/>
                  </a:moveTo>
                  <a:cubicBezTo>
                    <a:pt x="132" y="0"/>
                    <a:pt x="0" y="132"/>
                    <a:pt x="0" y="294"/>
                  </a:cubicBezTo>
                  <a:cubicBezTo>
                    <a:pt x="0" y="458"/>
                    <a:pt x="132" y="588"/>
                    <a:pt x="294" y="588"/>
                  </a:cubicBezTo>
                  <a:lnTo>
                    <a:pt x="17992" y="588"/>
                  </a:lnTo>
                  <a:cubicBezTo>
                    <a:pt x="18154" y="588"/>
                    <a:pt x="18286" y="458"/>
                    <a:pt x="18286" y="294"/>
                  </a:cubicBezTo>
                  <a:cubicBezTo>
                    <a:pt x="18286" y="132"/>
                    <a:pt x="18154" y="0"/>
                    <a:pt x="179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1"/>
            <p:cNvSpPr/>
            <p:nvPr/>
          </p:nvSpPr>
          <p:spPr>
            <a:xfrm>
              <a:off x="563575" y="2561025"/>
              <a:ext cx="170775" cy="14750"/>
            </a:xfrm>
            <a:custGeom>
              <a:avLst/>
              <a:gdLst/>
              <a:ahLst/>
              <a:cxnLst/>
              <a:rect l="l" t="t" r="r" b="b"/>
              <a:pathLst>
                <a:path w="6831" h="590" extrusionOk="0">
                  <a:moveTo>
                    <a:pt x="295" y="0"/>
                  </a:moveTo>
                  <a:cubicBezTo>
                    <a:pt x="131" y="0"/>
                    <a:pt x="1" y="132"/>
                    <a:pt x="1" y="294"/>
                  </a:cubicBezTo>
                  <a:cubicBezTo>
                    <a:pt x="1" y="458"/>
                    <a:pt x="133" y="590"/>
                    <a:pt x="295" y="590"/>
                  </a:cubicBezTo>
                  <a:lnTo>
                    <a:pt x="6537" y="590"/>
                  </a:lnTo>
                  <a:cubicBezTo>
                    <a:pt x="6699" y="590"/>
                    <a:pt x="6831" y="458"/>
                    <a:pt x="6831" y="294"/>
                  </a:cubicBezTo>
                  <a:cubicBezTo>
                    <a:pt x="6831" y="132"/>
                    <a:pt x="6699" y="0"/>
                    <a:pt x="65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1"/>
            <p:cNvSpPr/>
            <p:nvPr/>
          </p:nvSpPr>
          <p:spPr>
            <a:xfrm>
              <a:off x="273525" y="2561025"/>
              <a:ext cx="265250" cy="14750"/>
            </a:xfrm>
            <a:custGeom>
              <a:avLst/>
              <a:gdLst/>
              <a:ahLst/>
              <a:cxnLst/>
              <a:rect l="l" t="t" r="r" b="b"/>
              <a:pathLst>
                <a:path w="10610" h="590" extrusionOk="0">
                  <a:moveTo>
                    <a:pt x="294" y="0"/>
                  </a:moveTo>
                  <a:cubicBezTo>
                    <a:pt x="132" y="0"/>
                    <a:pt x="0" y="132"/>
                    <a:pt x="0" y="294"/>
                  </a:cubicBezTo>
                  <a:cubicBezTo>
                    <a:pt x="0" y="458"/>
                    <a:pt x="132" y="590"/>
                    <a:pt x="294" y="590"/>
                  </a:cubicBezTo>
                  <a:lnTo>
                    <a:pt x="10314" y="590"/>
                  </a:lnTo>
                  <a:cubicBezTo>
                    <a:pt x="10478" y="590"/>
                    <a:pt x="10609" y="458"/>
                    <a:pt x="10609" y="294"/>
                  </a:cubicBezTo>
                  <a:cubicBezTo>
                    <a:pt x="10609" y="132"/>
                    <a:pt x="10478" y="0"/>
                    <a:pt x="1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1"/>
            <p:cNvSpPr/>
            <p:nvPr/>
          </p:nvSpPr>
          <p:spPr>
            <a:xfrm>
              <a:off x="277200" y="2615400"/>
              <a:ext cx="457150" cy="14725"/>
            </a:xfrm>
            <a:custGeom>
              <a:avLst/>
              <a:gdLst/>
              <a:ahLst/>
              <a:cxnLst/>
              <a:rect l="l" t="t" r="r" b="b"/>
              <a:pathLst>
                <a:path w="18286" h="589" extrusionOk="0">
                  <a:moveTo>
                    <a:pt x="294" y="0"/>
                  </a:moveTo>
                  <a:cubicBezTo>
                    <a:pt x="132" y="0"/>
                    <a:pt x="0" y="132"/>
                    <a:pt x="0" y="294"/>
                  </a:cubicBezTo>
                  <a:cubicBezTo>
                    <a:pt x="0" y="456"/>
                    <a:pt x="132" y="588"/>
                    <a:pt x="294" y="588"/>
                  </a:cubicBezTo>
                  <a:lnTo>
                    <a:pt x="17992" y="588"/>
                  </a:lnTo>
                  <a:cubicBezTo>
                    <a:pt x="18154" y="588"/>
                    <a:pt x="18286" y="456"/>
                    <a:pt x="18286" y="294"/>
                  </a:cubicBezTo>
                  <a:cubicBezTo>
                    <a:pt x="18286" y="132"/>
                    <a:pt x="18154" y="0"/>
                    <a:pt x="179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594675" y="2669775"/>
              <a:ext cx="139675" cy="14725"/>
            </a:xfrm>
            <a:custGeom>
              <a:avLst/>
              <a:gdLst/>
              <a:ahLst/>
              <a:cxnLst/>
              <a:rect l="l" t="t" r="r" b="b"/>
              <a:pathLst>
                <a:path w="5587" h="589" extrusionOk="0">
                  <a:moveTo>
                    <a:pt x="294" y="1"/>
                  </a:moveTo>
                  <a:cubicBezTo>
                    <a:pt x="132" y="1"/>
                    <a:pt x="1" y="132"/>
                    <a:pt x="1" y="294"/>
                  </a:cubicBezTo>
                  <a:cubicBezTo>
                    <a:pt x="1" y="457"/>
                    <a:pt x="132" y="588"/>
                    <a:pt x="294" y="588"/>
                  </a:cubicBezTo>
                  <a:lnTo>
                    <a:pt x="5293" y="588"/>
                  </a:lnTo>
                  <a:cubicBezTo>
                    <a:pt x="5455" y="588"/>
                    <a:pt x="5587" y="457"/>
                    <a:pt x="5587" y="294"/>
                  </a:cubicBezTo>
                  <a:cubicBezTo>
                    <a:pt x="5587" y="132"/>
                    <a:pt x="5455" y="1"/>
                    <a:pt x="52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385300" y="2669775"/>
              <a:ext cx="185775" cy="14725"/>
            </a:xfrm>
            <a:custGeom>
              <a:avLst/>
              <a:gdLst/>
              <a:ahLst/>
              <a:cxnLst/>
              <a:rect l="l" t="t" r="r" b="b"/>
              <a:pathLst>
                <a:path w="7431" h="589" extrusionOk="0">
                  <a:moveTo>
                    <a:pt x="295" y="1"/>
                  </a:moveTo>
                  <a:cubicBezTo>
                    <a:pt x="132" y="1"/>
                    <a:pt x="1" y="132"/>
                    <a:pt x="1" y="294"/>
                  </a:cubicBezTo>
                  <a:cubicBezTo>
                    <a:pt x="1" y="457"/>
                    <a:pt x="132" y="588"/>
                    <a:pt x="295" y="588"/>
                  </a:cubicBezTo>
                  <a:lnTo>
                    <a:pt x="7135" y="588"/>
                  </a:lnTo>
                  <a:cubicBezTo>
                    <a:pt x="7299" y="588"/>
                    <a:pt x="7430" y="457"/>
                    <a:pt x="7430" y="294"/>
                  </a:cubicBezTo>
                  <a:cubicBezTo>
                    <a:pt x="7430" y="132"/>
                    <a:pt x="7299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1"/>
            <p:cNvSpPr/>
            <p:nvPr/>
          </p:nvSpPr>
          <p:spPr>
            <a:xfrm>
              <a:off x="779775" y="2543150"/>
              <a:ext cx="189050" cy="65425"/>
            </a:xfrm>
            <a:custGeom>
              <a:avLst/>
              <a:gdLst/>
              <a:ahLst/>
              <a:cxnLst/>
              <a:rect l="l" t="t" r="r" b="b"/>
              <a:pathLst>
                <a:path w="7562" h="2617" extrusionOk="0">
                  <a:moveTo>
                    <a:pt x="673" y="0"/>
                  </a:moveTo>
                  <a:cubicBezTo>
                    <a:pt x="302" y="0"/>
                    <a:pt x="0" y="302"/>
                    <a:pt x="0" y="673"/>
                  </a:cubicBezTo>
                  <a:lnTo>
                    <a:pt x="0" y="1944"/>
                  </a:lnTo>
                  <a:cubicBezTo>
                    <a:pt x="0" y="2315"/>
                    <a:pt x="302" y="2616"/>
                    <a:pt x="673" y="2616"/>
                  </a:cubicBezTo>
                  <a:lnTo>
                    <a:pt x="6889" y="2616"/>
                  </a:lnTo>
                  <a:cubicBezTo>
                    <a:pt x="7260" y="2616"/>
                    <a:pt x="7562" y="2315"/>
                    <a:pt x="7562" y="1944"/>
                  </a:cubicBezTo>
                  <a:lnTo>
                    <a:pt x="7562" y="673"/>
                  </a:lnTo>
                  <a:cubicBezTo>
                    <a:pt x="7562" y="302"/>
                    <a:pt x="7260" y="0"/>
                    <a:pt x="6889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1"/>
            <p:cNvSpPr/>
            <p:nvPr/>
          </p:nvSpPr>
          <p:spPr>
            <a:xfrm>
              <a:off x="786050" y="2549475"/>
              <a:ext cx="176500" cy="52800"/>
            </a:xfrm>
            <a:custGeom>
              <a:avLst/>
              <a:gdLst/>
              <a:ahLst/>
              <a:cxnLst/>
              <a:rect l="l" t="t" r="r" b="b"/>
              <a:pathLst>
                <a:path w="7060" h="2112" extrusionOk="0">
                  <a:moveTo>
                    <a:pt x="422" y="0"/>
                  </a:moveTo>
                  <a:cubicBezTo>
                    <a:pt x="190" y="0"/>
                    <a:pt x="1" y="188"/>
                    <a:pt x="1" y="421"/>
                  </a:cubicBezTo>
                  <a:lnTo>
                    <a:pt x="1" y="1691"/>
                  </a:lnTo>
                  <a:cubicBezTo>
                    <a:pt x="1" y="1923"/>
                    <a:pt x="190" y="2112"/>
                    <a:pt x="422" y="2112"/>
                  </a:cubicBezTo>
                  <a:lnTo>
                    <a:pt x="6638" y="2112"/>
                  </a:lnTo>
                  <a:cubicBezTo>
                    <a:pt x="6872" y="2112"/>
                    <a:pt x="7059" y="1923"/>
                    <a:pt x="7059" y="1691"/>
                  </a:cubicBezTo>
                  <a:lnTo>
                    <a:pt x="7059" y="420"/>
                  </a:lnTo>
                  <a:cubicBezTo>
                    <a:pt x="7059" y="188"/>
                    <a:pt x="6872" y="0"/>
                    <a:pt x="66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1"/>
            <p:cNvSpPr/>
            <p:nvPr/>
          </p:nvSpPr>
          <p:spPr>
            <a:xfrm>
              <a:off x="897475" y="2569000"/>
              <a:ext cx="45300" cy="18125"/>
            </a:xfrm>
            <a:custGeom>
              <a:avLst/>
              <a:gdLst/>
              <a:ahLst/>
              <a:cxnLst/>
              <a:rect l="l" t="t" r="r" b="b"/>
              <a:pathLst>
                <a:path w="1812" h="725" extrusionOk="0">
                  <a:moveTo>
                    <a:pt x="885" y="1"/>
                  </a:moveTo>
                  <a:cubicBezTo>
                    <a:pt x="567" y="1"/>
                    <a:pt x="268" y="140"/>
                    <a:pt x="64" y="383"/>
                  </a:cubicBezTo>
                  <a:cubicBezTo>
                    <a:pt x="0" y="457"/>
                    <a:pt x="9" y="567"/>
                    <a:pt x="83" y="631"/>
                  </a:cubicBezTo>
                  <a:cubicBezTo>
                    <a:pt x="116" y="659"/>
                    <a:pt x="157" y="672"/>
                    <a:pt x="197" y="672"/>
                  </a:cubicBezTo>
                  <a:cubicBezTo>
                    <a:pt x="247" y="672"/>
                    <a:pt x="297" y="651"/>
                    <a:pt x="332" y="610"/>
                  </a:cubicBezTo>
                  <a:cubicBezTo>
                    <a:pt x="470" y="446"/>
                    <a:pt x="671" y="354"/>
                    <a:pt x="885" y="354"/>
                  </a:cubicBezTo>
                  <a:cubicBezTo>
                    <a:pt x="1115" y="354"/>
                    <a:pt x="1333" y="464"/>
                    <a:pt x="1469" y="652"/>
                  </a:cubicBezTo>
                  <a:cubicBezTo>
                    <a:pt x="1504" y="699"/>
                    <a:pt x="1557" y="725"/>
                    <a:pt x="1612" y="725"/>
                  </a:cubicBezTo>
                  <a:cubicBezTo>
                    <a:pt x="1648" y="725"/>
                    <a:pt x="1684" y="714"/>
                    <a:pt x="1715" y="692"/>
                  </a:cubicBezTo>
                  <a:cubicBezTo>
                    <a:pt x="1794" y="634"/>
                    <a:pt x="1812" y="524"/>
                    <a:pt x="1754" y="445"/>
                  </a:cubicBezTo>
                  <a:cubicBezTo>
                    <a:pt x="1553" y="168"/>
                    <a:pt x="1227" y="1"/>
                    <a:pt x="8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1"/>
            <p:cNvSpPr/>
            <p:nvPr/>
          </p:nvSpPr>
          <p:spPr>
            <a:xfrm>
              <a:off x="805875" y="2569000"/>
              <a:ext cx="45275" cy="18125"/>
            </a:xfrm>
            <a:custGeom>
              <a:avLst/>
              <a:gdLst/>
              <a:ahLst/>
              <a:cxnLst/>
              <a:rect l="l" t="t" r="r" b="b"/>
              <a:pathLst>
                <a:path w="1811" h="725" extrusionOk="0">
                  <a:moveTo>
                    <a:pt x="927" y="1"/>
                  </a:moveTo>
                  <a:cubicBezTo>
                    <a:pt x="583" y="1"/>
                    <a:pt x="259" y="168"/>
                    <a:pt x="56" y="445"/>
                  </a:cubicBezTo>
                  <a:cubicBezTo>
                    <a:pt x="0" y="524"/>
                    <a:pt x="17" y="634"/>
                    <a:pt x="95" y="692"/>
                  </a:cubicBezTo>
                  <a:cubicBezTo>
                    <a:pt x="127" y="714"/>
                    <a:pt x="164" y="725"/>
                    <a:pt x="200" y="725"/>
                  </a:cubicBezTo>
                  <a:cubicBezTo>
                    <a:pt x="255" y="725"/>
                    <a:pt x="308" y="699"/>
                    <a:pt x="342" y="652"/>
                  </a:cubicBezTo>
                  <a:cubicBezTo>
                    <a:pt x="477" y="464"/>
                    <a:pt x="697" y="354"/>
                    <a:pt x="927" y="354"/>
                  </a:cubicBezTo>
                  <a:cubicBezTo>
                    <a:pt x="1141" y="354"/>
                    <a:pt x="1341" y="446"/>
                    <a:pt x="1478" y="610"/>
                  </a:cubicBezTo>
                  <a:cubicBezTo>
                    <a:pt x="1514" y="651"/>
                    <a:pt x="1564" y="672"/>
                    <a:pt x="1614" y="672"/>
                  </a:cubicBezTo>
                  <a:cubicBezTo>
                    <a:pt x="1654" y="672"/>
                    <a:pt x="1694" y="659"/>
                    <a:pt x="1727" y="631"/>
                  </a:cubicBezTo>
                  <a:cubicBezTo>
                    <a:pt x="1801" y="567"/>
                    <a:pt x="1810" y="457"/>
                    <a:pt x="1748" y="383"/>
                  </a:cubicBezTo>
                  <a:cubicBezTo>
                    <a:pt x="1544" y="140"/>
                    <a:pt x="1244" y="1"/>
                    <a:pt x="9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" name="Google Shape;165;p21"/>
          <p:cNvGrpSpPr/>
          <p:nvPr/>
        </p:nvGrpSpPr>
        <p:grpSpPr>
          <a:xfrm>
            <a:off x="5630061" y="2598812"/>
            <a:ext cx="1147199" cy="637372"/>
            <a:chOff x="315275" y="3124950"/>
            <a:chExt cx="658175" cy="365675"/>
          </a:xfrm>
        </p:grpSpPr>
        <p:sp>
          <p:nvSpPr>
            <p:cNvPr id="166" name="Google Shape;166;p21"/>
            <p:cNvSpPr/>
            <p:nvPr/>
          </p:nvSpPr>
          <p:spPr>
            <a:xfrm>
              <a:off x="315275" y="3124950"/>
              <a:ext cx="634175" cy="365675"/>
            </a:xfrm>
            <a:custGeom>
              <a:avLst/>
              <a:gdLst/>
              <a:ahLst/>
              <a:cxnLst/>
              <a:rect l="l" t="t" r="r" b="b"/>
              <a:pathLst>
                <a:path w="25367" h="14627" extrusionOk="0">
                  <a:moveTo>
                    <a:pt x="763" y="0"/>
                  </a:moveTo>
                  <a:cubicBezTo>
                    <a:pt x="342" y="0"/>
                    <a:pt x="1" y="341"/>
                    <a:pt x="1" y="762"/>
                  </a:cubicBezTo>
                  <a:lnTo>
                    <a:pt x="1" y="11111"/>
                  </a:lnTo>
                  <a:cubicBezTo>
                    <a:pt x="1" y="11532"/>
                    <a:pt x="342" y="11873"/>
                    <a:pt x="763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6" y="0"/>
                    <a:pt x="246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875125" y="3421750"/>
              <a:ext cx="98325" cy="68875"/>
            </a:xfrm>
            <a:custGeom>
              <a:avLst/>
              <a:gdLst/>
              <a:ahLst/>
              <a:cxnLst/>
              <a:rect l="l" t="t" r="r" b="b"/>
              <a:pathLst>
                <a:path w="3933" h="2755" extrusionOk="0">
                  <a:moveTo>
                    <a:pt x="0" y="1"/>
                  </a:moveTo>
                  <a:lnTo>
                    <a:pt x="2972" y="2754"/>
                  </a:lnTo>
                  <a:lnTo>
                    <a:pt x="3933" y="2754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1"/>
            <p:cNvSpPr/>
            <p:nvPr/>
          </p:nvSpPr>
          <p:spPr>
            <a:xfrm>
              <a:off x="339300" y="3124950"/>
              <a:ext cx="634150" cy="365675"/>
            </a:xfrm>
            <a:custGeom>
              <a:avLst/>
              <a:gdLst/>
              <a:ahLst/>
              <a:cxnLst/>
              <a:rect l="l" t="t" r="r" b="b"/>
              <a:pathLst>
                <a:path w="25366" h="14627" extrusionOk="0">
                  <a:moveTo>
                    <a:pt x="764" y="0"/>
                  </a:moveTo>
                  <a:cubicBezTo>
                    <a:pt x="343" y="0"/>
                    <a:pt x="0" y="341"/>
                    <a:pt x="0" y="762"/>
                  </a:cubicBezTo>
                  <a:lnTo>
                    <a:pt x="0" y="11111"/>
                  </a:lnTo>
                  <a:cubicBezTo>
                    <a:pt x="0" y="11532"/>
                    <a:pt x="343" y="11873"/>
                    <a:pt x="764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5" y="0"/>
                    <a:pt x="246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" name="Google Shape;169;p21"/>
            <p:cNvSpPr/>
            <p:nvPr/>
          </p:nvSpPr>
          <p:spPr>
            <a:xfrm>
              <a:off x="792825" y="3237950"/>
              <a:ext cx="73725" cy="73700"/>
            </a:xfrm>
            <a:custGeom>
              <a:avLst/>
              <a:gdLst/>
              <a:ahLst/>
              <a:cxnLst/>
              <a:rect l="l" t="t" r="r" b="b"/>
              <a:pathLst>
                <a:path w="2949" h="2948" extrusionOk="0">
                  <a:moveTo>
                    <a:pt x="1475" y="0"/>
                  </a:moveTo>
                  <a:cubicBezTo>
                    <a:pt x="661" y="0"/>
                    <a:pt x="1" y="661"/>
                    <a:pt x="1" y="1474"/>
                  </a:cubicBezTo>
                  <a:cubicBezTo>
                    <a:pt x="1" y="2288"/>
                    <a:pt x="661" y="2948"/>
                    <a:pt x="1475" y="2948"/>
                  </a:cubicBezTo>
                  <a:cubicBezTo>
                    <a:pt x="2288" y="2948"/>
                    <a:pt x="2949" y="2288"/>
                    <a:pt x="2949" y="1474"/>
                  </a:cubicBezTo>
                  <a:cubicBezTo>
                    <a:pt x="2949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1"/>
            <p:cNvSpPr/>
            <p:nvPr/>
          </p:nvSpPr>
          <p:spPr>
            <a:xfrm>
              <a:off x="619550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3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3" y="2948"/>
                  </a:cubicBezTo>
                  <a:cubicBezTo>
                    <a:pt x="2286" y="2948"/>
                    <a:pt x="2947" y="2288"/>
                    <a:pt x="2947" y="1474"/>
                  </a:cubicBezTo>
                  <a:cubicBezTo>
                    <a:pt x="2947" y="661"/>
                    <a:pt x="2286" y="0"/>
                    <a:pt x="14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1"/>
            <p:cNvSpPr/>
            <p:nvPr/>
          </p:nvSpPr>
          <p:spPr>
            <a:xfrm>
              <a:off x="446225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5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5" y="2948"/>
                  </a:cubicBezTo>
                  <a:cubicBezTo>
                    <a:pt x="2288" y="2948"/>
                    <a:pt x="2947" y="2288"/>
                    <a:pt x="2947" y="1474"/>
                  </a:cubicBezTo>
                  <a:cubicBezTo>
                    <a:pt x="2947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21"/>
          <p:cNvGrpSpPr/>
          <p:nvPr/>
        </p:nvGrpSpPr>
        <p:grpSpPr>
          <a:xfrm flipH="1">
            <a:off x="6486861" y="1068861"/>
            <a:ext cx="744001" cy="413322"/>
            <a:chOff x="315275" y="3124950"/>
            <a:chExt cx="658175" cy="365675"/>
          </a:xfrm>
        </p:grpSpPr>
        <p:sp>
          <p:nvSpPr>
            <p:cNvPr id="173" name="Google Shape;173;p21"/>
            <p:cNvSpPr/>
            <p:nvPr/>
          </p:nvSpPr>
          <p:spPr>
            <a:xfrm>
              <a:off x="315275" y="3124950"/>
              <a:ext cx="634175" cy="365675"/>
            </a:xfrm>
            <a:custGeom>
              <a:avLst/>
              <a:gdLst/>
              <a:ahLst/>
              <a:cxnLst/>
              <a:rect l="l" t="t" r="r" b="b"/>
              <a:pathLst>
                <a:path w="25367" h="14627" extrusionOk="0">
                  <a:moveTo>
                    <a:pt x="763" y="0"/>
                  </a:moveTo>
                  <a:cubicBezTo>
                    <a:pt x="342" y="0"/>
                    <a:pt x="1" y="341"/>
                    <a:pt x="1" y="762"/>
                  </a:cubicBezTo>
                  <a:lnTo>
                    <a:pt x="1" y="11111"/>
                  </a:lnTo>
                  <a:cubicBezTo>
                    <a:pt x="1" y="11532"/>
                    <a:pt x="342" y="11873"/>
                    <a:pt x="763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6" y="0"/>
                    <a:pt x="246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1"/>
            <p:cNvSpPr/>
            <p:nvPr/>
          </p:nvSpPr>
          <p:spPr>
            <a:xfrm>
              <a:off x="875125" y="3421750"/>
              <a:ext cx="98325" cy="68875"/>
            </a:xfrm>
            <a:custGeom>
              <a:avLst/>
              <a:gdLst/>
              <a:ahLst/>
              <a:cxnLst/>
              <a:rect l="l" t="t" r="r" b="b"/>
              <a:pathLst>
                <a:path w="3933" h="2755" extrusionOk="0">
                  <a:moveTo>
                    <a:pt x="0" y="1"/>
                  </a:moveTo>
                  <a:lnTo>
                    <a:pt x="2972" y="2754"/>
                  </a:lnTo>
                  <a:lnTo>
                    <a:pt x="3933" y="2754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1"/>
            <p:cNvSpPr/>
            <p:nvPr/>
          </p:nvSpPr>
          <p:spPr>
            <a:xfrm>
              <a:off x="339300" y="3124950"/>
              <a:ext cx="634150" cy="365675"/>
            </a:xfrm>
            <a:custGeom>
              <a:avLst/>
              <a:gdLst/>
              <a:ahLst/>
              <a:cxnLst/>
              <a:rect l="l" t="t" r="r" b="b"/>
              <a:pathLst>
                <a:path w="25366" h="14627" extrusionOk="0">
                  <a:moveTo>
                    <a:pt x="764" y="0"/>
                  </a:moveTo>
                  <a:cubicBezTo>
                    <a:pt x="343" y="0"/>
                    <a:pt x="0" y="341"/>
                    <a:pt x="0" y="762"/>
                  </a:cubicBezTo>
                  <a:lnTo>
                    <a:pt x="0" y="11111"/>
                  </a:lnTo>
                  <a:cubicBezTo>
                    <a:pt x="0" y="11532"/>
                    <a:pt x="343" y="11873"/>
                    <a:pt x="764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5" y="0"/>
                    <a:pt x="246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1"/>
            <p:cNvSpPr/>
            <p:nvPr/>
          </p:nvSpPr>
          <p:spPr>
            <a:xfrm>
              <a:off x="792825" y="3237950"/>
              <a:ext cx="73725" cy="73700"/>
            </a:xfrm>
            <a:custGeom>
              <a:avLst/>
              <a:gdLst/>
              <a:ahLst/>
              <a:cxnLst/>
              <a:rect l="l" t="t" r="r" b="b"/>
              <a:pathLst>
                <a:path w="2949" h="2948" extrusionOk="0">
                  <a:moveTo>
                    <a:pt x="1475" y="0"/>
                  </a:moveTo>
                  <a:cubicBezTo>
                    <a:pt x="661" y="0"/>
                    <a:pt x="1" y="661"/>
                    <a:pt x="1" y="1474"/>
                  </a:cubicBezTo>
                  <a:cubicBezTo>
                    <a:pt x="1" y="2288"/>
                    <a:pt x="661" y="2948"/>
                    <a:pt x="1475" y="2948"/>
                  </a:cubicBezTo>
                  <a:cubicBezTo>
                    <a:pt x="2288" y="2948"/>
                    <a:pt x="2949" y="2288"/>
                    <a:pt x="2949" y="1474"/>
                  </a:cubicBezTo>
                  <a:cubicBezTo>
                    <a:pt x="2949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1"/>
            <p:cNvSpPr/>
            <p:nvPr/>
          </p:nvSpPr>
          <p:spPr>
            <a:xfrm>
              <a:off x="619550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3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3" y="2948"/>
                  </a:cubicBezTo>
                  <a:cubicBezTo>
                    <a:pt x="2286" y="2948"/>
                    <a:pt x="2947" y="2288"/>
                    <a:pt x="2947" y="1474"/>
                  </a:cubicBezTo>
                  <a:cubicBezTo>
                    <a:pt x="2947" y="661"/>
                    <a:pt x="2286" y="0"/>
                    <a:pt x="14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1"/>
            <p:cNvSpPr/>
            <p:nvPr/>
          </p:nvSpPr>
          <p:spPr>
            <a:xfrm>
              <a:off x="446225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5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5" y="2948"/>
                  </a:cubicBezTo>
                  <a:cubicBezTo>
                    <a:pt x="2288" y="2948"/>
                    <a:pt x="2947" y="2288"/>
                    <a:pt x="2947" y="1474"/>
                  </a:cubicBezTo>
                  <a:cubicBezTo>
                    <a:pt x="2947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3076C3DA-5B95-CC90-808B-E65BB0488F85}"/>
              </a:ext>
            </a:extLst>
          </p:cNvPr>
          <p:cNvSpPr txBox="1"/>
          <p:nvPr/>
        </p:nvSpPr>
        <p:spPr>
          <a:xfrm>
            <a:off x="427839" y="2433250"/>
            <a:ext cx="5016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Active Object Localization With Deep Reinforcement Learning (</a:t>
            </a:r>
            <a:r>
              <a:rPr lang="en-US" sz="1200" dirty="0" err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thecvf.com</a:t>
            </a:r>
            <a:r>
              <a:rPr lang="en-US" sz="12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lang="en-US" sz="12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382;p38">
            <a:extLst>
              <a:ext uri="{FF2B5EF4-FFF2-40B4-BE49-F238E27FC236}">
                <a16:creationId xmlns:a16="http://schemas.microsoft.com/office/drawing/2014/main" id="{BDA6C98F-985B-4974-CEA8-385FA83549C2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382;p38">
            <a:extLst>
              <a:ext uri="{FF2B5EF4-FFF2-40B4-BE49-F238E27FC236}">
                <a16:creationId xmlns:a16="http://schemas.microsoft.com/office/drawing/2014/main" id="{8C7E776F-CD85-23A6-E333-010304DF27B0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82;p38">
            <a:extLst>
              <a:ext uri="{FF2B5EF4-FFF2-40B4-BE49-F238E27FC236}">
                <a16:creationId xmlns:a16="http://schemas.microsoft.com/office/drawing/2014/main" id="{99EADEC4-B8B0-5EC6-FB64-A818113FB791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Hình chữ nhật: Góc Tròn 19">
            <a:extLst>
              <a:ext uri="{FF2B5EF4-FFF2-40B4-BE49-F238E27FC236}">
                <a16:creationId xmlns:a16="http://schemas.microsoft.com/office/drawing/2014/main" id="{AE17FB3F-78D5-0FBA-31EE-957BD8C55E00}"/>
              </a:ext>
            </a:extLst>
          </p:cNvPr>
          <p:cNvSpPr/>
          <p:nvPr/>
        </p:nvSpPr>
        <p:spPr>
          <a:xfrm>
            <a:off x="281942" y="4533987"/>
            <a:ext cx="802322" cy="365125"/>
          </a:xfrm>
          <a:prstGeom prst="roundRect">
            <a:avLst/>
          </a:prstGeom>
          <a:solidFill>
            <a:srgbClr val="5B62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Squad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>
            <a:spLocks noGrp="1"/>
          </p:cNvSpPr>
          <p:nvPr>
            <p:ph type="title"/>
          </p:nvPr>
        </p:nvSpPr>
        <p:spPr>
          <a:xfrm>
            <a:off x="715100" y="1465120"/>
            <a:ext cx="13356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85" name="Google Shape;185;p22"/>
          <p:cNvSpPr txBox="1">
            <a:spLocks noGrp="1"/>
          </p:cNvSpPr>
          <p:nvPr>
            <p:ph type="subTitle" idx="1"/>
          </p:nvPr>
        </p:nvSpPr>
        <p:spPr>
          <a:xfrm>
            <a:off x="2050814" y="1465120"/>
            <a:ext cx="63783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86" name="Google Shape;186;p22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cxnSp>
        <p:nvCxnSpPr>
          <p:cNvPr id="187" name="Google Shape;187;p22"/>
          <p:cNvCxnSpPr/>
          <p:nvPr/>
        </p:nvCxnSpPr>
        <p:spPr>
          <a:xfrm>
            <a:off x="1259000" y="1706462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88" name="Google Shape;188;p22"/>
          <p:cNvSpPr txBox="1">
            <a:spLocks noGrp="1"/>
          </p:cNvSpPr>
          <p:nvPr>
            <p:ph type="title" idx="3"/>
          </p:nvPr>
        </p:nvSpPr>
        <p:spPr>
          <a:xfrm>
            <a:off x="715100" y="2142820"/>
            <a:ext cx="13356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subTitle" idx="4"/>
          </p:nvPr>
        </p:nvSpPr>
        <p:spPr>
          <a:xfrm>
            <a:off x="2050814" y="2142820"/>
            <a:ext cx="63783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Foundations of Deep Q-Network(</a:t>
            </a:r>
            <a:r>
              <a:rPr lang="en-US" dirty="0" err="1"/>
              <a:t>DQN</a:t>
            </a:r>
            <a:r>
              <a:rPr lang="en-US" dirty="0"/>
              <a:t>)</a:t>
            </a:r>
          </a:p>
        </p:txBody>
      </p:sp>
      <p:sp>
        <p:nvSpPr>
          <p:cNvPr id="190" name="Google Shape;190;p22"/>
          <p:cNvSpPr txBox="1">
            <a:spLocks noGrp="1"/>
          </p:cNvSpPr>
          <p:nvPr>
            <p:ph type="title" idx="5"/>
          </p:nvPr>
        </p:nvSpPr>
        <p:spPr>
          <a:xfrm>
            <a:off x="715100" y="2820520"/>
            <a:ext cx="13356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91" name="Google Shape;191;p22"/>
          <p:cNvSpPr txBox="1">
            <a:spLocks noGrp="1"/>
          </p:cNvSpPr>
          <p:nvPr>
            <p:ph type="subTitle" idx="6"/>
          </p:nvPr>
        </p:nvSpPr>
        <p:spPr>
          <a:xfrm>
            <a:off x="2050814" y="2820520"/>
            <a:ext cx="63783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Modeling the Project</a:t>
            </a:r>
          </a:p>
        </p:txBody>
      </p:sp>
      <p:cxnSp>
        <p:nvCxnSpPr>
          <p:cNvPr id="194" name="Google Shape;194;p22"/>
          <p:cNvCxnSpPr/>
          <p:nvPr/>
        </p:nvCxnSpPr>
        <p:spPr>
          <a:xfrm>
            <a:off x="1259000" y="2383962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5" name="Google Shape;195;p22"/>
          <p:cNvCxnSpPr/>
          <p:nvPr/>
        </p:nvCxnSpPr>
        <p:spPr>
          <a:xfrm>
            <a:off x="1259000" y="3061462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" name="Hình chữ nhật: Góc Tròn 2">
            <a:extLst>
              <a:ext uri="{FF2B5EF4-FFF2-40B4-BE49-F238E27FC236}">
                <a16:creationId xmlns:a16="http://schemas.microsoft.com/office/drawing/2014/main" id="{5236C311-C73C-B4AC-BD3B-C03803B8638D}"/>
              </a:ext>
            </a:extLst>
          </p:cNvPr>
          <p:cNvSpPr/>
          <p:nvPr/>
        </p:nvSpPr>
        <p:spPr>
          <a:xfrm>
            <a:off x="8086092" y="4494213"/>
            <a:ext cx="802322" cy="365125"/>
          </a:xfrm>
          <a:prstGeom prst="roundRect">
            <a:avLst/>
          </a:prstGeom>
          <a:solidFill>
            <a:srgbClr val="5B62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Squad 4</a:t>
            </a:r>
          </a:p>
        </p:txBody>
      </p:sp>
      <p:sp>
        <p:nvSpPr>
          <p:cNvPr id="4" name="Google Shape;382;p38">
            <a:extLst>
              <a:ext uri="{FF2B5EF4-FFF2-40B4-BE49-F238E27FC236}">
                <a16:creationId xmlns:a16="http://schemas.microsoft.com/office/drawing/2014/main" id="{884A87D4-6869-92B4-43D5-5D05BF3985DB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82;p38">
            <a:extLst>
              <a:ext uri="{FF2B5EF4-FFF2-40B4-BE49-F238E27FC236}">
                <a16:creationId xmlns:a16="http://schemas.microsoft.com/office/drawing/2014/main" id="{7A420BA0-FE1D-D70A-9E56-5C121EE625CD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82;p38">
            <a:extLst>
              <a:ext uri="{FF2B5EF4-FFF2-40B4-BE49-F238E27FC236}">
                <a16:creationId xmlns:a16="http://schemas.microsoft.com/office/drawing/2014/main" id="{47B7C5E6-F6D1-B66E-ED3E-296737E58EBE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90;p22">
            <a:extLst>
              <a:ext uri="{FF2B5EF4-FFF2-40B4-BE49-F238E27FC236}">
                <a16:creationId xmlns:a16="http://schemas.microsoft.com/office/drawing/2014/main" id="{97EA0627-7A20-E77D-F173-EE52FCF5E21A}"/>
              </a:ext>
            </a:extLst>
          </p:cNvPr>
          <p:cNvSpPr txBox="1">
            <a:spLocks/>
          </p:cNvSpPr>
          <p:nvPr/>
        </p:nvSpPr>
        <p:spPr>
          <a:xfrm>
            <a:off x="747427" y="3586762"/>
            <a:ext cx="13356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2000" b="0" i="0" u="none" strike="noStrike" cap="none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marR="0"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marR="0"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marR="0"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marR="0"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marR="0"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marR="0"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marR="0"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7" name="Google Shape;191;p22">
            <a:extLst>
              <a:ext uri="{FF2B5EF4-FFF2-40B4-BE49-F238E27FC236}">
                <a16:creationId xmlns:a16="http://schemas.microsoft.com/office/drawing/2014/main" id="{9C66B81D-CFEB-E3AC-D88C-3CE02B6040A5}"/>
              </a:ext>
            </a:extLst>
          </p:cNvPr>
          <p:cNvSpPr txBox="1">
            <a:spLocks/>
          </p:cNvSpPr>
          <p:nvPr/>
        </p:nvSpPr>
        <p:spPr>
          <a:xfrm>
            <a:off x="2083141" y="3586762"/>
            <a:ext cx="63783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Training and testing agent</a:t>
            </a:r>
          </a:p>
        </p:txBody>
      </p:sp>
      <p:cxnSp>
        <p:nvCxnSpPr>
          <p:cNvPr id="8" name="Google Shape;195;p22">
            <a:extLst>
              <a:ext uri="{FF2B5EF4-FFF2-40B4-BE49-F238E27FC236}">
                <a16:creationId xmlns:a16="http://schemas.microsoft.com/office/drawing/2014/main" id="{0D6A9309-F2AC-27C0-F79A-9113F5893A20}"/>
              </a:ext>
            </a:extLst>
          </p:cNvPr>
          <p:cNvCxnSpPr/>
          <p:nvPr/>
        </p:nvCxnSpPr>
        <p:spPr>
          <a:xfrm>
            <a:off x="1291327" y="3827704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>
            <a:spLocks noGrp="1"/>
          </p:cNvSpPr>
          <p:nvPr>
            <p:ph type="title"/>
          </p:nvPr>
        </p:nvSpPr>
        <p:spPr>
          <a:xfrm>
            <a:off x="715000" y="1534351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02" name="Google Shape;202;p23"/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203" name="Google Shape;203;p23"/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" name="Hình chữ nhật: Góc Tròn 2">
            <a:extLst>
              <a:ext uri="{FF2B5EF4-FFF2-40B4-BE49-F238E27FC236}">
                <a16:creationId xmlns:a16="http://schemas.microsoft.com/office/drawing/2014/main" id="{46989D10-D0DA-02BE-861C-DBF2309344E4}"/>
              </a:ext>
            </a:extLst>
          </p:cNvPr>
          <p:cNvSpPr/>
          <p:nvPr/>
        </p:nvSpPr>
        <p:spPr>
          <a:xfrm>
            <a:off x="8086092" y="4494213"/>
            <a:ext cx="802322" cy="365125"/>
          </a:xfrm>
          <a:prstGeom prst="roundRect">
            <a:avLst/>
          </a:prstGeom>
          <a:solidFill>
            <a:srgbClr val="5B62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Squad 4</a:t>
            </a:r>
          </a:p>
        </p:txBody>
      </p:sp>
      <p:grpSp>
        <p:nvGrpSpPr>
          <p:cNvPr id="4" name="Google Shape;210;p24">
            <a:extLst>
              <a:ext uri="{FF2B5EF4-FFF2-40B4-BE49-F238E27FC236}">
                <a16:creationId xmlns:a16="http://schemas.microsoft.com/office/drawing/2014/main" id="{E33520C6-233E-EA75-09F6-FEE7FEE299C2}"/>
              </a:ext>
            </a:extLst>
          </p:cNvPr>
          <p:cNvGrpSpPr/>
          <p:nvPr/>
        </p:nvGrpSpPr>
        <p:grpSpPr>
          <a:xfrm flipH="1">
            <a:off x="5932613" y="914389"/>
            <a:ext cx="3706695" cy="2550084"/>
            <a:chOff x="4388650" y="2224200"/>
            <a:chExt cx="1707525" cy="1174775"/>
          </a:xfrm>
        </p:grpSpPr>
        <p:sp>
          <p:nvSpPr>
            <p:cNvPr id="5" name="Google Shape;211;p24">
              <a:extLst>
                <a:ext uri="{FF2B5EF4-FFF2-40B4-BE49-F238E27FC236}">
                  <a16:creationId xmlns:a16="http://schemas.microsoft.com/office/drawing/2014/main" id="{EF682008-2524-C680-8919-E65E14762853}"/>
                </a:ext>
              </a:extLst>
            </p:cNvPr>
            <p:cNvSpPr/>
            <p:nvPr/>
          </p:nvSpPr>
          <p:spPr>
            <a:xfrm>
              <a:off x="4422875" y="3236475"/>
              <a:ext cx="284875" cy="162500"/>
            </a:xfrm>
            <a:custGeom>
              <a:avLst/>
              <a:gdLst/>
              <a:ahLst/>
              <a:cxnLst/>
              <a:rect l="l" t="t" r="r" b="b"/>
              <a:pathLst>
                <a:path w="11395" h="6500" extrusionOk="0">
                  <a:moveTo>
                    <a:pt x="440" y="0"/>
                  </a:moveTo>
                  <a:cubicBezTo>
                    <a:pt x="352" y="135"/>
                    <a:pt x="270" y="274"/>
                    <a:pt x="193" y="415"/>
                  </a:cubicBezTo>
                  <a:lnTo>
                    <a:pt x="191" y="415"/>
                  </a:lnTo>
                  <a:cubicBezTo>
                    <a:pt x="1" y="767"/>
                    <a:pt x="2303" y="2396"/>
                    <a:pt x="5337" y="4058"/>
                  </a:cubicBezTo>
                  <a:cubicBezTo>
                    <a:pt x="7981" y="5506"/>
                    <a:pt x="10305" y="6500"/>
                    <a:pt x="10986" y="6500"/>
                  </a:cubicBezTo>
                  <a:cubicBezTo>
                    <a:pt x="11087" y="6500"/>
                    <a:pt x="11151" y="6478"/>
                    <a:pt x="11176" y="6433"/>
                  </a:cubicBezTo>
                  <a:cubicBezTo>
                    <a:pt x="11255" y="6291"/>
                    <a:pt x="11326" y="6147"/>
                    <a:pt x="11394" y="6000"/>
                  </a:cubicBezTo>
                  <a:lnTo>
                    <a:pt x="11394" y="6000"/>
                  </a:lnTo>
                  <a:cubicBezTo>
                    <a:pt x="11360" y="6019"/>
                    <a:pt x="11310" y="6028"/>
                    <a:pt x="11244" y="6028"/>
                  </a:cubicBezTo>
                  <a:cubicBezTo>
                    <a:pt x="10562" y="6028"/>
                    <a:pt x="8237" y="5036"/>
                    <a:pt x="5594" y="3587"/>
                  </a:cubicBezTo>
                  <a:cubicBezTo>
                    <a:pt x="2697" y="2000"/>
                    <a:pt x="464" y="441"/>
                    <a:pt x="4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12;p24">
              <a:extLst>
                <a:ext uri="{FF2B5EF4-FFF2-40B4-BE49-F238E27FC236}">
                  <a16:creationId xmlns:a16="http://schemas.microsoft.com/office/drawing/2014/main" id="{FE8D2BC6-4CAA-C747-BE89-DB0630B3E5F3}"/>
                </a:ext>
              </a:extLst>
            </p:cNvPr>
            <p:cNvSpPr/>
            <p:nvPr/>
          </p:nvSpPr>
          <p:spPr>
            <a:xfrm>
              <a:off x="4433850" y="3137400"/>
              <a:ext cx="302375" cy="249825"/>
            </a:xfrm>
            <a:custGeom>
              <a:avLst/>
              <a:gdLst/>
              <a:ahLst/>
              <a:cxnLst/>
              <a:rect l="l" t="t" r="r" b="b"/>
              <a:pathLst>
                <a:path w="12095" h="9993" extrusionOk="0">
                  <a:moveTo>
                    <a:pt x="4816" y="1"/>
                  </a:moveTo>
                  <a:cubicBezTo>
                    <a:pt x="4816" y="1"/>
                    <a:pt x="3750" y="461"/>
                    <a:pt x="2529" y="1359"/>
                  </a:cubicBezTo>
                  <a:cubicBezTo>
                    <a:pt x="2453" y="1415"/>
                    <a:pt x="2377" y="1473"/>
                    <a:pt x="2300" y="1532"/>
                  </a:cubicBezTo>
                  <a:cubicBezTo>
                    <a:pt x="1488" y="2156"/>
                    <a:pt x="636" y="2970"/>
                    <a:pt x="1" y="3963"/>
                  </a:cubicBezTo>
                  <a:cubicBezTo>
                    <a:pt x="25" y="4404"/>
                    <a:pt x="2258" y="5963"/>
                    <a:pt x="5155" y="7552"/>
                  </a:cubicBezTo>
                  <a:cubicBezTo>
                    <a:pt x="7800" y="9000"/>
                    <a:pt x="10126" y="9993"/>
                    <a:pt x="10806" y="9993"/>
                  </a:cubicBezTo>
                  <a:cubicBezTo>
                    <a:pt x="10871" y="9993"/>
                    <a:pt x="10921" y="9983"/>
                    <a:pt x="10955" y="9964"/>
                  </a:cubicBezTo>
                  <a:cubicBezTo>
                    <a:pt x="11116" y="9616"/>
                    <a:pt x="11249" y="9257"/>
                    <a:pt x="11358" y="8900"/>
                  </a:cubicBezTo>
                  <a:cubicBezTo>
                    <a:pt x="11385" y="8809"/>
                    <a:pt x="11411" y="8718"/>
                    <a:pt x="11435" y="8627"/>
                  </a:cubicBezTo>
                  <a:cubicBezTo>
                    <a:pt x="12094" y="6188"/>
                    <a:pt x="11700" y="3772"/>
                    <a:pt x="11700" y="3772"/>
                  </a:cubicBezTo>
                  <a:lnTo>
                    <a:pt x="48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13;p24">
              <a:extLst>
                <a:ext uri="{FF2B5EF4-FFF2-40B4-BE49-F238E27FC236}">
                  <a16:creationId xmlns:a16="http://schemas.microsoft.com/office/drawing/2014/main" id="{4A1F3633-8321-ADA7-ABF5-73B6DA3286E6}"/>
                </a:ext>
              </a:extLst>
            </p:cNvPr>
            <p:cNvSpPr/>
            <p:nvPr/>
          </p:nvSpPr>
          <p:spPr>
            <a:xfrm>
              <a:off x="5008550" y="2646000"/>
              <a:ext cx="577200" cy="331650"/>
            </a:xfrm>
            <a:custGeom>
              <a:avLst/>
              <a:gdLst/>
              <a:ahLst/>
              <a:cxnLst/>
              <a:rect l="l" t="t" r="r" b="b"/>
              <a:pathLst>
                <a:path w="23088" h="13266" extrusionOk="0">
                  <a:moveTo>
                    <a:pt x="21874" y="0"/>
                  </a:moveTo>
                  <a:cubicBezTo>
                    <a:pt x="21472" y="0"/>
                    <a:pt x="21087" y="228"/>
                    <a:pt x="20908" y="617"/>
                  </a:cubicBezTo>
                  <a:lnTo>
                    <a:pt x="19853" y="2890"/>
                  </a:lnTo>
                  <a:lnTo>
                    <a:pt x="19244" y="4204"/>
                  </a:lnTo>
                  <a:lnTo>
                    <a:pt x="18984" y="4767"/>
                  </a:lnTo>
                  <a:lnTo>
                    <a:pt x="18851" y="5055"/>
                  </a:lnTo>
                  <a:lnTo>
                    <a:pt x="18411" y="6003"/>
                  </a:lnTo>
                  <a:cubicBezTo>
                    <a:pt x="18074" y="6732"/>
                    <a:pt x="17645" y="7395"/>
                    <a:pt x="17147" y="7983"/>
                  </a:cubicBezTo>
                  <a:cubicBezTo>
                    <a:pt x="17086" y="8057"/>
                    <a:pt x="17021" y="8131"/>
                    <a:pt x="16956" y="8203"/>
                  </a:cubicBezTo>
                  <a:cubicBezTo>
                    <a:pt x="16301" y="8927"/>
                    <a:pt x="15538" y="9528"/>
                    <a:pt x="14703" y="9994"/>
                  </a:cubicBezTo>
                  <a:cubicBezTo>
                    <a:pt x="14622" y="10040"/>
                    <a:pt x="14538" y="10084"/>
                    <a:pt x="14455" y="10126"/>
                  </a:cubicBezTo>
                  <a:cubicBezTo>
                    <a:pt x="13584" y="10579"/>
                    <a:pt x="12642" y="10885"/>
                    <a:pt x="11666" y="11032"/>
                  </a:cubicBezTo>
                  <a:cubicBezTo>
                    <a:pt x="11574" y="11047"/>
                    <a:pt x="11480" y="11059"/>
                    <a:pt x="11385" y="11070"/>
                  </a:cubicBezTo>
                  <a:cubicBezTo>
                    <a:pt x="11043" y="11110"/>
                    <a:pt x="10699" y="11130"/>
                    <a:pt x="10353" y="11130"/>
                  </a:cubicBezTo>
                  <a:cubicBezTo>
                    <a:pt x="9477" y="11130"/>
                    <a:pt x="8591" y="11000"/>
                    <a:pt x="7722" y="10726"/>
                  </a:cubicBezTo>
                  <a:cubicBezTo>
                    <a:pt x="7633" y="10699"/>
                    <a:pt x="7542" y="10668"/>
                    <a:pt x="7452" y="10637"/>
                  </a:cubicBezTo>
                  <a:cubicBezTo>
                    <a:pt x="7380" y="10611"/>
                    <a:pt x="7307" y="10585"/>
                    <a:pt x="7234" y="10556"/>
                  </a:cubicBezTo>
                  <a:lnTo>
                    <a:pt x="1563" y="8402"/>
                  </a:lnTo>
                  <a:cubicBezTo>
                    <a:pt x="1439" y="8355"/>
                    <a:pt x="1312" y="8333"/>
                    <a:pt x="1186" y="8333"/>
                  </a:cubicBezTo>
                  <a:cubicBezTo>
                    <a:pt x="758" y="8333"/>
                    <a:pt x="353" y="8595"/>
                    <a:pt x="191" y="9020"/>
                  </a:cubicBezTo>
                  <a:cubicBezTo>
                    <a:pt x="0" y="9522"/>
                    <a:pt x="214" y="10079"/>
                    <a:pt x="673" y="10331"/>
                  </a:cubicBezTo>
                  <a:cubicBezTo>
                    <a:pt x="715" y="10355"/>
                    <a:pt x="760" y="10375"/>
                    <a:pt x="807" y="10393"/>
                  </a:cubicBezTo>
                  <a:lnTo>
                    <a:pt x="1842" y="10787"/>
                  </a:lnTo>
                  <a:lnTo>
                    <a:pt x="6479" y="12547"/>
                  </a:lnTo>
                  <a:cubicBezTo>
                    <a:pt x="6900" y="12707"/>
                    <a:pt x="7328" y="12841"/>
                    <a:pt x="7761" y="12948"/>
                  </a:cubicBezTo>
                  <a:cubicBezTo>
                    <a:pt x="7895" y="12980"/>
                    <a:pt x="8027" y="13010"/>
                    <a:pt x="8160" y="13037"/>
                  </a:cubicBezTo>
                  <a:cubicBezTo>
                    <a:pt x="8892" y="13189"/>
                    <a:pt x="9636" y="13265"/>
                    <a:pt x="10379" y="13265"/>
                  </a:cubicBezTo>
                  <a:cubicBezTo>
                    <a:pt x="10999" y="13265"/>
                    <a:pt x="11618" y="13213"/>
                    <a:pt x="12231" y="13107"/>
                  </a:cubicBezTo>
                  <a:cubicBezTo>
                    <a:pt x="12346" y="13089"/>
                    <a:pt x="12462" y="13066"/>
                    <a:pt x="12577" y="13042"/>
                  </a:cubicBezTo>
                  <a:cubicBezTo>
                    <a:pt x="13237" y="12907"/>
                    <a:pt x="13887" y="12710"/>
                    <a:pt x="14522" y="12451"/>
                  </a:cubicBezTo>
                  <a:cubicBezTo>
                    <a:pt x="15006" y="12254"/>
                    <a:pt x="15473" y="12024"/>
                    <a:pt x="15918" y="11765"/>
                  </a:cubicBezTo>
                  <a:cubicBezTo>
                    <a:pt x="16008" y="11712"/>
                    <a:pt x="16097" y="11659"/>
                    <a:pt x="16185" y="11603"/>
                  </a:cubicBezTo>
                  <a:cubicBezTo>
                    <a:pt x="17116" y="11026"/>
                    <a:pt x="17951" y="10314"/>
                    <a:pt x="18666" y="9492"/>
                  </a:cubicBezTo>
                  <a:cubicBezTo>
                    <a:pt x="18733" y="9416"/>
                    <a:pt x="18796" y="9339"/>
                    <a:pt x="18860" y="9261"/>
                  </a:cubicBezTo>
                  <a:cubicBezTo>
                    <a:pt x="19447" y="8548"/>
                    <a:pt x="19947" y="7756"/>
                    <a:pt x="20343" y="6900"/>
                  </a:cubicBezTo>
                  <a:lnTo>
                    <a:pt x="20733" y="6056"/>
                  </a:lnTo>
                  <a:lnTo>
                    <a:pt x="20862" y="5782"/>
                  </a:lnTo>
                  <a:lnTo>
                    <a:pt x="21751" y="3864"/>
                  </a:lnTo>
                  <a:lnTo>
                    <a:pt x="22840" y="1512"/>
                  </a:lnTo>
                  <a:cubicBezTo>
                    <a:pt x="23087" y="979"/>
                    <a:pt x="22856" y="346"/>
                    <a:pt x="22321" y="99"/>
                  </a:cubicBezTo>
                  <a:cubicBezTo>
                    <a:pt x="22176" y="32"/>
                    <a:pt x="22024" y="0"/>
                    <a:pt x="2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14;p24">
              <a:extLst>
                <a:ext uri="{FF2B5EF4-FFF2-40B4-BE49-F238E27FC236}">
                  <a16:creationId xmlns:a16="http://schemas.microsoft.com/office/drawing/2014/main" id="{6950ACF5-213D-A422-AE72-C6F81D8E6289}"/>
                </a:ext>
              </a:extLst>
            </p:cNvPr>
            <p:cNvSpPr/>
            <p:nvPr/>
          </p:nvSpPr>
          <p:spPr>
            <a:xfrm>
              <a:off x="4444500" y="2590075"/>
              <a:ext cx="711075" cy="698300"/>
            </a:xfrm>
            <a:custGeom>
              <a:avLst/>
              <a:gdLst/>
              <a:ahLst/>
              <a:cxnLst/>
              <a:rect l="l" t="t" r="r" b="b"/>
              <a:pathLst>
                <a:path w="28443" h="27932" extrusionOk="0">
                  <a:moveTo>
                    <a:pt x="5556" y="0"/>
                  </a:moveTo>
                  <a:lnTo>
                    <a:pt x="1502" y="12131"/>
                  </a:lnTo>
                  <a:cubicBezTo>
                    <a:pt x="0" y="16623"/>
                    <a:pt x="1321" y="21379"/>
                    <a:pt x="4507" y="24475"/>
                  </a:cubicBezTo>
                  <a:cubicBezTo>
                    <a:pt x="4575" y="24541"/>
                    <a:pt x="4645" y="24608"/>
                    <a:pt x="4714" y="24672"/>
                  </a:cubicBezTo>
                  <a:cubicBezTo>
                    <a:pt x="5905" y="25774"/>
                    <a:pt x="7339" y="26651"/>
                    <a:pt x="8972" y="27209"/>
                  </a:cubicBezTo>
                  <a:cubicBezTo>
                    <a:pt x="9036" y="27230"/>
                    <a:pt x="9099" y="27251"/>
                    <a:pt x="9163" y="27272"/>
                  </a:cubicBezTo>
                  <a:cubicBezTo>
                    <a:pt x="9227" y="27294"/>
                    <a:pt x="9289" y="27315"/>
                    <a:pt x="9352" y="27335"/>
                  </a:cubicBezTo>
                  <a:cubicBezTo>
                    <a:pt x="9548" y="27400"/>
                    <a:pt x="9743" y="27457"/>
                    <a:pt x="9940" y="27512"/>
                  </a:cubicBezTo>
                  <a:cubicBezTo>
                    <a:pt x="10982" y="27795"/>
                    <a:pt x="12033" y="27931"/>
                    <a:pt x="13070" y="27931"/>
                  </a:cubicBezTo>
                  <a:cubicBezTo>
                    <a:pt x="18065" y="27931"/>
                    <a:pt x="22718" y="24773"/>
                    <a:pt x="24387" y="19779"/>
                  </a:cubicBezTo>
                  <a:lnTo>
                    <a:pt x="27146" y="11527"/>
                  </a:lnTo>
                  <a:lnTo>
                    <a:pt x="28442" y="7648"/>
                  </a:lnTo>
                  <a:lnTo>
                    <a:pt x="55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15;p24">
              <a:extLst>
                <a:ext uri="{FF2B5EF4-FFF2-40B4-BE49-F238E27FC236}">
                  <a16:creationId xmlns:a16="http://schemas.microsoft.com/office/drawing/2014/main" id="{EAAF3294-FFF3-B8DD-BF5E-B23DE472D1BA}"/>
                </a:ext>
              </a:extLst>
            </p:cNvPr>
            <p:cNvSpPr/>
            <p:nvPr/>
          </p:nvSpPr>
          <p:spPr>
            <a:xfrm>
              <a:off x="4574225" y="2577925"/>
              <a:ext cx="590500" cy="215475"/>
            </a:xfrm>
            <a:custGeom>
              <a:avLst/>
              <a:gdLst/>
              <a:ahLst/>
              <a:cxnLst/>
              <a:rect l="l" t="t" r="r" b="b"/>
              <a:pathLst>
                <a:path w="23620" h="8619" extrusionOk="0">
                  <a:moveTo>
                    <a:pt x="1951" y="0"/>
                  </a:moveTo>
                  <a:cubicBezTo>
                    <a:pt x="1043" y="0"/>
                    <a:pt x="477" y="156"/>
                    <a:pt x="367" y="485"/>
                  </a:cubicBezTo>
                  <a:cubicBezTo>
                    <a:pt x="1" y="1581"/>
                    <a:pt x="4828" y="4181"/>
                    <a:pt x="11148" y="6294"/>
                  </a:cubicBezTo>
                  <a:cubicBezTo>
                    <a:pt x="15570" y="7771"/>
                    <a:pt x="19552" y="8618"/>
                    <a:pt x="21670" y="8618"/>
                  </a:cubicBezTo>
                  <a:cubicBezTo>
                    <a:pt x="22578" y="8618"/>
                    <a:pt x="23143" y="8463"/>
                    <a:pt x="23253" y="8134"/>
                  </a:cubicBezTo>
                  <a:cubicBezTo>
                    <a:pt x="23620" y="7037"/>
                    <a:pt x="18792" y="4436"/>
                    <a:pt x="12473" y="2325"/>
                  </a:cubicBezTo>
                  <a:cubicBezTo>
                    <a:pt x="8050" y="847"/>
                    <a:pt x="4068" y="0"/>
                    <a:pt x="1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16;p24">
              <a:extLst>
                <a:ext uri="{FF2B5EF4-FFF2-40B4-BE49-F238E27FC236}">
                  <a16:creationId xmlns:a16="http://schemas.microsoft.com/office/drawing/2014/main" id="{10D27E80-D842-CBDB-47A2-FC9AB6B257A1}"/>
                </a:ext>
              </a:extLst>
            </p:cNvPr>
            <p:cNvSpPr/>
            <p:nvPr/>
          </p:nvSpPr>
          <p:spPr>
            <a:xfrm>
              <a:off x="4590900" y="2586800"/>
              <a:ext cx="557175" cy="197700"/>
            </a:xfrm>
            <a:custGeom>
              <a:avLst/>
              <a:gdLst/>
              <a:ahLst/>
              <a:cxnLst/>
              <a:rect l="l" t="t" r="r" b="b"/>
              <a:pathLst>
                <a:path w="22287" h="7908" extrusionOk="0">
                  <a:moveTo>
                    <a:pt x="1289" y="1"/>
                  </a:moveTo>
                  <a:cubicBezTo>
                    <a:pt x="358" y="1"/>
                    <a:pt x="61" y="168"/>
                    <a:pt x="37" y="242"/>
                  </a:cubicBezTo>
                  <a:cubicBezTo>
                    <a:pt x="0" y="351"/>
                    <a:pt x="329" y="1014"/>
                    <a:pt x="2601" y="2258"/>
                  </a:cubicBezTo>
                  <a:lnTo>
                    <a:pt x="2600" y="2258"/>
                  </a:lnTo>
                  <a:cubicBezTo>
                    <a:pt x="4629" y="3370"/>
                    <a:pt x="7468" y="4557"/>
                    <a:pt x="10593" y="5601"/>
                  </a:cubicBezTo>
                  <a:cubicBezTo>
                    <a:pt x="13631" y="6617"/>
                    <a:pt x="16552" y="7365"/>
                    <a:pt x="18819" y="7711"/>
                  </a:cubicBezTo>
                  <a:cubicBezTo>
                    <a:pt x="19779" y="7857"/>
                    <a:pt x="20485" y="7908"/>
                    <a:pt x="20998" y="7908"/>
                  </a:cubicBezTo>
                  <a:cubicBezTo>
                    <a:pt x="21929" y="7908"/>
                    <a:pt x="22226" y="7740"/>
                    <a:pt x="22250" y="7667"/>
                  </a:cubicBezTo>
                  <a:cubicBezTo>
                    <a:pt x="22286" y="7558"/>
                    <a:pt x="21958" y="6894"/>
                    <a:pt x="19686" y="5649"/>
                  </a:cubicBezTo>
                  <a:cubicBezTo>
                    <a:pt x="17656" y="4537"/>
                    <a:pt x="14817" y="3351"/>
                    <a:pt x="11694" y="2306"/>
                  </a:cubicBezTo>
                  <a:cubicBezTo>
                    <a:pt x="8657" y="1291"/>
                    <a:pt x="5735" y="542"/>
                    <a:pt x="3468" y="198"/>
                  </a:cubicBezTo>
                  <a:cubicBezTo>
                    <a:pt x="2508" y="52"/>
                    <a:pt x="1802" y="1"/>
                    <a:pt x="1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17;p24">
              <a:extLst>
                <a:ext uri="{FF2B5EF4-FFF2-40B4-BE49-F238E27FC236}">
                  <a16:creationId xmlns:a16="http://schemas.microsoft.com/office/drawing/2014/main" id="{085F21C2-747A-C972-094D-8FA6F4EC7018}"/>
                </a:ext>
              </a:extLst>
            </p:cNvPr>
            <p:cNvSpPr/>
            <p:nvPr/>
          </p:nvSpPr>
          <p:spPr>
            <a:xfrm>
              <a:off x="4590825" y="2520000"/>
              <a:ext cx="586625" cy="223800"/>
            </a:xfrm>
            <a:custGeom>
              <a:avLst/>
              <a:gdLst/>
              <a:ahLst/>
              <a:cxnLst/>
              <a:rect l="l" t="t" r="r" b="b"/>
              <a:pathLst>
                <a:path w="23465" h="8952" extrusionOk="0">
                  <a:moveTo>
                    <a:pt x="644" y="1"/>
                  </a:moveTo>
                  <a:cubicBezTo>
                    <a:pt x="608" y="102"/>
                    <a:pt x="571" y="204"/>
                    <a:pt x="538" y="307"/>
                  </a:cubicBezTo>
                  <a:lnTo>
                    <a:pt x="367" y="817"/>
                  </a:lnTo>
                  <a:cubicBezTo>
                    <a:pt x="0" y="1914"/>
                    <a:pt x="4826" y="4513"/>
                    <a:pt x="11147" y="6626"/>
                  </a:cubicBezTo>
                  <a:cubicBezTo>
                    <a:pt x="15570" y="8104"/>
                    <a:pt x="19551" y="8952"/>
                    <a:pt x="21668" y="8952"/>
                  </a:cubicBezTo>
                  <a:cubicBezTo>
                    <a:pt x="22577" y="8952"/>
                    <a:pt x="23142" y="8796"/>
                    <a:pt x="23251" y="8467"/>
                  </a:cubicBezTo>
                  <a:lnTo>
                    <a:pt x="23422" y="7955"/>
                  </a:lnTo>
                  <a:cubicBezTo>
                    <a:pt x="23437" y="7912"/>
                    <a:pt x="23450" y="7871"/>
                    <a:pt x="23465" y="7829"/>
                  </a:cubicBezTo>
                  <a:lnTo>
                    <a:pt x="23465" y="7829"/>
                  </a:lnTo>
                  <a:cubicBezTo>
                    <a:pt x="23188" y="7920"/>
                    <a:pt x="22797" y="7965"/>
                    <a:pt x="22308" y="7965"/>
                  </a:cubicBezTo>
                  <a:cubicBezTo>
                    <a:pt x="20153" y="7965"/>
                    <a:pt x="16101" y="7102"/>
                    <a:pt x="11598" y="5598"/>
                  </a:cubicBezTo>
                  <a:cubicBezTo>
                    <a:pt x="5712" y="3630"/>
                    <a:pt x="1097" y="1246"/>
                    <a:pt x="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18;p24">
              <a:extLst>
                <a:ext uri="{FF2B5EF4-FFF2-40B4-BE49-F238E27FC236}">
                  <a16:creationId xmlns:a16="http://schemas.microsoft.com/office/drawing/2014/main" id="{F46D3122-E60A-75BA-9C9A-CADD5EA9C2F6}"/>
                </a:ext>
              </a:extLst>
            </p:cNvPr>
            <p:cNvSpPr/>
            <p:nvPr/>
          </p:nvSpPr>
          <p:spPr>
            <a:xfrm>
              <a:off x="4606925" y="2321525"/>
              <a:ext cx="621150" cy="397600"/>
            </a:xfrm>
            <a:custGeom>
              <a:avLst/>
              <a:gdLst/>
              <a:ahLst/>
              <a:cxnLst/>
              <a:rect l="l" t="t" r="r" b="b"/>
              <a:pathLst>
                <a:path w="24846" h="15904" extrusionOk="0">
                  <a:moveTo>
                    <a:pt x="11335" y="1"/>
                  </a:moveTo>
                  <a:cubicBezTo>
                    <a:pt x="9445" y="1"/>
                    <a:pt x="7603" y="449"/>
                    <a:pt x="5948" y="1274"/>
                  </a:cubicBezTo>
                  <a:cubicBezTo>
                    <a:pt x="3276" y="2607"/>
                    <a:pt x="1095" y="4929"/>
                    <a:pt x="0" y="7940"/>
                  </a:cubicBezTo>
                  <a:cubicBezTo>
                    <a:pt x="453" y="9185"/>
                    <a:pt x="5068" y="11569"/>
                    <a:pt x="10954" y="13537"/>
                  </a:cubicBezTo>
                  <a:cubicBezTo>
                    <a:pt x="15457" y="15041"/>
                    <a:pt x="19509" y="15904"/>
                    <a:pt x="21664" y="15904"/>
                  </a:cubicBezTo>
                  <a:cubicBezTo>
                    <a:pt x="22153" y="15904"/>
                    <a:pt x="22544" y="15859"/>
                    <a:pt x="22821" y="15768"/>
                  </a:cubicBezTo>
                  <a:cubicBezTo>
                    <a:pt x="24846" y="9483"/>
                    <a:pt x="21439" y="2725"/>
                    <a:pt x="15161" y="627"/>
                  </a:cubicBezTo>
                  <a:cubicBezTo>
                    <a:pt x="13892" y="202"/>
                    <a:pt x="12603" y="1"/>
                    <a:pt x="1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19;p24">
              <a:extLst>
                <a:ext uri="{FF2B5EF4-FFF2-40B4-BE49-F238E27FC236}">
                  <a16:creationId xmlns:a16="http://schemas.microsoft.com/office/drawing/2014/main" id="{88039289-72C2-CF99-42A6-684EEE403691}"/>
                </a:ext>
              </a:extLst>
            </p:cNvPr>
            <p:cNvSpPr/>
            <p:nvPr/>
          </p:nvSpPr>
          <p:spPr>
            <a:xfrm>
              <a:off x="4719000" y="2826275"/>
              <a:ext cx="401475" cy="462100"/>
            </a:xfrm>
            <a:custGeom>
              <a:avLst/>
              <a:gdLst/>
              <a:ahLst/>
              <a:cxnLst/>
              <a:rect l="l" t="t" r="r" b="b"/>
              <a:pathLst>
                <a:path w="16059" h="18484" extrusionOk="0">
                  <a:moveTo>
                    <a:pt x="11689" y="0"/>
                  </a:moveTo>
                  <a:cubicBezTo>
                    <a:pt x="9277" y="0"/>
                    <a:pt x="6932" y="1498"/>
                    <a:pt x="6117" y="4063"/>
                  </a:cubicBezTo>
                  <a:cubicBezTo>
                    <a:pt x="5037" y="7462"/>
                    <a:pt x="3225" y="12146"/>
                    <a:pt x="585" y="15808"/>
                  </a:cubicBezTo>
                  <a:cubicBezTo>
                    <a:pt x="578" y="15816"/>
                    <a:pt x="573" y="15825"/>
                    <a:pt x="566" y="15833"/>
                  </a:cubicBezTo>
                  <a:cubicBezTo>
                    <a:pt x="1" y="16617"/>
                    <a:pt x="234" y="17632"/>
                    <a:pt x="911" y="18149"/>
                  </a:cubicBezTo>
                  <a:cubicBezTo>
                    <a:pt x="1175" y="18349"/>
                    <a:pt x="1506" y="18474"/>
                    <a:pt x="1882" y="18482"/>
                  </a:cubicBezTo>
                  <a:cubicBezTo>
                    <a:pt x="1950" y="18483"/>
                    <a:pt x="2019" y="18484"/>
                    <a:pt x="2087" y="18484"/>
                  </a:cubicBezTo>
                  <a:cubicBezTo>
                    <a:pt x="7084" y="18484"/>
                    <a:pt x="11738" y="15327"/>
                    <a:pt x="13407" y="10331"/>
                  </a:cubicBezTo>
                  <a:lnTo>
                    <a:pt x="15413" y="4330"/>
                  </a:lnTo>
                  <a:lnTo>
                    <a:pt x="15532" y="3972"/>
                  </a:lnTo>
                  <a:lnTo>
                    <a:pt x="15861" y="2988"/>
                  </a:lnTo>
                  <a:cubicBezTo>
                    <a:pt x="16058" y="2402"/>
                    <a:pt x="15875" y="1756"/>
                    <a:pt x="15402" y="1360"/>
                  </a:cubicBezTo>
                  <a:cubicBezTo>
                    <a:pt x="15098" y="1102"/>
                    <a:pt x="14777" y="885"/>
                    <a:pt x="14445" y="704"/>
                  </a:cubicBezTo>
                  <a:cubicBezTo>
                    <a:pt x="14375" y="666"/>
                    <a:pt x="14304" y="628"/>
                    <a:pt x="14233" y="593"/>
                  </a:cubicBezTo>
                  <a:cubicBezTo>
                    <a:pt x="13421" y="191"/>
                    <a:pt x="12550" y="0"/>
                    <a:pt x="116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20;p24">
              <a:extLst>
                <a:ext uri="{FF2B5EF4-FFF2-40B4-BE49-F238E27FC236}">
                  <a16:creationId xmlns:a16="http://schemas.microsoft.com/office/drawing/2014/main" id="{50701939-19F7-8959-8905-84594AE81503}"/>
                </a:ext>
              </a:extLst>
            </p:cNvPr>
            <p:cNvSpPr/>
            <p:nvPr/>
          </p:nvSpPr>
          <p:spPr>
            <a:xfrm>
              <a:off x="4705700" y="2820425"/>
              <a:ext cx="369125" cy="459575"/>
            </a:xfrm>
            <a:custGeom>
              <a:avLst/>
              <a:gdLst/>
              <a:ahLst/>
              <a:cxnLst/>
              <a:rect l="l" t="t" r="r" b="b"/>
              <a:pathLst>
                <a:path w="14765" h="18383" extrusionOk="0">
                  <a:moveTo>
                    <a:pt x="11794" y="1"/>
                  </a:moveTo>
                  <a:cubicBezTo>
                    <a:pt x="9383" y="1"/>
                    <a:pt x="7038" y="1497"/>
                    <a:pt x="6222" y="4063"/>
                  </a:cubicBezTo>
                  <a:lnTo>
                    <a:pt x="6223" y="4063"/>
                  </a:lnTo>
                  <a:cubicBezTo>
                    <a:pt x="5142" y="7463"/>
                    <a:pt x="3330" y="12145"/>
                    <a:pt x="690" y="15808"/>
                  </a:cubicBezTo>
                  <a:cubicBezTo>
                    <a:pt x="684" y="15817"/>
                    <a:pt x="678" y="15824"/>
                    <a:pt x="672" y="15833"/>
                  </a:cubicBezTo>
                  <a:cubicBezTo>
                    <a:pt x="1" y="16765"/>
                    <a:pt x="457" y="18022"/>
                    <a:pt x="1443" y="18383"/>
                  </a:cubicBezTo>
                  <a:cubicBezTo>
                    <a:pt x="766" y="17866"/>
                    <a:pt x="533" y="16851"/>
                    <a:pt x="1098" y="16067"/>
                  </a:cubicBezTo>
                  <a:cubicBezTo>
                    <a:pt x="1104" y="16059"/>
                    <a:pt x="1111" y="16050"/>
                    <a:pt x="1117" y="16041"/>
                  </a:cubicBezTo>
                  <a:cubicBezTo>
                    <a:pt x="3757" y="12378"/>
                    <a:pt x="5568" y="7696"/>
                    <a:pt x="6649" y="4296"/>
                  </a:cubicBezTo>
                  <a:cubicBezTo>
                    <a:pt x="7465" y="1731"/>
                    <a:pt x="9810" y="234"/>
                    <a:pt x="12221" y="234"/>
                  </a:cubicBezTo>
                  <a:cubicBezTo>
                    <a:pt x="13083" y="234"/>
                    <a:pt x="13953" y="425"/>
                    <a:pt x="14765" y="827"/>
                  </a:cubicBezTo>
                  <a:cubicBezTo>
                    <a:pt x="14694" y="785"/>
                    <a:pt x="14622" y="744"/>
                    <a:pt x="14551" y="704"/>
                  </a:cubicBezTo>
                  <a:cubicBezTo>
                    <a:pt x="13679" y="227"/>
                    <a:pt x="12732" y="1"/>
                    <a:pt x="117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21;p24">
              <a:extLst>
                <a:ext uri="{FF2B5EF4-FFF2-40B4-BE49-F238E27FC236}">
                  <a16:creationId xmlns:a16="http://schemas.microsoft.com/office/drawing/2014/main" id="{7947A825-938F-50EA-4392-ADFB8BF3F754}"/>
                </a:ext>
              </a:extLst>
            </p:cNvPr>
            <p:cNvSpPr/>
            <p:nvPr/>
          </p:nvSpPr>
          <p:spPr>
            <a:xfrm>
              <a:off x="5487750" y="2687725"/>
              <a:ext cx="86000" cy="65025"/>
            </a:xfrm>
            <a:custGeom>
              <a:avLst/>
              <a:gdLst/>
              <a:ahLst/>
              <a:cxnLst/>
              <a:rect l="l" t="t" r="r" b="b"/>
              <a:pathLst>
                <a:path w="3440" h="2601" extrusionOk="0">
                  <a:moveTo>
                    <a:pt x="546" y="1"/>
                  </a:moveTo>
                  <a:lnTo>
                    <a:pt x="83" y="1126"/>
                  </a:lnTo>
                  <a:cubicBezTo>
                    <a:pt x="1" y="1326"/>
                    <a:pt x="129" y="1588"/>
                    <a:pt x="401" y="1838"/>
                  </a:cubicBezTo>
                  <a:cubicBezTo>
                    <a:pt x="613" y="2035"/>
                    <a:pt x="911" y="2223"/>
                    <a:pt x="1264" y="2368"/>
                  </a:cubicBezTo>
                  <a:cubicBezTo>
                    <a:pt x="1642" y="2524"/>
                    <a:pt x="2013" y="2600"/>
                    <a:pt x="2315" y="2600"/>
                  </a:cubicBezTo>
                  <a:cubicBezTo>
                    <a:pt x="2342" y="2600"/>
                    <a:pt x="2369" y="2600"/>
                    <a:pt x="2395" y="2598"/>
                  </a:cubicBezTo>
                  <a:cubicBezTo>
                    <a:pt x="2689" y="2583"/>
                    <a:pt x="2906" y="2489"/>
                    <a:pt x="2976" y="2317"/>
                  </a:cubicBezTo>
                  <a:lnTo>
                    <a:pt x="3439" y="1191"/>
                  </a:lnTo>
                  <a:lnTo>
                    <a:pt x="5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22;p24">
              <a:extLst>
                <a:ext uri="{FF2B5EF4-FFF2-40B4-BE49-F238E27FC236}">
                  <a16:creationId xmlns:a16="http://schemas.microsoft.com/office/drawing/2014/main" id="{110B5C29-C386-462D-D0DF-B1BA2527279D}"/>
                </a:ext>
              </a:extLst>
            </p:cNvPr>
            <p:cNvSpPr/>
            <p:nvPr/>
          </p:nvSpPr>
          <p:spPr>
            <a:xfrm>
              <a:off x="5491475" y="2634400"/>
              <a:ext cx="118875" cy="90200"/>
            </a:xfrm>
            <a:custGeom>
              <a:avLst/>
              <a:gdLst/>
              <a:ahLst/>
              <a:cxnLst/>
              <a:rect l="l" t="t" r="r" b="b"/>
              <a:pathLst>
                <a:path w="4755" h="3608" extrusionOk="0">
                  <a:moveTo>
                    <a:pt x="488" y="1"/>
                  </a:moveTo>
                  <a:cubicBezTo>
                    <a:pt x="488" y="1"/>
                    <a:pt x="0" y="902"/>
                    <a:pt x="397" y="2134"/>
                  </a:cubicBezTo>
                  <a:cubicBezTo>
                    <a:pt x="250" y="2491"/>
                    <a:pt x="779" y="3047"/>
                    <a:pt x="1577" y="3376"/>
                  </a:cubicBezTo>
                  <a:cubicBezTo>
                    <a:pt x="1955" y="3530"/>
                    <a:pt x="2325" y="3607"/>
                    <a:pt x="2626" y="3607"/>
                  </a:cubicBezTo>
                  <a:cubicBezTo>
                    <a:pt x="2947" y="3607"/>
                    <a:pt x="3189" y="3520"/>
                    <a:pt x="3278" y="3348"/>
                  </a:cubicBezTo>
                  <a:lnTo>
                    <a:pt x="3290" y="3354"/>
                  </a:lnTo>
                  <a:cubicBezTo>
                    <a:pt x="4449" y="2779"/>
                    <a:pt x="4755" y="1802"/>
                    <a:pt x="4755" y="1802"/>
                  </a:cubicBezTo>
                  <a:lnTo>
                    <a:pt x="4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23;p24">
              <a:extLst>
                <a:ext uri="{FF2B5EF4-FFF2-40B4-BE49-F238E27FC236}">
                  <a16:creationId xmlns:a16="http://schemas.microsoft.com/office/drawing/2014/main" id="{D9BE33FA-C01E-CE30-DBED-E7D80A64F958}"/>
                </a:ext>
              </a:extLst>
            </p:cNvPr>
            <p:cNvSpPr/>
            <p:nvPr/>
          </p:nvSpPr>
          <p:spPr>
            <a:xfrm>
              <a:off x="5498250" y="2623925"/>
              <a:ext cx="117675" cy="64950"/>
            </a:xfrm>
            <a:custGeom>
              <a:avLst/>
              <a:gdLst/>
              <a:ahLst/>
              <a:cxnLst/>
              <a:rect l="l" t="t" r="r" b="b"/>
              <a:pathLst>
                <a:path w="4707" h="2598" extrusionOk="0">
                  <a:moveTo>
                    <a:pt x="1198" y="1"/>
                  </a:moveTo>
                  <a:cubicBezTo>
                    <a:pt x="701" y="1"/>
                    <a:pt x="331" y="142"/>
                    <a:pt x="217" y="420"/>
                  </a:cubicBezTo>
                  <a:cubicBezTo>
                    <a:pt x="0" y="947"/>
                    <a:pt x="780" y="1769"/>
                    <a:pt x="1960" y="2254"/>
                  </a:cubicBezTo>
                  <a:cubicBezTo>
                    <a:pt x="2517" y="2484"/>
                    <a:pt x="3064" y="2597"/>
                    <a:pt x="3509" y="2597"/>
                  </a:cubicBezTo>
                  <a:cubicBezTo>
                    <a:pt x="4006" y="2597"/>
                    <a:pt x="4375" y="2456"/>
                    <a:pt x="4490" y="2178"/>
                  </a:cubicBezTo>
                  <a:cubicBezTo>
                    <a:pt x="4707" y="1650"/>
                    <a:pt x="3926" y="829"/>
                    <a:pt x="2746" y="343"/>
                  </a:cubicBezTo>
                  <a:cubicBezTo>
                    <a:pt x="2189" y="114"/>
                    <a:pt x="1642" y="1"/>
                    <a:pt x="1198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24;p24">
              <a:extLst>
                <a:ext uri="{FF2B5EF4-FFF2-40B4-BE49-F238E27FC236}">
                  <a16:creationId xmlns:a16="http://schemas.microsoft.com/office/drawing/2014/main" id="{9E3BBCBC-674C-0F17-830B-F867D5AB3D2E}"/>
                </a:ext>
              </a:extLst>
            </p:cNvPr>
            <p:cNvSpPr/>
            <p:nvPr/>
          </p:nvSpPr>
          <p:spPr>
            <a:xfrm>
              <a:off x="4786400" y="2462150"/>
              <a:ext cx="360800" cy="211625"/>
            </a:xfrm>
            <a:custGeom>
              <a:avLst/>
              <a:gdLst/>
              <a:ahLst/>
              <a:cxnLst/>
              <a:rect l="l" t="t" r="r" b="b"/>
              <a:pathLst>
                <a:path w="14432" h="8465" extrusionOk="0">
                  <a:moveTo>
                    <a:pt x="2547" y="0"/>
                  </a:moveTo>
                  <a:cubicBezTo>
                    <a:pt x="1724" y="0"/>
                    <a:pt x="984" y="572"/>
                    <a:pt x="804" y="1409"/>
                  </a:cubicBezTo>
                  <a:lnTo>
                    <a:pt x="210" y="4152"/>
                  </a:lnTo>
                  <a:cubicBezTo>
                    <a:pt x="1" y="5117"/>
                    <a:pt x="614" y="6068"/>
                    <a:pt x="1578" y="6276"/>
                  </a:cubicBezTo>
                  <a:lnTo>
                    <a:pt x="11505" y="8424"/>
                  </a:lnTo>
                  <a:cubicBezTo>
                    <a:pt x="11633" y="8451"/>
                    <a:pt x="11760" y="8465"/>
                    <a:pt x="11885" y="8465"/>
                  </a:cubicBezTo>
                  <a:cubicBezTo>
                    <a:pt x="12708" y="8465"/>
                    <a:pt x="13447" y="7893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800" y="14"/>
                    <a:pt x="2672" y="0"/>
                    <a:pt x="2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25;p24">
              <a:extLst>
                <a:ext uri="{FF2B5EF4-FFF2-40B4-BE49-F238E27FC236}">
                  <a16:creationId xmlns:a16="http://schemas.microsoft.com/office/drawing/2014/main" id="{FAFB0D45-6B65-AF3D-A755-756A012BF9BA}"/>
                </a:ext>
              </a:extLst>
            </p:cNvPr>
            <p:cNvSpPr/>
            <p:nvPr/>
          </p:nvSpPr>
          <p:spPr>
            <a:xfrm>
              <a:off x="4841500" y="2474075"/>
              <a:ext cx="360800" cy="211625"/>
            </a:xfrm>
            <a:custGeom>
              <a:avLst/>
              <a:gdLst/>
              <a:ahLst/>
              <a:cxnLst/>
              <a:rect l="l" t="t" r="r" b="b"/>
              <a:pathLst>
                <a:path w="14432" h="8465" extrusionOk="0">
                  <a:moveTo>
                    <a:pt x="2547" y="1"/>
                  </a:moveTo>
                  <a:cubicBezTo>
                    <a:pt x="1724" y="1"/>
                    <a:pt x="985" y="572"/>
                    <a:pt x="803" y="1409"/>
                  </a:cubicBezTo>
                  <a:lnTo>
                    <a:pt x="210" y="4152"/>
                  </a:lnTo>
                  <a:cubicBezTo>
                    <a:pt x="1" y="5117"/>
                    <a:pt x="614" y="6067"/>
                    <a:pt x="1578" y="6276"/>
                  </a:cubicBezTo>
                  <a:lnTo>
                    <a:pt x="11505" y="8424"/>
                  </a:lnTo>
                  <a:cubicBezTo>
                    <a:pt x="11632" y="8451"/>
                    <a:pt x="11759" y="8465"/>
                    <a:pt x="11884" y="8465"/>
                  </a:cubicBezTo>
                  <a:cubicBezTo>
                    <a:pt x="12707" y="8465"/>
                    <a:pt x="13447" y="7892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799" y="14"/>
                    <a:pt x="2672" y="1"/>
                    <a:pt x="25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26;p24">
              <a:extLst>
                <a:ext uri="{FF2B5EF4-FFF2-40B4-BE49-F238E27FC236}">
                  <a16:creationId xmlns:a16="http://schemas.microsoft.com/office/drawing/2014/main" id="{1737DF75-496F-CF15-2F27-3210E0DFF4A1}"/>
                </a:ext>
              </a:extLst>
            </p:cNvPr>
            <p:cNvSpPr/>
            <p:nvPr/>
          </p:nvSpPr>
          <p:spPr>
            <a:xfrm>
              <a:off x="4852100" y="2482925"/>
              <a:ext cx="339600" cy="193900"/>
            </a:xfrm>
            <a:custGeom>
              <a:avLst/>
              <a:gdLst/>
              <a:ahLst/>
              <a:cxnLst/>
              <a:rect l="l" t="t" r="r" b="b"/>
              <a:pathLst>
                <a:path w="13584" h="7756" extrusionOk="0">
                  <a:moveTo>
                    <a:pt x="2125" y="0"/>
                  </a:moveTo>
                  <a:cubicBezTo>
                    <a:pt x="1466" y="0"/>
                    <a:pt x="871" y="460"/>
                    <a:pt x="726" y="1129"/>
                  </a:cubicBezTo>
                  <a:lnTo>
                    <a:pt x="133" y="3874"/>
                  </a:lnTo>
                  <a:cubicBezTo>
                    <a:pt x="1" y="4485"/>
                    <a:pt x="275" y="5106"/>
                    <a:pt x="816" y="5416"/>
                  </a:cubicBezTo>
                  <a:cubicBezTo>
                    <a:pt x="944" y="5490"/>
                    <a:pt x="1082" y="5543"/>
                    <a:pt x="1229" y="5575"/>
                  </a:cubicBezTo>
                  <a:lnTo>
                    <a:pt x="11155" y="7723"/>
                  </a:lnTo>
                  <a:cubicBezTo>
                    <a:pt x="11257" y="7745"/>
                    <a:pt x="11358" y="7755"/>
                    <a:pt x="11459" y="7755"/>
                  </a:cubicBezTo>
                  <a:cubicBezTo>
                    <a:pt x="12118" y="7755"/>
                    <a:pt x="12713" y="7297"/>
                    <a:pt x="12858" y="6626"/>
                  </a:cubicBezTo>
                  <a:lnTo>
                    <a:pt x="13451" y="3883"/>
                  </a:lnTo>
                  <a:cubicBezTo>
                    <a:pt x="13583" y="3271"/>
                    <a:pt x="13309" y="2652"/>
                    <a:pt x="12767" y="2340"/>
                  </a:cubicBezTo>
                  <a:cubicBezTo>
                    <a:pt x="12640" y="2266"/>
                    <a:pt x="12500" y="2212"/>
                    <a:pt x="12355" y="2181"/>
                  </a:cubicBezTo>
                  <a:lnTo>
                    <a:pt x="2427" y="33"/>
                  </a:lnTo>
                  <a:cubicBezTo>
                    <a:pt x="2326" y="11"/>
                    <a:pt x="2225" y="0"/>
                    <a:pt x="2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27;p24">
              <a:extLst>
                <a:ext uri="{FF2B5EF4-FFF2-40B4-BE49-F238E27FC236}">
                  <a16:creationId xmlns:a16="http://schemas.microsoft.com/office/drawing/2014/main" id="{2A9DE718-D026-C2C2-D46D-177D000812E2}"/>
                </a:ext>
              </a:extLst>
            </p:cNvPr>
            <p:cNvSpPr/>
            <p:nvPr/>
          </p:nvSpPr>
          <p:spPr>
            <a:xfrm>
              <a:off x="5110550" y="2563175"/>
              <a:ext cx="51225" cy="89100"/>
            </a:xfrm>
            <a:custGeom>
              <a:avLst/>
              <a:gdLst/>
              <a:ahLst/>
              <a:cxnLst/>
              <a:rect l="l" t="t" r="r" b="b"/>
              <a:pathLst>
                <a:path w="2049" h="3564" extrusionOk="0">
                  <a:moveTo>
                    <a:pt x="1252" y="1"/>
                  </a:moveTo>
                  <a:cubicBezTo>
                    <a:pt x="916" y="1"/>
                    <a:pt x="615" y="234"/>
                    <a:pt x="540" y="575"/>
                  </a:cubicBezTo>
                  <a:lnTo>
                    <a:pt x="86" y="2680"/>
                  </a:lnTo>
                  <a:cubicBezTo>
                    <a:pt x="1" y="3074"/>
                    <a:pt x="249" y="3462"/>
                    <a:pt x="643" y="3547"/>
                  </a:cubicBezTo>
                  <a:cubicBezTo>
                    <a:pt x="695" y="3558"/>
                    <a:pt x="746" y="3563"/>
                    <a:pt x="797" y="3563"/>
                  </a:cubicBezTo>
                  <a:cubicBezTo>
                    <a:pt x="1132" y="3563"/>
                    <a:pt x="1434" y="3330"/>
                    <a:pt x="1508" y="2988"/>
                  </a:cubicBezTo>
                  <a:lnTo>
                    <a:pt x="1964" y="882"/>
                  </a:lnTo>
                  <a:cubicBezTo>
                    <a:pt x="2049" y="490"/>
                    <a:pt x="1799" y="102"/>
                    <a:pt x="1406" y="17"/>
                  </a:cubicBezTo>
                  <a:cubicBezTo>
                    <a:pt x="1355" y="6"/>
                    <a:pt x="1303" y="1"/>
                    <a:pt x="1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8;p24">
              <a:extLst>
                <a:ext uri="{FF2B5EF4-FFF2-40B4-BE49-F238E27FC236}">
                  <a16:creationId xmlns:a16="http://schemas.microsoft.com/office/drawing/2014/main" id="{877DB2C1-DA40-3656-8531-F06410041794}"/>
                </a:ext>
              </a:extLst>
            </p:cNvPr>
            <p:cNvSpPr/>
            <p:nvPr/>
          </p:nvSpPr>
          <p:spPr>
            <a:xfrm>
              <a:off x="4967900" y="2531650"/>
              <a:ext cx="51275" cy="89075"/>
            </a:xfrm>
            <a:custGeom>
              <a:avLst/>
              <a:gdLst/>
              <a:ahLst/>
              <a:cxnLst/>
              <a:rect l="l" t="t" r="r" b="b"/>
              <a:pathLst>
                <a:path w="2051" h="3563" extrusionOk="0">
                  <a:moveTo>
                    <a:pt x="1253" y="0"/>
                  </a:moveTo>
                  <a:cubicBezTo>
                    <a:pt x="917" y="0"/>
                    <a:pt x="615" y="233"/>
                    <a:pt x="542" y="574"/>
                  </a:cubicBezTo>
                  <a:lnTo>
                    <a:pt x="87" y="2679"/>
                  </a:lnTo>
                  <a:cubicBezTo>
                    <a:pt x="1" y="3073"/>
                    <a:pt x="251" y="3461"/>
                    <a:pt x="645" y="3546"/>
                  </a:cubicBezTo>
                  <a:cubicBezTo>
                    <a:pt x="696" y="3557"/>
                    <a:pt x="748" y="3562"/>
                    <a:pt x="799" y="3562"/>
                  </a:cubicBezTo>
                  <a:cubicBezTo>
                    <a:pt x="1134" y="3562"/>
                    <a:pt x="1436" y="3329"/>
                    <a:pt x="1509" y="2988"/>
                  </a:cubicBezTo>
                  <a:lnTo>
                    <a:pt x="1965" y="883"/>
                  </a:lnTo>
                  <a:cubicBezTo>
                    <a:pt x="2050" y="489"/>
                    <a:pt x="1800" y="101"/>
                    <a:pt x="1408" y="17"/>
                  </a:cubicBezTo>
                  <a:cubicBezTo>
                    <a:pt x="1356" y="5"/>
                    <a:pt x="1304" y="0"/>
                    <a:pt x="12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29;p24">
              <a:extLst>
                <a:ext uri="{FF2B5EF4-FFF2-40B4-BE49-F238E27FC236}">
                  <a16:creationId xmlns:a16="http://schemas.microsoft.com/office/drawing/2014/main" id="{179E5340-CC3C-D6BD-3BED-A05411C196E2}"/>
                </a:ext>
              </a:extLst>
            </p:cNvPr>
            <p:cNvSpPr/>
            <p:nvPr/>
          </p:nvSpPr>
          <p:spPr>
            <a:xfrm>
              <a:off x="5563000" y="2623925"/>
              <a:ext cx="144650" cy="69950"/>
            </a:xfrm>
            <a:custGeom>
              <a:avLst/>
              <a:gdLst/>
              <a:ahLst/>
              <a:cxnLst/>
              <a:rect l="l" t="t" r="r" b="b"/>
              <a:pathLst>
                <a:path w="5786" h="2798" extrusionOk="0">
                  <a:moveTo>
                    <a:pt x="5180" y="1"/>
                  </a:moveTo>
                  <a:cubicBezTo>
                    <a:pt x="4976" y="1"/>
                    <a:pt x="4781" y="119"/>
                    <a:pt x="4693" y="318"/>
                  </a:cubicBezTo>
                  <a:cubicBezTo>
                    <a:pt x="4307" y="1189"/>
                    <a:pt x="3451" y="1732"/>
                    <a:pt x="2525" y="1732"/>
                  </a:cubicBezTo>
                  <a:cubicBezTo>
                    <a:pt x="2390" y="1732"/>
                    <a:pt x="2252" y="1721"/>
                    <a:pt x="2115" y="1697"/>
                  </a:cubicBezTo>
                  <a:lnTo>
                    <a:pt x="662" y="1444"/>
                  </a:lnTo>
                  <a:cubicBezTo>
                    <a:pt x="632" y="1439"/>
                    <a:pt x="601" y="1436"/>
                    <a:pt x="571" y="1436"/>
                  </a:cubicBezTo>
                  <a:cubicBezTo>
                    <a:pt x="317" y="1436"/>
                    <a:pt x="92" y="1618"/>
                    <a:pt x="47" y="1877"/>
                  </a:cubicBezTo>
                  <a:cubicBezTo>
                    <a:pt x="0" y="2141"/>
                    <a:pt x="158" y="2394"/>
                    <a:pt x="405" y="2474"/>
                  </a:cubicBezTo>
                  <a:cubicBezTo>
                    <a:pt x="429" y="2483"/>
                    <a:pt x="453" y="2489"/>
                    <a:pt x="479" y="2493"/>
                  </a:cubicBezTo>
                  <a:lnTo>
                    <a:pt x="1932" y="2746"/>
                  </a:lnTo>
                  <a:cubicBezTo>
                    <a:pt x="2131" y="2781"/>
                    <a:pt x="2329" y="2798"/>
                    <a:pt x="2525" y="2798"/>
                  </a:cubicBezTo>
                  <a:cubicBezTo>
                    <a:pt x="3868" y="2798"/>
                    <a:pt x="5108" y="2011"/>
                    <a:pt x="5667" y="749"/>
                  </a:cubicBezTo>
                  <a:cubicBezTo>
                    <a:pt x="5785" y="479"/>
                    <a:pt x="5664" y="165"/>
                    <a:pt x="5394" y="46"/>
                  </a:cubicBezTo>
                  <a:cubicBezTo>
                    <a:pt x="5325" y="15"/>
                    <a:pt x="5252" y="1"/>
                    <a:pt x="5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30;p24">
              <a:extLst>
                <a:ext uri="{FF2B5EF4-FFF2-40B4-BE49-F238E27FC236}">
                  <a16:creationId xmlns:a16="http://schemas.microsoft.com/office/drawing/2014/main" id="{7B4B6C98-A8FD-1553-147D-B5FBEA59C0D3}"/>
                </a:ext>
              </a:extLst>
            </p:cNvPr>
            <p:cNvSpPr/>
            <p:nvPr/>
          </p:nvSpPr>
          <p:spPr>
            <a:xfrm>
              <a:off x="5560725" y="2556250"/>
              <a:ext cx="98475" cy="106000"/>
            </a:xfrm>
            <a:custGeom>
              <a:avLst/>
              <a:gdLst/>
              <a:ahLst/>
              <a:cxnLst/>
              <a:rect l="l" t="t" r="r" b="b"/>
              <a:pathLst>
                <a:path w="3939" h="4240" extrusionOk="0">
                  <a:moveTo>
                    <a:pt x="3307" y="1"/>
                  </a:moveTo>
                  <a:cubicBezTo>
                    <a:pt x="3296" y="1"/>
                    <a:pt x="3285" y="1"/>
                    <a:pt x="3274" y="2"/>
                  </a:cubicBezTo>
                  <a:cubicBezTo>
                    <a:pt x="2980" y="20"/>
                    <a:pt x="2757" y="273"/>
                    <a:pt x="2777" y="567"/>
                  </a:cubicBezTo>
                  <a:cubicBezTo>
                    <a:pt x="2847" y="1658"/>
                    <a:pt x="2167" y="2650"/>
                    <a:pt x="1126" y="2980"/>
                  </a:cubicBezTo>
                  <a:lnTo>
                    <a:pt x="435" y="3200"/>
                  </a:lnTo>
                  <a:cubicBezTo>
                    <a:pt x="155" y="3289"/>
                    <a:pt x="1" y="3587"/>
                    <a:pt x="88" y="3868"/>
                  </a:cubicBezTo>
                  <a:cubicBezTo>
                    <a:pt x="148" y="4051"/>
                    <a:pt x="296" y="4181"/>
                    <a:pt x="472" y="4224"/>
                  </a:cubicBezTo>
                  <a:cubicBezTo>
                    <a:pt x="513" y="4234"/>
                    <a:pt x="555" y="4239"/>
                    <a:pt x="598" y="4239"/>
                  </a:cubicBezTo>
                  <a:cubicBezTo>
                    <a:pt x="651" y="4239"/>
                    <a:pt x="705" y="4231"/>
                    <a:pt x="758" y="4214"/>
                  </a:cubicBezTo>
                  <a:lnTo>
                    <a:pt x="1447" y="3995"/>
                  </a:lnTo>
                  <a:cubicBezTo>
                    <a:pt x="2956" y="3516"/>
                    <a:pt x="3939" y="2079"/>
                    <a:pt x="3839" y="499"/>
                  </a:cubicBezTo>
                  <a:cubicBezTo>
                    <a:pt x="3821" y="218"/>
                    <a:pt x="3587" y="1"/>
                    <a:pt x="3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31;p24">
              <a:extLst>
                <a:ext uri="{FF2B5EF4-FFF2-40B4-BE49-F238E27FC236}">
                  <a16:creationId xmlns:a16="http://schemas.microsoft.com/office/drawing/2014/main" id="{5C036182-535B-07F4-60B8-214C7FD7BB98}"/>
                </a:ext>
              </a:extLst>
            </p:cNvPr>
            <p:cNvSpPr/>
            <p:nvPr/>
          </p:nvSpPr>
          <p:spPr>
            <a:xfrm>
              <a:off x="4873700" y="2352750"/>
              <a:ext cx="192300" cy="110800"/>
            </a:xfrm>
            <a:custGeom>
              <a:avLst/>
              <a:gdLst/>
              <a:ahLst/>
              <a:cxnLst/>
              <a:rect l="l" t="t" r="r" b="b"/>
              <a:pathLst>
                <a:path w="7692" h="4432" extrusionOk="0">
                  <a:moveTo>
                    <a:pt x="2638" y="0"/>
                  </a:moveTo>
                  <a:cubicBezTo>
                    <a:pt x="1529" y="0"/>
                    <a:pt x="620" y="328"/>
                    <a:pt x="229" y="900"/>
                  </a:cubicBezTo>
                  <a:cubicBezTo>
                    <a:pt x="150" y="1015"/>
                    <a:pt x="93" y="1141"/>
                    <a:pt x="58" y="1274"/>
                  </a:cubicBezTo>
                  <a:lnTo>
                    <a:pt x="58" y="1276"/>
                  </a:lnTo>
                  <a:cubicBezTo>
                    <a:pt x="0" y="1498"/>
                    <a:pt x="11" y="1729"/>
                    <a:pt x="84" y="1960"/>
                  </a:cubicBezTo>
                  <a:cubicBezTo>
                    <a:pt x="368" y="2881"/>
                    <a:pt x="1598" y="3807"/>
                    <a:pt x="3219" y="4220"/>
                  </a:cubicBezTo>
                  <a:cubicBezTo>
                    <a:pt x="3777" y="4364"/>
                    <a:pt x="4324" y="4431"/>
                    <a:pt x="4829" y="4431"/>
                  </a:cubicBezTo>
                  <a:cubicBezTo>
                    <a:pt x="6161" y="4431"/>
                    <a:pt x="7203" y="3960"/>
                    <a:pt x="7409" y="3157"/>
                  </a:cubicBezTo>
                  <a:cubicBezTo>
                    <a:pt x="7692" y="2048"/>
                    <a:pt x="6277" y="731"/>
                    <a:pt x="4246" y="211"/>
                  </a:cubicBezTo>
                  <a:cubicBezTo>
                    <a:pt x="3688" y="68"/>
                    <a:pt x="3142" y="0"/>
                    <a:pt x="2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32;p24">
              <a:extLst>
                <a:ext uri="{FF2B5EF4-FFF2-40B4-BE49-F238E27FC236}">
                  <a16:creationId xmlns:a16="http://schemas.microsoft.com/office/drawing/2014/main" id="{3A2CAFC2-2A54-57A8-181A-9C434F738286}"/>
                </a:ext>
              </a:extLst>
            </p:cNvPr>
            <p:cNvSpPr/>
            <p:nvPr/>
          </p:nvSpPr>
          <p:spPr>
            <a:xfrm>
              <a:off x="4873700" y="2375275"/>
              <a:ext cx="16175" cy="26500"/>
            </a:xfrm>
            <a:custGeom>
              <a:avLst/>
              <a:gdLst/>
              <a:ahLst/>
              <a:cxnLst/>
              <a:rect l="l" t="t" r="r" b="b"/>
              <a:pathLst>
                <a:path w="647" h="1060" extrusionOk="0">
                  <a:moveTo>
                    <a:pt x="227" y="1"/>
                  </a:moveTo>
                  <a:cubicBezTo>
                    <a:pt x="149" y="114"/>
                    <a:pt x="91" y="240"/>
                    <a:pt x="58" y="375"/>
                  </a:cubicBezTo>
                  <a:cubicBezTo>
                    <a:pt x="0" y="597"/>
                    <a:pt x="11" y="828"/>
                    <a:pt x="84" y="1059"/>
                  </a:cubicBezTo>
                  <a:cubicBezTo>
                    <a:pt x="330" y="1020"/>
                    <a:pt x="529" y="875"/>
                    <a:pt x="583" y="661"/>
                  </a:cubicBezTo>
                  <a:cubicBezTo>
                    <a:pt x="647" y="413"/>
                    <a:pt x="496" y="149"/>
                    <a:pt x="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33;p24">
              <a:extLst>
                <a:ext uri="{FF2B5EF4-FFF2-40B4-BE49-F238E27FC236}">
                  <a16:creationId xmlns:a16="http://schemas.microsoft.com/office/drawing/2014/main" id="{6011F9C4-C687-34C5-E8D8-2EDE7C220C44}"/>
                </a:ext>
              </a:extLst>
            </p:cNvPr>
            <p:cNvSpPr/>
            <p:nvPr/>
          </p:nvSpPr>
          <p:spPr>
            <a:xfrm>
              <a:off x="4801900" y="2507750"/>
              <a:ext cx="50225" cy="71325"/>
            </a:xfrm>
            <a:custGeom>
              <a:avLst/>
              <a:gdLst/>
              <a:ahLst/>
              <a:cxnLst/>
              <a:rect l="l" t="t" r="r" b="b"/>
              <a:pathLst>
                <a:path w="2009" h="2853" extrusionOk="0">
                  <a:moveTo>
                    <a:pt x="1036" y="0"/>
                  </a:moveTo>
                  <a:cubicBezTo>
                    <a:pt x="887" y="0"/>
                    <a:pt x="753" y="104"/>
                    <a:pt x="720" y="255"/>
                  </a:cubicBezTo>
                  <a:lnTo>
                    <a:pt x="271" y="2327"/>
                  </a:lnTo>
                  <a:cubicBezTo>
                    <a:pt x="234" y="2501"/>
                    <a:pt x="0" y="2598"/>
                    <a:pt x="176" y="2636"/>
                  </a:cubicBezTo>
                  <a:lnTo>
                    <a:pt x="1139" y="2845"/>
                  </a:lnTo>
                  <a:cubicBezTo>
                    <a:pt x="1162" y="2850"/>
                    <a:pt x="1186" y="2852"/>
                    <a:pt x="1208" y="2852"/>
                  </a:cubicBezTo>
                  <a:cubicBezTo>
                    <a:pt x="1357" y="2852"/>
                    <a:pt x="1491" y="2749"/>
                    <a:pt x="1524" y="2596"/>
                  </a:cubicBezTo>
                  <a:lnTo>
                    <a:pt x="1971" y="526"/>
                  </a:lnTo>
                  <a:cubicBezTo>
                    <a:pt x="2009" y="352"/>
                    <a:pt x="1898" y="179"/>
                    <a:pt x="1724" y="141"/>
                  </a:cubicBezTo>
                  <a:lnTo>
                    <a:pt x="1105" y="8"/>
                  </a:lnTo>
                  <a:cubicBezTo>
                    <a:pt x="1081" y="3"/>
                    <a:pt x="1058" y="0"/>
                    <a:pt x="103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34;p24">
              <a:extLst>
                <a:ext uri="{FF2B5EF4-FFF2-40B4-BE49-F238E27FC236}">
                  <a16:creationId xmlns:a16="http://schemas.microsoft.com/office/drawing/2014/main" id="{72F5FE32-43D6-153A-ADA9-BE583ADD99C9}"/>
                </a:ext>
              </a:extLst>
            </p:cNvPr>
            <p:cNvSpPr/>
            <p:nvPr/>
          </p:nvSpPr>
          <p:spPr>
            <a:xfrm>
              <a:off x="4799725" y="2506000"/>
              <a:ext cx="39675" cy="70200"/>
            </a:xfrm>
            <a:custGeom>
              <a:avLst/>
              <a:gdLst/>
              <a:ahLst/>
              <a:cxnLst/>
              <a:rect l="l" t="t" r="r" b="b"/>
              <a:pathLst>
                <a:path w="1587" h="2808" extrusionOk="0">
                  <a:moveTo>
                    <a:pt x="802" y="1"/>
                  </a:moveTo>
                  <a:cubicBezTo>
                    <a:pt x="653" y="1"/>
                    <a:pt x="519" y="104"/>
                    <a:pt x="487" y="255"/>
                  </a:cubicBezTo>
                  <a:lnTo>
                    <a:pt x="39" y="2327"/>
                  </a:lnTo>
                  <a:cubicBezTo>
                    <a:pt x="1" y="2501"/>
                    <a:pt x="112" y="2674"/>
                    <a:pt x="286" y="2712"/>
                  </a:cubicBezTo>
                  <a:lnTo>
                    <a:pt x="717" y="2800"/>
                  </a:lnTo>
                  <a:cubicBezTo>
                    <a:pt x="741" y="2805"/>
                    <a:pt x="764" y="2807"/>
                    <a:pt x="786" y="2807"/>
                  </a:cubicBezTo>
                  <a:cubicBezTo>
                    <a:pt x="935" y="2807"/>
                    <a:pt x="1069" y="2704"/>
                    <a:pt x="1102" y="2551"/>
                  </a:cubicBezTo>
                  <a:lnTo>
                    <a:pt x="1549" y="481"/>
                  </a:lnTo>
                  <a:cubicBezTo>
                    <a:pt x="1587" y="306"/>
                    <a:pt x="1476" y="134"/>
                    <a:pt x="1302" y="96"/>
                  </a:cubicBezTo>
                  <a:lnTo>
                    <a:pt x="870" y="8"/>
                  </a:lnTo>
                  <a:cubicBezTo>
                    <a:pt x="847" y="3"/>
                    <a:pt x="824" y="1"/>
                    <a:pt x="8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35;p24">
              <a:extLst>
                <a:ext uri="{FF2B5EF4-FFF2-40B4-BE49-F238E27FC236}">
                  <a16:creationId xmlns:a16="http://schemas.microsoft.com/office/drawing/2014/main" id="{E0186FBF-4DFF-1086-07A3-CBECBA2D8371}"/>
                </a:ext>
              </a:extLst>
            </p:cNvPr>
            <p:cNvSpPr/>
            <p:nvPr/>
          </p:nvSpPr>
          <p:spPr>
            <a:xfrm>
              <a:off x="4812500" y="2313275"/>
              <a:ext cx="60150" cy="225100"/>
            </a:xfrm>
            <a:custGeom>
              <a:avLst/>
              <a:gdLst/>
              <a:ahLst/>
              <a:cxnLst/>
              <a:rect l="l" t="t" r="r" b="b"/>
              <a:pathLst>
                <a:path w="2406" h="9004" extrusionOk="0">
                  <a:moveTo>
                    <a:pt x="2107" y="1"/>
                  </a:moveTo>
                  <a:cubicBezTo>
                    <a:pt x="1980" y="1"/>
                    <a:pt x="1867" y="89"/>
                    <a:pt x="1839" y="216"/>
                  </a:cubicBezTo>
                  <a:lnTo>
                    <a:pt x="32" y="8671"/>
                  </a:lnTo>
                  <a:cubicBezTo>
                    <a:pt x="0" y="8818"/>
                    <a:pt x="94" y="8965"/>
                    <a:pt x="243" y="8997"/>
                  </a:cubicBezTo>
                  <a:cubicBezTo>
                    <a:pt x="262" y="9001"/>
                    <a:pt x="281" y="9003"/>
                    <a:pt x="300" y="9003"/>
                  </a:cubicBezTo>
                  <a:cubicBezTo>
                    <a:pt x="426" y="9003"/>
                    <a:pt x="539" y="8915"/>
                    <a:pt x="567" y="8786"/>
                  </a:cubicBezTo>
                  <a:lnTo>
                    <a:pt x="2374" y="331"/>
                  </a:lnTo>
                  <a:cubicBezTo>
                    <a:pt x="2406" y="184"/>
                    <a:pt x="2312" y="39"/>
                    <a:pt x="2165" y="7"/>
                  </a:cubicBezTo>
                  <a:cubicBezTo>
                    <a:pt x="2145" y="3"/>
                    <a:pt x="2126" y="1"/>
                    <a:pt x="2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36;p24">
              <a:extLst>
                <a:ext uri="{FF2B5EF4-FFF2-40B4-BE49-F238E27FC236}">
                  <a16:creationId xmlns:a16="http://schemas.microsoft.com/office/drawing/2014/main" id="{0FE7A809-951D-9A04-4864-77ED6810C26A}"/>
                </a:ext>
              </a:extLst>
            </p:cNvPr>
            <p:cNvSpPr/>
            <p:nvPr/>
          </p:nvSpPr>
          <p:spPr>
            <a:xfrm>
              <a:off x="5479800" y="2765175"/>
              <a:ext cx="50275" cy="32250"/>
            </a:xfrm>
            <a:custGeom>
              <a:avLst/>
              <a:gdLst/>
              <a:ahLst/>
              <a:cxnLst/>
              <a:rect l="l" t="t" r="r" b="b"/>
              <a:pathLst>
                <a:path w="2011" h="1290" extrusionOk="0">
                  <a:moveTo>
                    <a:pt x="134" y="0"/>
                  </a:moveTo>
                  <a:lnTo>
                    <a:pt x="1" y="288"/>
                  </a:lnTo>
                  <a:cubicBezTo>
                    <a:pt x="272" y="609"/>
                    <a:pt x="558" y="832"/>
                    <a:pt x="834" y="983"/>
                  </a:cubicBezTo>
                  <a:cubicBezTo>
                    <a:pt x="1228" y="1198"/>
                    <a:pt x="1602" y="1271"/>
                    <a:pt x="1883" y="1289"/>
                  </a:cubicBezTo>
                  <a:lnTo>
                    <a:pt x="2011" y="1015"/>
                  </a:lnTo>
                  <a:lnTo>
                    <a:pt x="2011" y="1015"/>
                  </a:lnTo>
                  <a:cubicBezTo>
                    <a:pt x="2008" y="1015"/>
                    <a:pt x="2006" y="1015"/>
                    <a:pt x="2004" y="1015"/>
                  </a:cubicBezTo>
                  <a:cubicBezTo>
                    <a:pt x="1583" y="1015"/>
                    <a:pt x="809" y="877"/>
                    <a:pt x="13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37;p24">
              <a:extLst>
                <a:ext uri="{FF2B5EF4-FFF2-40B4-BE49-F238E27FC236}">
                  <a16:creationId xmlns:a16="http://schemas.microsoft.com/office/drawing/2014/main" id="{EEE2C317-F273-A154-D4FA-1D2212B4353E}"/>
                </a:ext>
              </a:extLst>
            </p:cNvPr>
            <p:cNvSpPr/>
            <p:nvPr/>
          </p:nvSpPr>
          <p:spPr>
            <a:xfrm>
              <a:off x="5432425" y="2845550"/>
              <a:ext cx="47625" cy="37750"/>
            </a:xfrm>
            <a:custGeom>
              <a:avLst/>
              <a:gdLst/>
              <a:ahLst/>
              <a:cxnLst/>
              <a:rect l="l" t="t" r="r" b="b"/>
              <a:pathLst>
                <a:path w="1905" h="1510" extrusionOk="0">
                  <a:moveTo>
                    <a:pt x="192" y="1"/>
                  </a:moveTo>
                  <a:cubicBezTo>
                    <a:pt x="129" y="75"/>
                    <a:pt x="66" y="149"/>
                    <a:pt x="1" y="221"/>
                  </a:cubicBezTo>
                  <a:cubicBezTo>
                    <a:pt x="352" y="726"/>
                    <a:pt x="773" y="1054"/>
                    <a:pt x="1163" y="1267"/>
                  </a:cubicBezTo>
                  <a:cubicBezTo>
                    <a:pt x="1358" y="1375"/>
                    <a:pt x="1546" y="1452"/>
                    <a:pt x="1711" y="1510"/>
                  </a:cubicBezTo>
                  <a:cubicBezTo>
                    <a:pt x="1778" y="1434"/>
                    <a:pt x="1841" y="1357"/>
                    <a:pt x="1905" y="1279"/>
                  </a:cubicBezTo>
                  <a:cubicBezTo>
                    <a:pt x="1440" y="1143"/>
                    <a:pt x="723" y="811"/>
                    <a:pt x="19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38;p24">
              <a:extLst>
                <a:ext uri="{FF2B5EF4-FFF2-40B4-BE49-F238E27FC236}">
                  <a16:creationId xmlns:a16="http://schemas.microsoft.com/office/drawing/2014/main" id="{86050CE9-2644-0B4D-A973-D89AE84D2573}"/>
                </a:ext>
              </a:extLst>
            </p:cNvPr>
            <p:cNvSpPr/>
            <p:nvPr/>
          </p:nvSpPr>
          <p:spPr>
            <a:xfrm>
              <a:off x="5369900" y="2895850"/>
              <a:ext cx="43275" cy="44300"/>
            </a:xfrm>
            <a:custGeom>
              <a:avLst/>
              <a:gdLst/>
              <a:ahLst/>
              <a:cxnLst/>
              <a:rect l="l" t="t" r="r" b="b"/>
              <a:pathLst>
                <a:path w="1731" h="1772" extrusionOk="0">
                  <a:moveTo>
                    <a:pt x="249" y="0"/>
                  </a:moveTo>
                  <a:cubicBezTo>
                    <a:pt x="168" y="46"/>
                    <a:pt x="84" y="90"/>
                    <a:pt x="1" y="132"/>
                  </a:cubicBezTo>
                  <a:cubicBezTo>
                    <a:pt x="342" y="940"/>
                    <a:pt x="948" y="1456"/>
                    <a:pt x="1464" y="1771"/>
                  </a:cubicBezTo>
                  <a:cubicBezTo>
                    <a:pt x="1554" y="1718"/>
                    <a:pt x="1643" y="1665"/>
                    <a:pt x="1731" y="1609"/>
                  </a:cubicBezTo>
                  <a:cubicBezTo>
                    <a:pt x="1223" y="1330"/>
                    <a:pt x="587" y="835"/>
                    <a:pt x="24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39;p24">
              <a:extLst>
                <a:ext uri="{FF2B5EF4-FFF2-40B4-BE49-F238E27FC236}">
                  <a16:creationId xmlns:a16="http://schemas.microsoft.com/office/drawing/2014/main" id="{390DD5A2-2538-E15D-15DF-5798664CD5B0}"/>
                </a:ext>
              </a:extLst>
            </p:cNvPr>
            <p:cNvSpPr/>
            <p:nvPr/>
          </p:nvSpPr>
          <p:spPr>
            <a:xfrm>
              <a:off x="5292900" y="2921750"/>
              <a:ext cx="30075" cy="51950"/>
            </a:xfrm>
            <a:custGeom>
              <a:avLst/>
              <a:gdLst/>
              <a:ahLst/>
              <a:cxnLst/>
              <a:rect l="l" t="t" r="r" b="b"/>
              <a:pathLst>
                <a:path w="1203" h="2078" extrusionOk="0">
                  <a:moveTo>
                    <a:pt x="294" y="0"/>
                  </a:moveTo>
                  <a:cubicBezTo>
                    <a:pt x="200" y="16"/>
                    <a:pt x="105" y="28"/>
                    <a:pt x="11" y="40"/>
                  </a:cubicBezTo>
                  <a:cubicBezTo>
                    <a:pt x="0" y="1050"/>
                    <a:pt x="468" y="1706"/>
                    <a:pt x="857" y="2077"/>
                  </a:cubicBezTo>
                  <a:cubicBezTo>
                    <a:pt x="972" y="2057"/>
                    <a:pt x="1088" y="2036"/>
                    <a:pt x="1203" y="2012"/>
                  </a:cubicBezTo>
                  <a:cubicBezTo>
                    <a:pt x="839" y="1724"/>
                    <a:pt x="264" y="1096"/>
                    <a:pt x="29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40;p24">
              <a:extLst>
                <a:ext uri="{FF2B5EF4-FFF2-40B4-BE49-F238E27FC236}">
                  <a16:creationId xmlns:a16="http://schemas.microsoft.com/office/drawing/2014/main" id="{1A94C4EA-036E-233A-32C4-3A02DA4D963F}"/>
                </a:ext>
              </a:extLst>
            </p:cNvPr>
            <p:cNvSpPr/>
            <p:nvPr/>
          </p:nvSpPr>
          <p:spPr>
            <a:xfrm>
              <a:off x="5185875" y="2911900"/>
              <a:ext cx="26675" cy="60050"/>
            </a:xfrm>
            <a:custGeom>
              <a:avLst/>
              <a:gdLst/>
              <a:ahLst/>
              <a:cxnLst/>
              <a:rect l="l" t="t" r="r" b="b"/>
              <a:pathLst>
                <a:path w="1067" h="2402" extrusionOk="0">
                  <a:moveTo>
                    <a:pt x="359" y="1"/>
                  </a:moveTo>
                  <a:lnTo>
                    <a:pt x="359" y="1"/>
                  </a:lnTo>
                  <a:cubicBezTo>
                    <a:pt x="0" y="912"/>
                    <a:pt x="299" y="1732"/>
                    <a:pt x="668" y="2311"/>
                  </a:cubicBezTo>
                  <a:cubicBezTo>
                    <a:pt x="800" y="2344"/>
                    <a:pt x="934" y="2374"/>
                    <a:pt x="1067" y="2401"/>
                  </a:cubicBezTo>
                  <a:cubicBezTo>
                    <a:pt x="665" y="1880"/>
                    <a:pt x="246" y="1043"/>
                    <a:pt x="631" y="90"/>
                  </a:cubicBezTo>
                  <a:cubicBezTo>
                    <a:pt x="540" y="63"/>
                    <a:pt x="450" y="32"/>
                    <a:pt x="35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41;p24">
              <a:extLst>
                <a:ext uri="{FF2B5EF4-FFF2-40B4-BE49-F238E27FC236}">
                  <a16:creationId xmlns:a16="http://schemas.microsoft.com/office/drawing/2014/main" id="{3F28C0A5-152C-DC34-2528-889B8C68CBBE}"/>
                </a:ext>
              </a:extLst>
            </p:cNvPr>
            <p:cNvSpPr/>
            <p:nvPr/>
          </p:nvSpPr>
          <p:spPr>
            <a:xfrm>
              <a:off x="4491350" y="3171375"/>
              <a:ext cx="228400" cy="188525"/>
            </a:xfrm>
            <a:custGeom>
              <a:avLst/>
              <a:gdLst/>
              <a:ahLst/>
              <a:cxnLst/>
              <a:rect l="l" t="t" r="r" b="b"/>
              <a:pathLst>
                <a:path w="9136" h="7541" extrusionOk="0">
                  <a:moveTo>
                    <a:pt x="229" y="0"/>
                  </a:moveTo>
                  <a:cubicBezTo>
                    <a:pt x="153" y="56"/>
                    <a:pt x="77" y="114"/>
                    <a:pt x="0" y="173"/>
                  </a:cubicBezTo>
                  <a:cubicBezTo>
                    <a:pt x="652" y="1229"/>
                    <a:pt x="1609" y="1856"/>
                    <a:pt x="1972" y="2068"/>
                  </a:cubicBezTo>
                  <a:cubicBezTo>
                    <a:pt x="1721" y="2419"/>
                    <a:pt x="1468" y="2810"/>
                    <a:pt x="1224" y="3243"/>
                  </a:cubicBezTo>
                  <a:lnTo>
                    <a:pt x="1165" y="3349"/>
                  </a:lnTo>
                  <a:lnTo>
                    <a:pt x="1260" y="3424"/>
                  </a:lnTo>
                  <a:cubicBezTo>
                    <a:pt x="2589" y="4481"/>
                    <a:pt x="3825" y="5275"/>
                    <a:pt x="4914" y="5871"/>
                  </a:cubicBezTo>
                  <a:cubicBezTo>
                    <a:pt x="6909" y="6964"/>
                    <a:pt x="8405" y="7391"/>
                    <a:pt x="9058" y="7541"/>
                  </a:cubicBezTo>
                  <a:cubicBezTo>
                    <a:pt x="9085" y="7450"/>
                    <a:pt x="9111" y="7359"/>
                    <a:pt x="9135" y="7268"/>
                  </a:cubicBezTo>
                  <a:cubicBezTo>
                    <a:pt x="8187" y="7053"/>
                    <a:pt x="5235" y="6196"/>
                    <a:pt x="1532" y="3278"/>
                  </a:cubicBezTo>
                  <a:cubicBezTo>
                    <a:pt x="1962" y="2528"/>
                    <a:pt x="2425" y="1907"/>
                    <a:pt x="2842" y="1420"/>
                  </a:cubicBezTo>
                  <a:cubicBezTo>
                    <a:pt x="2771" y="1356"/>
                    <a:pt x="2701" y="1289"/>
                    <a:pt x="2633" y="1223"/>
                  </a:cubicBezTo>
                  <a:cubicBezTo>
                    <a:pt x="2475" y="1408"/>
                    <a:pt x="2309" y="1612"/>
                    <a:pt x="2140" y="1838"/>
                  </a:cubicBezTo>
                  <a:cubicBezTo>
                    <a:pt x="1824" y="1653"/>
                    <a:pt x="859" y="1033"/>
                    <a:pt x="2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42;p24">
              <a:extLst>
                <a:ext uri="{FF2B5EF4-FFF2-40B4-BE49-F238E27FC236}">
                  <a16:creationId xmlns:a16="http://schemas.microsoft.com/office/drawing/2014/main" id="{7125F309-39CF-CDF6-271C-6504C268566B}"/>
                </a:ext>
              </a:extLst>
            </p:cNvPr>
            <p:cNvSpPr/>
            <p:nvPr/>
          </p:nvSpPr>
          <p:spPr>
            <a:xfrm>
              <a:off x="5269600" y="2224200"/>
              <a:ext cx="826575" cy="449875"/>
            </a:xfrm>
            <a:custGeom>
              <a:avLst/>
              <a:gdLst/>
              <a:ahLst/>
              <a:cxnLst/>
              <a:rect l="l" t="t" r="r" b="b"/>
              <a:pathLst>
                <a:path w="33063" h="17995" extrusionOk="0">
                  <a:moveTo>
                    <a:pt x="0" y="0"/>
                  </a:moveTo>
                  <a:lnTo>
                    <a:pt x="0" y="17995"/>
                  </a:lnTo>
                  <a:lnTo>
                    <a:pt x="2533" y="15262"/>
                  </a:lnTo>
                  <a:lnTo>
                    <a:pt x="33062" y="15262"/>
                  </a:lnTo>
                  <a:lnTo>
                    <a:pt x="330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43;p24">
              <a:extLst>
                <a:ext uri="{FF2B5EF4-FFF2-40B4-BE49-F238E27FC236}">
                  <a16:creationId xmlns:a16="http://schemas.microsoft.com/office/drawing/2014/main" id="{BD656183-335F-183F-3F88-42A42FEC9017}"/>
                </a:ext>
              </a:extLst>
            </p:cNvPr>
            <p:cNvSpPr/>
            <p:nvPr/>
          </p:nvSpPr>
          <p:spPr>
            <a:xfrm>
              <a:off x="5851600" y="2306750"/>
              <a:ext cx="215675" cy="196525"/>
            </a:xfrm>
            <a:custGeom>
              <a:avLst/>
              <a:gdLst/>
              <a:ahLst/>
              <a:cxnLst/>
              <a:rect l="l" t="t" r="r" b="b"/>
              <a:pathLst>
                <a:path w="8627" h="7861" extrusionOk="0">
                  <a:moveTo>
                    <a:pt x="4313" y="0"/>
                  </a:moveTo>
                  <a:cubicBezTo>
                    <a:pt x="3307" y="0"/>
                    <a:pt x="2302" y="384"/>
                    <a:pt x="1534" y="1151"/>
                  </a:cubicBezTo>
                  <a:cubicBezTo>
                    <a:pt x="0" y="2687"/>
                    <a:pt x="0" y="5174"/>
                    <a:pt x="1534" y="6709"/>
                  </a:cubicBezTo>
                  <a:cubicBezTo>
                    <a:pt x="2302" y="7477"/>
                    <a:pt x="3307" y="7861"/>
                    <a:pt x="4313" y="7861"/>
                  </a:cubicBezTo>
                  <a:cubicBezTo>
                    <a:pt x="5319" y="7861"/>
                    <a:pt x="6325" y="7477"/>
                    <a:pt x="7092" y="6709"/>
                  </a:cubicBezTo>
                  <a:cubicBezTo>
                    <a:pt x="8626" y="5174"/>
                    <a:pt x="8626" y="2687"/>
                    <a:pt x="7092" y="1151"/>
                  </a:cubicBezTo>
                  <a:cubicBezTo>
                    <a:pt x="6325" y="384"/>
                    <a:pt x="5319" y="0"/>
                    <a:pt x="43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44;p24">
              <a:extLst>
                <a:ext uri="{FF2B5EF4-FFF2-40B4-BE49-F238E27FC236}">
                  <a16:creationId xmlns:a16="http://schemas.microsoft.com/office/drawing/2014/main" id="{03BFA358-23DC-EB50-C84F-05056132A4D2}"/>
                </a:ext>
              </a:extLst>
            </p:cNvPr>
            <p:cNvSpPr/>
            <p:nvPr/>
          </p:nvSpPr>
          <p:spPr>
            <a:xfrm>
              <a:off x="5312100" y="2329950"/>
              <a:ext cx="496750" cy="16000"/>
            </a:xfrm>
            <a:custGeom>
              <a:avLst/>
              <a:gdLst/>
              <a:ahLst/>
              <a:cxnLst/>
              <a:rect l="l" t="t" r="r" b="b"/>
              <a:pathLst>
                <a:path w="19870" h="640" extrusionOk="0">
                  <a:moveTo>
                    <a:pt x="320" y="1"/>
                  </a:moveTo>
                  <a:cubicBezTo>
                    <a:pt x="142" y="1"/>
                    <a:pt x="0" y="143"/>
                    <a:pt x="0" y="320"/>
                  </a:cubicBezTo>
                  <a:cubicBezTo>
                    <a:pt x="0" y="496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6"/>
                    <a:pt x="19870" y="320"/>
                  </a:cubicBezTo>
                  <a:cubicBezTo>
                    <a:pt x="19870" y="143"/>
                    <a:pt x="19728" y="1"/>
                    <a:pt x="195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45;p24">
              <a:extLst>
                <a:ext uri="{FF2B5EF4-FFF2-40B4-BE49-F238E27FC236}">
                  <a16:creationId xmlns:a16="http://schemas.microsoft.com/office/drawing/2014/main" id="{25DAD256-F388-AFB0-FB4E-7986BCC0EC54}"/>
                </a:ext>
              </a:extLst>
            </p:cNvPr>
            <p:cNvSpPr/>
            <p:nvPr/>
          </p:nvSpPr>
          <p:spPr>
            <a:xfrm>
              <a:off x="5623275" y="2389025"/>
              <a:ext cx="185575" cy="16000"/>
            </a:xfrm>
            <a:custGeom>
              <a:avLst/>
              <a:gdLst/>
              <a:ahLst/>
              <a:cxnLst/>
              <a:rect l="l" t="t" r="r" b="b"/>
              <a:pathLst>
                <a:path w="7423" h="640" extrusionOk="0">
                  <a:moveTo>
                    <a:pt x="320" y="1"/>
                  </a:moveTo>
                  <a:cubicBezTo>
                    <a:pt x="143" y="1"/>
                    <a:pt x="1" y="143"/>
                    <a:pt x="1" y="320"/>
                  </a:cubicBezTo>
                  <a:cubicBezTo>
                    <a:pt x="1" y="497"/>
                    <a:pt x="143" y="640"/>
                    <a:pt x="320" y="640"/>
                  </a:cubicBezTo>
                  <a:lnTo>
                    <a:pt x="7103" y="640"/>
                  </a:lnTo>
                  <a:cubicBezTo>
                    <a:pt x="7281" y="640"/>
                    <a:pt x="7423" y="497"/>
                    <a:pt x="7423" y="320"/>
                  </a:cubicBezTo>
                  <a:cubicBezTo>
                    <a:pt x="7423" y="143"/>
                    <a:pt x="7281" y="1"/>
                    <a:pt x="7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46;p24">
              <a:extLst>
                <a:ext uri="{FF2B5EF4-FFF2-40B4-BE49-F238E27FC236}">
                  <a16:creationId xmlns:a16="http://schemas.microsoft.com/office/drawing/2014/main" id="{7B5D5AC1-B4E1-D260-FC81-077923155A08}"/>
                </a:ext>
              </a:extLst>
            </p:cNvPr>
            <p:cNvSpPr/>
            <p:nvPr/>
          </p:nvSpPr>
          <p:spPr>
            <a:xfrm>
              <a:off x="5308075" y="2389025"/>
              <a:ext cx="288225" cy="16000"/>
            </a:xfrm>
            <a:custGeom>
              <a:avLst/>
              <a:gdLst/>
              <a:ahLst/>
              <a:cxnLst/>
              <a:rect l="l" t="t" r="r" b="b"/>
              <a:pathLst>
                <a:path w="11529" h="640" extrusionOk="0">
                  <a:moveTo>
                    <a:pt x="320" y="1"/>
                  </a:moveTo>
                  <a:cubicBezTo>
                    <a:pt x="144" y="1"/>
                    <a:pt x="0" y="143"/>
                    <a:pt x="0" y="320"/>
                  </a:cubicBezTo>
                  <a:cubicBezTo>
                    <a:pt x="0" y="496"/>
                    <a:pt x="144" y="640"/>
                    <a:pt x="320" y="640"/>
                  </a:cubicBezTo>
                  <a:lnTo>
                    <a:pt x="11209" y="640"/>
                  </a:lnTo>
                  <a:cubicBezTo>
                    <a:pt x="11387" y="640"/>
                    <a:pt x="11529" y="496"/>
                    <a:pt x="11529" y="320"/>
                  </a:cubicBezTo>
                  <a:cubicBezTo>
                    <a:pt x="11529" y="143"/>
                    <a:pt x="11387" y="1"/>
                    <a:pt x="11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47;p24">
              <a:extLst>
                <a:ext uri="{FF2B5EF4-FFF2-40B4-BE49-F238E27FC236}">
                  <a16:creationId xmlns:a16="http://schemas.microsoft.com/office/drawing/2014/main" id="{83DE16CA-E61C-9C8C-9E80-33C4C93A7071}"/>
                </a:ext>
              </a:extLst>
            </p:cNvPr>
            <p:cNvSpPr/>
            <p:nvPr/>
          </p:nvSpPr>
          <p:spPr>
            <a:xfrm>
              <a:off x="5312100" y="2448100"/>
              <a:ext cx="496750" cy="16000"/>
            </a:xfrm>
            <a:custGeom>
              <a:avLst/>
              <a:gdLst/>
              <a:ahLst/>
              <a:cxnLst/>
              <a:rect l="l" t="t" r="r" b="b"/>
              <a:pathLst>
                <a:path w="19870" h="640" extrusionOk="0">
                  <a:moveTo>
                    <a:pt x="320" y="0"/>
                  </a:moveTo>
                  <a:cubicBezTo>
                    <a:pt x="142" y="0"/>
                    <a:pt x="0" y="144"/>
                    <a:pt x="0" y="320"/>
                  </a:cubicBezTo>
                  <a:cubicBezTo>
                    <a:pt x="0" y="497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7"/>
                    <a:pt x="19870" y="320"/>
                  </a:cubicBezTo>
                  <a:cubicBezTo>
                    <a:pt x="19870" y="144"/>
                    <a:pt x="19728" y="0"/>
                    <a:pt x="195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48;p24">
              <a:extLst>
                <a:ext uri="{FF2B5EF4-FFF2-40B4-BE49-F238E27FC236}">
                  <a16:creationId xmlns:a16="http://schemas.microsoft.com/office/drawing/2014/main" id="{4C49901A-154C-F7C6-2A4B-DA34F17DB454}"/>
                </a:ext>
              </a:extLst>
            </p:cNvPr>
            <p:cNvSpPr/>
            <p:nvPr/>
          </p:nvSpPr>
          <p:spPr>
            <a:xfrm>
              <a:off x="5657100" y="2507200"/>
              <a:ext cx="151750" cy="16025"/>
            </a:xfrm>
            <a:custGeom>
              <a:avLst/>
              <a:gdLst/>
              <a:ahLst/>
              <a:cxnLst/>
              <a:rect l="l" t="t" r="r" b="b"/>
              <a:pathLst>
                <a:path w="6070" h="641" extrusionOk="0">
                  <a:moveTo>
                    <a:pt x="320" y="1"/>
                  </a:moveTo>
                  <a:cubicBezTo>
                    <a:pt x="143" y="1"/>
                    <a:pt x="1" y="143"/>
                    <a:pt x="1" y="321"/>
                  </a:cubicBezTo>
                  <a:cubicBezTo>
                    <a:pt x="1" y="496"/>
                    <a:pt x="143" y="640"/>
                    <a:pt x="320" y="640"/>
                  </a:cubicBezTo>
                  <a:lnTo>
                    <a:pt x="5750" y="640"/>
                  </a:lnTo>
                  <a:cubicBezTo>
                    <a:pt x="5928" y="640"/>
                    <a:pt x="6070" y="496"/>
                    <a:pt x="6070" y="321"/>
                  </a:cubicBezTo>
                  <a:cubicBezTo>
                    <a:pt x="6070" y="143"/>
                    <a:pt x="5928" y="1"/>
                    <a:pt x="57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49;p24">
              <a:extLst>
                <a:ext uri="{FF2B5EF4-FFF2-40B4-BE49-F238E27FC236}">
                  <a16:creationId xmlns:a16="http://schemas.microsoft.com/office/drawing/2014/main" id="{5D6E5E33-DFC5-AB1E-CCC1-446CA3CC377C}"/>
                </a:ext>
              </a:extLst>
            </p:cNvPr>
            <p:cNvSpPr/>
            <p:nvPr/>
          </p:nvSpPr>
          <p:spPr>
            <a:xfrm>
              <a:off x="5429550" y="2507200"/>
              <a:ext cx="201875" cy="16025"/>
            </a:xfrm>
            <a:custGeom>
              <a:avLst/>
              <a:gdLst/>
              <a:ahLst/>
              <a:cxnLst/>
              <a:rect l="l" t="t" r="r" b="b"/>
              <a:pathLst>
                <a:path w="8075" h="641" extrusionOk="0">
                  <a:moveTo>
                    <a:pt x="320" y="1"/>
                  </a:moveTo>
                  <a:cubicBezTo>
                    <a:pt x="145" y="1"/>
                    <a:pt x="1" y="143"/>
                    <a:pt x="1" y="321"/>
                  </a:cubicBezTo>
                  <a:cubicBezTo>
                    <a:pt x="1" y="496"/>
                    <a:pt x="145" y="640"/>
                    <a:pt x="320" y="640"/>
                  </a:cubicBezTo>
                  <a:lnTo>
                    <a:pt x="7754" y="640"/>
                  </a:lnTo>
                  <a:cubicBezTo>
                    <a:pt x="7932" y="640"/>
                    <a:pt x="8074" y="496"/>
                    <a:pt x="8074" y="321"/>
                  </a:cubicBezTo>
                  <a:cubicBezTo>
                    <a:pt x="8074" y="143"/>
                    <a:pt x="7932" y="1"/>
                    <a:pt x="77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50;p24">
              <a:extLst>
                <a:ext uri="{FF2B5EF4-FFF2-40B4-BE49-F238E27FC236}">
                  <a16:creationId xmlns:a16="http://schemas.microsoft.com/office/drawing/2014/main" id="{ABE50DDB-6DF9-8CDA-D214-A6F462F430B6}"/>
                </a:ext>
              </a:extLst>
            </p:cNvPr>
            <p:cNvSpPr/>
            <p:nvPr/>
          </p:nvSpPr>
          <p:spPr>
            <a:xfrm>
              <a:off x="5493200" y="2531950"/>
              <a:ext cx="70325" cy="122725"/>
            </a:xfrm>
            <a:custGeom>
              <a:avLst/>
              <a:gdLst/>
              <a:ahLst/>
              <a:cxnLst/>
              <a:rect l="l" t="t" r="r" b="b"/>
              <a:pathLst>
                <a:path w="2813" h="4909" extrusionOk="0">
                  <a:moveTo>
                    <a:pt x="2207" y="1"/>
                  </a:moveTo>
                  <a:cubicBezTo>
                    <a:pt x="2100" y="1"/>
                    <a:pt x="1992" y="33"/>
                    <a:pt x="1899" y="100"/>
                  </a:cubicBezTo>
                  <a:cubicBezTo>
                    <a:pt x="832" y="859"/>
                    <a:pt x="237" y="1719"/>
                    <a:pt x="134" y="2655"/>
                  </a:cubicBezTo>
                  <a:cubicBezTo>
                    <a:pt x="1" y="3850"/>
                    <a:pt x="743" y="4696"/>
                    <a:pt x="775" y="4730"/>
                  </a:cubicBezTo>
                  <a:cubicBezTo>
                    <a:pt x="816" y="4777"/>
                    <a:pt x="864" y="4815"/>
                    <a:pt x="916" y="4843"/>
                  </a:cubicBezTo>
                  <a:cubicBezTo>
                    <a:pt x="995" y="4886"/>
                    <a:pt x="1084" y="4908"/>
                    <a:pt x="1172" y="4908"/>
                  </a:cubicBezTo>
                  <a:cubicBezTo>
                    <a:pt x="1298" y="4908"/>
                    <a:pt x="1425" y="4864"/>
                    <a:pt x="1526" y="4773"/>
                  </a:cubicBezTo>
                  <a:cubicBezTo>
                    <a:pt x="1744" y="4577"/>
                    <a:pt x="1764" y="4243"/>
                    <a:pt x="1570" y="4023"/>
                  </a:cubicBezTo>
                  <a:cubicBezTo>
                    <a:pt x="1555" y="4006"/>
                    <a:pt x="1108" y="3472"/>
                    <a:pt x="1193" y="2760"/>
                  </a:cubicBezTo>
                  <a:cubicBezTo>
                    <a:pt x="1267" y="2142"/>
                    <a:pt x="1712" y="1539"/>
                    <a:pt x="2515" y="968"/>
                  </a:cubicBezTo>
                  <a:cubicBezTo>
                    <a:pt x="2756" y="797"/>
                    <a:pt x="2812" y="465"/>
                    <a:pt x="2641" y="226"/>
                  </a:cubicBezTo>
                  <a:cubicBezTo>
                    <a:pt x="2538" y="79"/>
                    <a:pt x="2374" y="1"/>
                    <a:pt x="220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51;p24">
              <a:extLst>
                <a:ext uri="{FF2B5EF4-FFF2-40B4-BE49-F238E27FC236}">
                  <a16:creationId xmlns:a16="http://schemas.microsoft.com/office/drawing/2014/main" id="{E9532A7C-975D-F012-226E-D3475AB40011}"/>
                </a:ext>
              </a:extLst>
            </p:cNvPr>
            <p:cNvSpPr/>
            <p:nvPr/>
          </p:nvSpPr>
          <p:spPr>
            <a:xfrm>
              <a:off x="5503650" y="2630150"/>
              <a:ext cx="104675" cy="57775"/>
            </a:xfrm>
            <a:custGeom>
              <a:avLst/>
              <a:gdLst/>
              <a:ahLst/>
              <a:cxnLst/>
              <a:rect l="l" t="t" r="r" b="b"/>
              <a:pathLst>
                <a:path w="4187" h="2311" extrusionOk="0">
                  <a:moveTo>
                    <a:pt x="1065" y="1"/>
                  </a:moveTo>
                  <a:cubicBezTo>
                    <a:pt x="624" y="1"/>
                    <a:pt x="296" y="126"/>
                    <a:pt x="193" y="374"/>
                  </a:cubicBezTo>
                  <a:cubicBezTo>
                    <a:pt x="1" y="843"/>
                    <a:pt x="695" y="1573"/>
                    <a:pt x="1744" y="2005"/>
                  </a:cubicBezTo>
                  <a:cubicBezTo>
                    <a:pt x="2240" y="2209"/>
                    <a:pt x="2726" y="2310"/>
                    <a:pt x="3122" y="2310"/>
                  </a:cubicBezTo>
                  <a:cubicBezTo>
                    <a:pt x="3563" y="2310"/>
                    <a:pt x="3891" y="2185"/>
                    <a:pt x="3994" y="1937"/>
                  </a:cubicBezTo>
                  <a:cubicBezTo>
                    <a:pt x="4186" y="1467"/>
                    <a:pt x="3492" y="737"/>
                    <a:pt x="2443" y="306"/>
                  </a:cubicBezTo>
                  <a:cubicBezTo>
                    <a:pt x="1947" y="102"/>
                    <a:pt x="1461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52;p24">
              <a:extLst>
                <a:ext uri="{FF2B5EF4-FFF2-40B4-BE49-F238E27FC236}">
                  <a16:creationId xmlns:a16="http://schemas.microsoft.com/office/drawing/2014/main" id="{69841F93-263C-F283-689F-3C67498C649B}"/>
                </a:ext>
              </a:extLst>
            </p:cNvPr>
            <p:cNvSpPr/>
            <p:nvPr/>
          </p:nvSpPr>
          <p:spPr>
            <a:xfrm>
              <a:off x="5527175" y="2641900"/>
              <a:ext cx="59900" cy="34300"/>
            </a:xfrm>
            <a:custGeom>
              <a:avLst/>
              <a:gdLst/>
              <a:ahLst/>
              <a:cxnLst/>
              <a:rect l="l" t="t" r="r" b="b"/>
              <a:pathLst>
                <a:path w="2396" h="1372" extrusionOk="0">
                  <a:moveTo>
                    <a:pt x="542" y="0"/>
                  </a:moveTo>
                  <a:cubicBezTo>
                    <a:pt x="280" y="0"/>
                    <a:pt x="85" y="75"/>
                    <a:pt x="25" y="222"/>
                  </a:cubicBezTo>
                  <a:cubicBezTo>
                    <a:pt x="4" y="270"/>
                    <a:pt x="1" y="323"/>
                    <a:pt x="11" y="381"/>
                  </a:cubicBezTo>
                  <a:cubicBezTo>
                    <a:pt x="61" y="646"/>
                    <a:pt x="431" y="979"/>
                    <a:pt x="946" y="1190"/>
                  </a:cubicBezTo>
                  <a:cubicBezTo>
                    <a:pt x="1240" y="1311"/>
                    <a:pt x="1529" y="1371"/>
                    <a:pt x="1764" y="1371"/>
                  </a:cubicBezTo>
                  <a:cubicBezTo>
                    <a:pt x="1907" y="1371"/>
                    <a:pt x="2030" y="1349"/>
                    <a:pt x="2123" y="1305"/>
                  </a:cubicBezTo>
                  <a:cubicBezTo>
                    <a:pt x="2198" y="1269"/>
                    <a:pt x="2253" y="1217"/>
                    <a:pt x="2280" y="1150"/>
                  </a:cubicBezTo>
                  <a:cubicBezTo>
                    <a:pt x="2395" y="872"/>
                    <a:pt x="1983" y="437"/>
                    <a:pt x="1361" y="181"/>
                  </a:cubicBezTo>
                  <a:cubicBezTo>
                    <a:pt x="1066" y="60"/>
                    <a:pt x="777" y="0"/>
                    <a:pt x="5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53;p24">
              <a:extLst>
                <a:ext uri="{FF2B5EF4-FFF2-40B4-BE49-F238E27FC236}">
                  <a16:creationId xmlns:a16="http://schemas.microsoft.com/office/drawing/2014/main" id="{7264723E-2097-615A-D288-F4981EECC3A9}"/>
                </a:ext>
              </a:extLst>
            </p:cNvPr>
            <p:cNvSpPr/>
            <p:nvPr/>
          </p:nvSpPr>
          <p:spPr>
            <a:xfrm>
              <a:off x="5527450" y="2649750"/>
              <a:ext cx="52800" cy="26450"/>
            </a:xfrm>
            <a:custGeom>
              <a:avLst/>
              <a:gdLst/>
              <a:ahLst/>
              <a:cxnLst/>
              <a:rect l="l" t="t" r="r" b="b"/>
              <a:pathLst>
                <a:path w="2112" h="1058" extrusionOk="0">
                  <a:moveTo>
                    <a:pt x="357" y="1"/>
                  </a:moveTo>
                  <a:cubicBezTo>
                    <a:pt x="215" y="1"/>
                    <a:pt x="92" y="23"/>
                    <a:pt x="0" y="67"/>
                  </a:cubicBezTo>
                  <a:cubicBezTo>
                    <a:pt x="50" y="332"/>
                    <a:pt x="420" y="665"/>
                    <a:pt x="935" y="876"/>
                  </a:cubicBezTo>
                  <a:cubicBezTo>
                    <a:pt x="1229" y="997"/>
                    <a:pt x="1518" y="1057"/>
                    <a:pt x="1753" y="1057"/>
                  </a:cubicBezTo>
                  <a:cubicBezTo>
                    <a:pt x="1896" y="1057"/>
                    <a:pt x="2019" y="1035"/>
                    <a:pt x="2112" y="991"/>
                  </a:cubicBezTo>
                  <a:cubicBezTo>
                    <a:pt x="2062" y="724"/>
                    <a:pt x="1691" y="393"/>
                    <a:pt x="1177" y="182"/>
                  </a:cubicBezTo>
                  <a:cubicBezTo>
                    <a:pt x="881" y="61"/>
                    <a:pt x="592" y="1"/>
                    <a:pt x="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54;p24">
              <a:extLst>
                <a:ext uri="{FF2B5EF4-FFF2-40B4-BE49-F238E27FC236}">
                  <a16:creationId xmlns:a16="http://schemas.microsoft.com/office/drawing/2014/main" id="{D8D2B0B8-4053-CC7F-124B-BB88AC059323}"/>
                </a:ext>
              </a:extLst>
            </p:cNvPr>
            <p:cNvSpPr/>
            <p:nvPr/>
          </p:nvSpPr>
          <p:spPr>
            <a:xfrm>
              <a:off x="5104300" y="2733650"/>
              <a:ext cx="443350" cy="244000"/>
            </a:xfrm>
            <a:custGeom>
              <a:avLst/>
              <a:gdLst/>
              <a:ahLst/>
              <a:cxnLst/>
              <a:rect l="l" t="t" r="r" b="b"/>
              <a:pathLst>
                <a:path w="17734" h="9760" extrusionOk="0">
                  <a:moveTo>
                    <a:pt x="15739" y="1"/>
                  </a:moveTo>
                  <a:lnTo>
                    <a:pt x="15416" y="698"/>
                  </a:lnTo>
                  <a:cubicBezTo>
                    <a:pt x="15477" y="798"/>
                    <a:pt x="15631" y="958"/>
                    <a:pt x="16025" y="1146"/>
                  </a:cubicBezTo>
                  <a:cubicBezTo>
                    <a:pt x="16588" y="1416"/>
                    <a:pt x="16802" y="2108"/>
                    <a:pt x="16494" y="2650"/>
                  </a:cubicBezTo>
                  <a:cubicBezTo>
                    <a:pt x="15065" y="5155"/>
                    <a:pt x="11958" y="9266"/>
                    <a:pt x="6459" y="9266"/>
                  </a:cubicBezTo>
                  <a:cubicBezTo>
                    <a:pt x="4623" y="9266"/>
                    <a:pt x="2519" y="8808"/>
                    <a:pt x="122" y="7677"/>
                  </a:cubicBezTo>
                  <a:lnTo>
                    <a:pt x="120" y="7677"/>
                  </a:lnTo>
                  <a:lnTo>
                    <a:pt x="1" y="8035"/>
                  </a:lnTo>
                  <a:lnTo>
                    <a:pt x="2649" y="9041"/>
                  </a:lnTo>
                  <a:cubicBezTo>
                    <a:pt x="3070" y="9201"/>
                    <a:pt x="3498" y="9335"/>
                    <a:pt x="3931" y="9441"/>
                  </a:cubicBezTo>
                  <a:cubicBezTo>
                    <a:pt x="4065" y="9474"/>
                    <a:pt x="4197" y="9504"/>
                    <a:pt x="4330" y="9531"/>
                  </a:cubicBezTo>
                  <a:cubicBezTo>
                    <a:pt x="5062" y="9683"/>
                    <a:pt x="5806" y="9759"/>
                    <a:pt x="6549" y="9759"/>
                  </a:cubicBezTo>
                  <a:cubicBezTo>
                    <a:pt x="7169" y="9759"/>
                    <a:pt x="7788" y="9707"/>
                    <a:pt x="8401" y="9601"/>
                  </a:cubicBezTo>
                  <a:cubicBezTo>
                    <a:pt x="8516" y="9581"/>
                    <a:pt x="8632" y="9560"/>
                    <a:pt x="8747" y="9536"/>
                  </a:cubicBezTo>
                  <a:cubicBezTo>
                    <a:pt x="9407" y="9401"/>
                    <a:pt x="10057" y="9204"/>
                    <a:pt x="10692" y="8945"/>
                  </a:cubicBezTo>
                  <a:cubicBezTo>
                    <a:pt x="11176" y="8748"/>
                    <a:pt x="11643" y="8518"/>
                    <a:pt x="12088" y="8258"/>
                  </a:cubicBezTo>
                  <a:cubicBezTo>
                    <a:pt x="12178" y="8206"/>
                    <a:pt x="12267" y="8153"/>
                    <a:pt x="12355" y="8097"/>
                  </a:cubicBezTo>
                  <a:cubicBezTo>
                    <a:pt x="13286" y="7520"/>
                    <a:pt x="14121" y="6806"/>
                    <a:pt x="14836" y="5984"/>
                  </a:cubicBezTo>
                  <a:cubicBezTo>
                    <a:pt x="14903" y="5910"/>
                    <a:pt x="14966" y="5833"/>
                    <a:pt x="15030" y="5755"/>
                  </a:cubicBezTo>
                  <a:cubicBezTo>
                    <a:pt x="15617" y="5042"/>
                    <a:pt x="16117" y="4250"/>
                    <a:pt x="16513" y="3392"/>
                  </a:cubicBezTo>
                  <a:lnTo>
                    <a:pt x="16903" y="2550"/>
                  </a:lnTo>
                  <a:lnTo>
                    <a:pt x="17032" y="2276"/>
                  </a:lnTo>
                  <a:lnTo>
                    <a:pt x="17733" y="761"/>
                  </a:lnTo>
                  <a:lnTo>
                    <a:pt x="17733" y="761"/>
                  </a:lnTo>
                  <a:cubicBezTo>
                    <a:pt x="17707" y="763"/>
                    <a:pt x="17680" y="763"/>
                    <a:pt x="17653" y="763"/>
                  </a:cubicBezTo>
                  <a:cubicBezTo>
                    <a:pt x="17351" y="763"/>
                    <a:pt x="16980" y="687"/>
                    <a:pt x="16602" y="531"/>
                  </a:cubicBezTo>
                  <a:cubicBezTo>
                    <a:pt x="16249" y="386"/>
                    <a:pt x="15951" y="198"/>
                    <a:pt x="1573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55;p24">
              <a:extLst>
                <a:ext uri="{FF2B5EF4-FFF2-40B4-BE49-F238E27FC236}">
                  <a16:creationId xmlns:a16="http://schemas.microsoft.com/office/drawing/2014/main" id="{20EC23A4-BED3-6B0F-EC29-67AA575D0125}"/>
                </a:ext>
              </a:extLst>
            </p:cNvPr>
            <p:cNvSpPr/>
            <p:nvPr/>
          </p:nvSpPr>
          <p:spPr>
            <a:xfrm>
              <a:off x="4549275" y="2667375"/>
              <a:ext cx="142750" cy="163300"/>
            </a:xfrm>
            <a:custGeom>
              <a:avLst/>
              <a:gdLst/>
              <a:ahLst/>
              <a:cxnLst/>
              <a:rect l="l" t="t" r="r" b="b"/>
              <a:pathLst>
                <a:path w="5710" h="6532" extrusionOk="0">
                  <a:moveTo>
                    <a:pt x="3284" y="0"/>
                  </a:moveTo>
                  <a:cubicBezTo>
                    <a:pt x="2143" y="0"/>
                    <a:pt x="978" y="1045"/>
                    <a:pt x="523" y="2573"/>
                  </a:cubicBezTo>
                  <a:cubicBezTo>
                    <a:pt x="1" y="4335"/>
                    <a:pt x="620" y="6074"/>
                    <a:pt x="1908" y="6457"/>
                  </a:cubicBezTo>
                  <a:cubicBezTo>
                    <a:pt x="2078" y="6507"/>
                    <a:pt x="2251" y="6532"/>
                    <a:pt x="2425" y="6532"/>
                  </a:cubicBezTo>
                  <a:cubicBezTo>
                    <a:pt x="3567" y="6532"/>
                    <a:pt x="4732" y="5488"/>
                    <a:pt x="5187" y="3959"/>
                  </a:cubicBezTo>
                  <a:cubicBezTo>
                    <a:pt x="5710" y="2197"/>
                    <a:pt x="5092" y="459"/>
                    <a:pt x="3803" y="75"/>
                  </a:cubicBezTo>
                  <a:cubicBezTo>
                    <a:pt x="3632" y="25"/>
                    <a:pt x="3458" y="0"/>
                    <a:pt x="32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56;p24">
              <a:extLst>
                <a:ext uri="{FF2B5EF4-FFF2-40B4-BE49-F238E27FC236}">
                  <a16:creationId xmlns:a16="http://schemas.microsoft.com/office/drawing/2014/main" id="{E860AD48-85D7-1C98-3D73-60DF22B2062B}"/>
                </a:ext>
              </a:extLst>
            </p:cNvPr>
            <p:cNvSpPr/>
            <p:nvPr/>
          </p:nvSpPr>
          <p:spPr>
            <a:xfrm>
              <a:off x="4539175" y="2681025"/>
              <a:ext cx="125200" cy="130775"/>
            </a:xfrm>
            <a:custGeom>
              <a:avLst/>
              <a:gdLst/>
              <a:ahLst/>
              <a:cxnLst/>
              <a:rect l="l" t="t" r="r" b="b"/>
              <a:pathLst>
                <a:path w="5008" h="5231" extrusionOk="0">
                  <a:moveTo>
                    <a:pt x="2952" y="0"/>
                  </a:moveTo>
                  <a:cubicBezTo>
                    <a:pt x="1968" y="0"/>
                    <a:pt x="770" y="643"/>
                    <a:pt x="420" y="1821"/>
                  </a:cubicBezTo>
                  <a:cubicBezTo>
                    <a:pt x="0" y="3228"/>
                    <a:pt x="951" y="4867"/>
                    <a:pt x="1981" y="5173"/>
                  </a:cubicBezTo>
                  <a:cubicBezTo>
                    <a:pt x="2111" y="5212"/>
                    <a:pt x="2242" y="5230"/>
                    <a:pt x="2374" y="5230"/>
                  </a:cubicBezTo>
                  <a:cubicBezTo>
                    <a:pt x="3290" y="5230"/>
                    <a:pt x="4223" y="4340"/>
                    <a:pt x="4588" y="3110"/>
                  </a:cubicBezTo>
                  <a:cubicBezTo>
                    <a:pt x="5008" y="1701"/>
                    <a:pt x="4525" y="381"/>
                    <a:pt x="3496" y="75"/>
                  </a:cubicBezTo>
                  <a:cubicBezTo>
                    <a:pt x="3328" y="25"/>
                    <a:pt x="3144" y="0"/>
                    <a:pt x="29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57;p24">
              <a:extLst>
                <a:ext uri="{FF2B5EF4-FFF2-40B4-BE49-F238E27FC236}">
                  <a16:creationId xmlns:a16="http://schemas.microsoft.com/office/drawing/2014/main" id="{95EB0E8D-D39C-07DF-D4DC-10CAAEA95C67}"/>
                </a:ext>
              </a:extLst>
            </p:cNvPr>
            <p:cNvSpPr/>
            <p:nvPr/>
          </p:nvSpPr>
          <p:spPr>
            <a:xfrm>
              <a:off x="4558700" y="2709425"/>
              <a:ext cx="52075" cy="56600"/>
            </a:xfrm>
            <a:custGeom>
              <a:avLst/>
              <a:gdLst/>
              <a:ahLst/>
              <a:cxnLst/>
              <a:rect l="l" t="t" r="r" b="b"/>
              <a:pathLst>
                <a:path w="2083" h="2264" extrusionOk="0">
                  <a:moveTo>
                    <a:pt x="1336" y="0"/>
                  </a:moveTo>
                  <a:cubicBezTo>
                    <a:pt x="980" y="0"/>
                    <a:pt x="572" y="282"/>
                    <a:pt x="322" y="738"/>
                  </a:cubicBezTo>
                  <a:cubicBezTo>
                    <a:pt x="1" y="1324"/>
                    <a:pt x="63" y="1976"/>
                    <a:pt x="460" y="2192"/>
                  </a:cubicBezTo>
                  <a:cubicBezTo>
                    <a:pt x="548" y="2241"/>
                    <a:pt x="646" y="2264"/>
                    <a:pt x="747" y="2264"/>
                  </a:cubicBezTo>
                  <a:cubicBezTo>
                    <a:pt x="1104" y="2264"/>
                    <a:pt x="1511" y="1982"/>
                    <a:pt x="1761" y="1526"/>
                  </a:cubicBezTo>
                  <a:cubicBezTo>
                    <a:pt x="2082" y="940"/>
                    <a:pt x="2020" y="288"/>
                    <a:pt x="1623" y="72"/>
                  </a:cubicBezTo>
                  <a:cubicBezTo>
                    <a:pt x="1535" y="23"/>
                    <a:pt x="1438" y="0"/>
                    <a:pt x="13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58;p24">
              <a:extLst>
                <a:ext uri="{FF2B5EF4-FFF2-40B4-BE49-F238E27FC236}">
                  <a16:creationId xmlns:a16="http://schemas.microsoft.com/office/drawing/2014/main" id="{771AE952-B1DE-54DC-DB27-96B06FEF6EBE}"/>
                </a:ext>
              </a:extLst>
            </p:cNvPr>
            <p:cNvSpPr/>
            <p:nvPr/>
          </p:nvSpPr>
          <p:spPr>
            <a:xfrm>
              <a:off x="4570225" y="2711200"/>
              <a:ext cx="53825" cy="62125"/>
            </a:xfrm>
            <a:custGeom>
              <a:avLst/>
              <a:gdLst/>
              <a:ahLst/>
              <a:cxnLst/>
              <a:rect l="l" t="t" r="r" b="b"/>
              <a:pathLst>
                <a:path w="2153" h="2485" extrusionOk="0">
                  <a:moveTo>
                    <a:pt x="1162" y="1"/>
                  </a:moveTo>
                  <a:lnTo>
                    <a:pt x="1163" y="1"/>
                  </a:lnTo>
                  <a:lnTo>
                    <a:pt x="1163" y="1"/>
                  </a:lnTo>
                  <a:cubicBezTo>
                    <a:pt x="1163" y="1"/>
                    <a:pt x="1162" y="1"/>
                    <a:pt x="1162" y="1"/>
                  </a:cubicBezTo>
                  <a:close/>
                  <a:moveTo>
                    <a:pt x="1163" y="1"/>
                  </a:moveTo>
                  <a:lnTo>
                    <a:pt x="1163" y="1"/>
                  </a:lnTo>
                  <a:cubicBezTo>
                    <a:pt x="1559" y="218"/>
                    <a:pt x="1621" y="869"/>
                    <a:pt x="1300" y="1455"/>
                  </a:cubicBezTo>
                  <a:cubicBezTo>
                    <a:pt x="1050" y="1911"/>
                    <a:pt x="642" y="2193"/>
                    <a:pt x="286" y="2193"/>
                  </a:cubicBezTo>
                  <a:cubicBezTo>
                    <a:pt x="185" y="2193"/>
                    <a:pt x="88" y="2171"/>
                    <a:pt x="0" y="2123"/>
                  </a:cubicBezTo>
                  <a:lnTo>
                    <a:pt x="0" y="2123"/>
                  </a:lnTo>
                  <a:lnTo>
                    <a:pt x="530" y="2414"/>
                  </a:lnTo>
                  <a:cubicBezTo>
                    <a:pt x="619" y="2462"/>
                    <a:pt x="716" y="2485"/>
                    <a:pt x="817" y="2485"/>
                  </a:cubicBezTo>
                  <a:cubicBezTo>
                    <a:pt x="1174" y="2485"/>
                    <a:pt x="1582" y="2202"/>
                    <a:pt x="1832" y="1747"/>
                  </a:cubicBezTo>
                  <a:cubicBezTo>
                    <a:pt x="2153" y="1161"/>
                    <a:pt x="2091" y="510"/>
                    <a:pt x="1694" y="292"/>
                  </a:cubicBezTo>
                  <a:lnTo>
                    <a:pt x="11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59;p24">
              <a:extLst>
                <a:ext uri="{FF2B5EF4-FFF2-40B4-BE49-F238E27FC236}">
                  <a16:creationId xmlns:a16="http://schemas.microsoft.com/office/drawing/2014/main" id="{D70A8946-091A-B97D-F97B-2399F56F8B81}"/>
                </a:ext>
              </a:extLst>
            </p:cNvPr>
            <p:cNvSpPr/>
            <p:nvPr/>
          </p:nvSpPr>
          <p:spPr>
            <a:xfrm>
              <a:off x="4388650" y="2693800"/>
              <a:ext cx="248175" cy="388675"/>
            </a:xfrm>
            <a:custGeom>
              <a:avLst/>
              <a:gdLst/>
              <a:ahLst/>
              <a:cxnLst/>
              <a:rect l="l" t="t" r="r" b="b"/>
              <a:pathLst>
                <a:path w="9927" h="15547" extrusionOk="0">
                  <a:moveTo>
                    <a:pt x="5545" y="1"/>
                  </a:moveTo>
                  <a:cubicBezTo>
                    <a:pt x="5470" y="1"/>
                    <a:pt x="5395" y="3"/>
                    <a:pt x="5320" y="6"/>
                  </a:cubicBezTo>
                  <a:cubicBezTo>
                    <a:pt x="5202" y="11"/>
                    <a:pt x="5082" y="21"/>
                    <a:pt x="4962" y="35"/>
                  </a:cubicBezTo>
                  <a:cubicBezTo>
                    <a:pt x="4785" y="56"/>
                    <a:pt x="4610" y="85"/>
                    <a:pt x="4434" y="126"/>
                  </a:cubicBezTo>
                  <a:cubicBezTo>
                    <a:pt x="3786" y="271"/>
                    <a:pt x="3178" y="544"/>
                    <a:pt x="2645" y="921"/>
                  </a:cubicBezTo>
                  <a:cubicBezTo>
                    <a:pt x="2559" y="983"/>
                    <a:pt x="2472" y="1048"/>
                    <a:pt x="2390" y="1116"/>
                  </a:cubicBezTo>
                  <a:cubicBezTo>
                    <a:pt x="2066" y="1378"/>
                    <a:pt x="1774" y="1681"/>
                    <a:pt x="1523" y="2022"/>
                  </a:cubicBezTo>
                  <a:cubicBezTo>
                    <a:pt x="1185" y="2481"/>
                    <a:pt x="902" y="2975"/>
                    <a:pt x="679" y="3490"/>
                  </a:cubicBezTo>
                  <a:lnTo>
                    <a:pt x="679" y="3491"/>
                  </a:lnTo>
                  <a:cubicBezTo>
                    <a:pt x="635" y="3596"/>
                    <a:pt x="591" y="3702"/>
                    <a:pt x="552" y="3808"/>
                  </a:cubicBezTo>
                  <a:cubicBezTo>
                    <a:pt x="161" y="4841"/>
                    <a:pt x="0" y="5957"/>
                    <a:pt x="87" y="7077"/>
                  </a:cubicBezTo>
                  <a:cubicBezTo>
                    <a:pt x="94" y="7189"/>
                    <a:pt x="106" y="7301"/>
                    <a:pt x="120" y="7413"/>
                  </a:cubicBezTo>
                  <a:cubicBezTo>
                    <a:pt x="149" y="7655"/>
                    <a:pt x="191" y="7899"/>
                    <a:pt x="244" y="8140"/>
                  </a:cubicBezTo>
                  <a:cubicBezTo>
                    <a:pt x="443" y="9047"/>
                    <a:pt x="799" y="9885"/>
                    <a:pt x="1292" y="10630"/>
                  </a:cubicBezTo>
                  <a:cubicBezTo>
                    <a:pt x="1360" y="10733"/>
                    <a:pt x="1429" y="10833"/>
                    <a:pt x="1503" y="10930"/>
                  </a:cubicBezTo>
                  <a:cubicBezTo>
                    <a:pt x="2054" y="11680"/>
                    <a:pt x="2753" y="12324"/>
                    <a:pt x="3575" y="12834"/>
                  </a:cubicBezTo>
                  <a:cubicBezTo>
                    <a:pt x="3663" y="12890"/>
                    <a:pt x="3752" y="12943"/>
                    <a:pt x="3843" y="12995"/>
                  </a:cubicBezTo>
                  <a:cubicBezTo>
                    <a:pt x="3881" y="13016"/>
                    <a:pt x="3917" y="13037"/>
                    <a:pt x="3955" y="13057"/>
                  </a:cubicBezTo>
                  <a:lnTo>
                    <a:pt x="8260" y="15415"/>
                  </a:lnTo>
                  <a:cubicBezTo>
                    <a:pt x="8422" y="15504"/>
                    <a:pt x="8596" y="15547"/>
                    <a:pt x="8768" y="15547"/>
                  </a:cubicBezTo>
                  <a:cubicBezTo>
                    <a:pt x="8798" y="15547"/>
                    <a:pt x="8829" y="15545"/>
                    <a:pt x="8860" y="15542"/>
                  </a:cubicBezTo>
                  <a:cubicBezTo>
                    <a:pt x="9204" y="15514"/>
                    <a:pt x="9528" y="15318"/>
                    <a:pt x="9705" y="14994"/>
                  </a:cubicBezTo>
                  <a:cubicBezTo>
                    <a:pt x="9926" y="14590"/>
                    <a:pt x="9860" y="14108"/>
                    <a:pt x="9573" y="13781"/>
                  </a:cubicBezTo>
                  <a:cubicBezTo>
                    <a:pt x="9493" y="13690"/>
                    <a:pt x="9396" y="13610"/>
                    <a:pt x="9282" y="13549"/>
                  </a:cubicBezTo>
                  <a:lnTo>
                    <a:pt x="4978" y="11191"/>
                  </a:lnTo>
                  <a:cubicBezTo>
                    <a:pt x="4967" y="11185"/>
                    <a:pt x="4956" y="11178"/>
                    <a:pt x="4946" y="11171"/>
                  </a:cubicBezTo>
                  <a:cubicBezTo>
                    <a:pt x="4853" y="11121"/>
                    <a:pt x="4766" y="11069"/>
                    <a:pt x="4681" y="11015"/>
                  </a:cubicBezTo>
                  <a:cubicBezTo>
                    <a:pt x="3995" y="10585"/>
                    <a:pt x="3431" y="10024"/>
                    <a:pt x="3015" y="9370"/>
                  </a:cubicBezTo>
                  <a:cubicBezTo>
                    <a:pt x="2965" y="9290"/>
                    <a:pt x="2916" y="9209"/>
                    <a:pt x="2871" y="9128"/>
                  </a:cubicBezTo>
                  <a:cubicBezTo>
                    <a:pt x="2621" y="8682"/>
                    <a:pt x="2436" y="8198"/>
                    <a:pt x="2322" y="7683"/>
                  </a:cubicBezTo>
                  <a:cubicBezTo>
                    <a:pt x="2274" y="7463"/>
                    <a:pt x="2241" y="7242"/>
                    <a:pt x="2219" y="7021"/>
                  </a:cubicBezTo>
                  <a:cubicBezTo>
                    <a:pt x="2210" y="6924"/>
                    <a:pt x="2204" y="6827"/>
                    <a:pt x="2201" y="6730"/>
                  </a:cubicBezTo>
                  <a:cubicBezTo>
                    <a:pt x="2169" y="5921"/>
                    <a:pt x="2315" y="5111"/>
                    <a:pt x="2622" y="4374"/>
                  </a:cubicBezTo>
                  <a:cubicBezTo>
                    <a:pt x="2660" y="4285"/>
                    <a:pt x="2700" y="4197"/>
                    <a:pt x="2740" y="4109"/>
                  </a:cubicBezTo>
                  <a:cubicBezTo>
                    <a:pt x="2880" y="3822"/>
                    <a:pt x="3045" y="3546"/>
                    <a:pt x="3236" y="3288"/>
                  </a:cubicBezTo>
                  <a:cubicBezTo>
                    <a:pt x="3449" y="2999"/>
                    <a:pt x="3707" y="2761"/>
                    <a:pt x="3993" y="2576"/>
                  </a:cubicBezTo>
                  <a:cubicBezTo>
                    <a:pt x="4070" y="2528"/>
                    <a:pt x="4149" y="2483"/>
                    <a:pt x="4229" y="2442"/>
                  </a:cubicBezTo>
                  <a:cubicBezTo>
                    <a:pt x="4632" y="2234"/>
                    <a:pt x="5077" y="2126"/>
                    <a:pt x="5530" y="2126"/>
                  </a:cubicBezTo>
                  <a:cubicBezTo>
                    <a:pt x="5588" y="2126"/>
                    <a:pt x="5647" y="2127"/>
                    <a:pt x="5706" y="2131"/>
                  </a:cubicBezTo>
                  <a:cubicBezTo>
                    <a:pt x="5797" y="2136"/>
                    <a:pt x="5889" y="2145"/>
                    <a:pt x="5980" y="2160"/>
                  </a:cubicBezTo>
                  <a:cubicBezTo>
                    <a:pt x="6291" y="2207"/>
                    <a:pt x="6598" y="2307"/>
                    <a:pt x="6892" y="2460"/>
                  </a:cubicBezTo>
                  <a:cubicBezTo>
                    <a:pt x="7049" y="2542"/>
                    <a:pt x="7217" y="2580"/>
                    <a:pt x="7383" y="2580"/>
                  </a:cubicBezTo>
                  <a:cubicBezTo>
                    <a:pt x="7767" y="2580"/>
                    <a:pt x="8138" y="2372"/>
                    <a:pt x="8328" y="2007"/>
                  </a:cubicBezTo>
                  <a:cubicBezTo>
                    <a:pt x="8378" y="1911"/>
                    <a:pt x="8411" y="1810"/>
                    <a:pt x="8430" y="1710"/>
                  </a:cubicBezTo>
                  <a:cubicBezTo>
                    <a:pt x="8513" y="1262"/>
                    <a:pt x="8299" y="794"/>
                    <a:pt x="7875" y="571"/>
                  </a:cubicBezTo>
                  <a:cubicBezTo>
                    <a:pt x="7152" y="194"/>
                    <a:pt x="6351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60;p24">
              <a:extLst>
                <a:ext uri="{FF2B5EF4-FFF2-40B4-BE49-F238E27FC236}">
                  <a16:creationId xmlns:a16="http://schemas.microsoft.com/office/drawing/2014/main" id="{FB5D19B0-FA97-E831-D857-2800D2B2F9FF}"/>
                </a:ext>
              </a:extLst>
            </p:cNvPr>
            <p:cNvSpPr/>
            <p:nvPr/>
          </p:nvSpPr>
          <p:spPr>
            <a:xfrm>
              <a:off x="4536375" y="3004175"/>
              <a:ext cx="39600" cy="46225"/>
            </a:xfrm>
            <a:custGeom>
              <a:avLst/>
              <a:gdLst/>
              <a:ahLst/>
              <a:cxnLst/>
              <a:rect l="l" t="t" r="r" b="b"/>
              <a:pathLst>
                <a:path w="1584" h="1849" extrusionOk="0">
                  <a:moveTo>
                    <a:pt x="1306" y="1"/>
                  </a:moveTo>
                  <a:cubicBezTo>
                    <a:pt x="888" y="283"/>
                    <a:pt x="311" y="813"/>
                    <a:pt x="0" y="1713"/>
                  </a:cubicBezTo>
                  <a:lnTo>
                    <a:pt x="249" y="1849"/>
                  </a:lnTo>
                  <a:cubicBezTo>
                    <a:pt x="561" y="884"/>
                    <a:pt x="1197" y="380"/>
                    <a:pt x="1583" y="152"/>
                  </a:cubicBezTo>
                  <a:lnTo>
                    <a:pt x="1306" y="1"/>
                  </a:ln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61;p24">
              <a:extLst>
                <a:ext uri="{FF2B5EF4-FFF2-40B4-BE49-F238E27FC236}">
                  <a16:creationId xmlns:a16="http://schemas.microsoft.com/office/drawing/2014/main" id="{35AA0DBF-1359-77E9-779C-A86113C99966}"/>
                </a:ext>
              </a:extLst>
            </p:cNvPr>
            <p:cNvSpPr/>
            <p:nvPr/>
          </p:nvSpPr>
          <p:spPr>
            <a:xfrm>
              <a:off x="4478025" y="2969150"/>
              <a:ext cx="34275" cy="49525"/>
            </a:xfrm>
            <a:custGeom>
              <a:avLst/>
              <a:gdLst/>
              <a:ahLst/>
              <a:cxnLst/>
              <a:rect l="l" t="t" r="r" b="b"/>
              <a:pathLst>
                <a:path w="1371" h="1981" extrusionOk="0">
                  <a:moveTo>
                    <a:pt x="1106" y="1"/>
                  </a:moveTo>
                  <a:cubicBezTo>
                    <a:pt x="624" y="327"/>
                    <a:pt x="114" y="885"/>
                    <a:pt x="0" y="1820"/>
                  </a:cubicBezTo>
                  <a:cubicBezTo>
                    <a:pt x="88" y="1876"/>
                    <a:pt x="177" y="1929"/>
                    <a:pt x="268" y="1981"/>
                  </a:cubicBezTo>
                  <a:cubicBezTo>
                    <a:pt x="345" y="985"/>
                    <a:pt x="894" y="443"/>
                    <a:pt x="1371" y="157"/>
                  </a:cubicBezTo>
                  <a:cubicBezTo>
                    <a:pt x="1280" y="107"/>
                    <a:pt x="1191" y="55"/>
                    <a:pt x="1106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62;p24">
              <a:extLst>
                <a:ext uri="{FF2B5EF4-FFF2-40B4-BE49-F238E27FC236}">
                  <a16:creationId xmlns:a16="http://schemas.microsoft.com/office/drawing/2014/main" id="{872C449A-E331-179D-263F-3D7BE5D9E622}"/>
                </a:ext>
              </a:extLst>
            </p:cNvPr>
            <p:cNvSpPr/>
            <p:nvPr/>
          </p:nvSpPr>
          <p:spPr>
            <a:xfrm>
              <a:off x="4420950" y="2921975"/>
              <a:ext cx="43075" cy="45100"/>
            </a:xfrm>
            <a:custGeom>
              <a:avLst/>
              <a:gdLst/>
              <a:ahLst/>
              <a:cxnLst/>
              <a:rect l="l" t="t" r="r" b="b"/>
              <a:pathLst>
                <a:path w="1723" h="1804" extrusionOk="0">
                  <a:moveTo>
                    <a:pt x="1579" y="1"/>
                  </a:moveTo>
                  <a:cubicBezTo>
                    <a:pt x="1005" y="190"/>
                    <a:pt x="303" y="603"/>
                    <a:pt x="0" y="1503"/>
                  </a:cubicBezTo>
                  <a:cubicBezTo>
                    <a:pt x="67" y="1606"/>
                    <a:pt x="137" y="1705"/>
                    <a:pt x="211" y="1803"/>
                  </a:cubicBezTo>
                  <a:cubicBezTo>
                    <a:pt x="443" y="818"/>
                    <a:pt x="1162" y="411"/>
                    <a:pt x="1723" y="243"/>
                  </a:cubicBezTo>
                  <a:cubicBezTo>
                    <a:pt x="1673" y="163"/>
                    <a:pt x="1626" y="82"/>
                    <a:pt x="157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63;p24">
              <a:extLst>
                <a:ext uri="{FF2B5EF4-FFF2-40B4-BE49-F238E27FC236}">
                  <a16:creationId xmlns:a16="http://schemas.microsoft.com/office/drawing/2014/main" id="{26C729B9-B091-E7E7-6F70-D1B421668EC9}"/>
                </a:ext>
              </a:extLst>
            </p:cNvPr>
            <p:cNvSpPr/>
            <p:nvPr/>
          </p:nvSpPr>
          <p:spPr>
            <a:xfrm>
              <a:off x="4390800" y="2860925"/>
              <a:ext cx="53375" cy="18200"/>
            </a:xfrm>
            <a:custGeom>
              <a:avLst/>
              <a:gdLst/>
              <a:ahLst/>
              <a:cxnLst/>
              <a:rect l="l" t="t" r="r" b="b"/>
              <a:pathLst>
                <a:path w="2135" h="728" extrusionOk="0">
                  <a:moveTo>
                    <a:pt x="1480" y="1"/>
                  </a:moveTo>
                  <a:cubicBezTo>
                    <a:pt x="1005" y="1"/>
                    <a:pt x="505" y="80"/>
                    <a:pt x="99" y="327"/>
                  </a:cubicBezTo>
                  <a:cubicBezTo>
                    <a:pt x="66" y="346"/>
                    <a:pt x="32" y="367"/>
                    <a:pt x="1" y="392"/>
                  </a:cubicBezTo>
                  <a:cubicBezTo>
                    <a:pt x="8" y="504"/>
                    <a:pt x="20" y="616"/>
                    <a:pt x="34" y="728"/>
                  </a:cubicBezTo>
                  <a:cubicBezTo>
                    <a:pt x="99" y="669"/>
                    <a:pt x="169" y="614"/>
                    <a:pt x="246" y="569"/>
                  </a:cubicBezTo>
                  <a:cubicBezTo>
                    <a:pt x="597" y="356"/>
                    <a:pt x="1039" y="287"/>
                    <a:pt x="1469" y="287"/>
                  </a:cubicBezTo>
                  <a:cubicBezTo>
                    <a:pt x="1700" y="287"/>
                    <a:pt x="1928" y="307"/>
                    <a:pt x="2135" y="336"/>
                  </a:cubicBezTo>
                  <a:cubicBezTo>
                    <a:pt x="2126" y="239"/>
                    <a:pt x="2118" y="142"/>
                    <a:pt x="2115" y="43"/>
                  </a:cubicBezTo>
                  <a:cubicBezTo>
                    <a:pt x="1917" y="18"/>
                    <a:pt x="1701" y="1"/>
                    <a:pt x="1480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64;p24">
              <a:extLst>
                <a:ext uri="{FF2B5EF4-FFF2-40B4-BE49-F238E27FC236}">
                  <a16:creationId xmlns:a16="http://schemas.microsoft.com/office/drawing/2014/main" id="{80EF8C0B-F457-303F-0718-AF2697C77C3C}"/>
                </a:ext>
              </a:extLst>
            </p:cNvPr>
            <p:cNvSpPr/>
            <p:nvPr/>
          </p:nvSpPr>
          <p:spPr>
            <a:xfrm>
              <a:off x="4402425" y="2780550"/>
              <a:ext cx="54775" cy="22625"/>
            </a:xfrm>
            <a:custGeom>
              <a:avLst/>
              <a:gdLst/>
              <a:ahLst/>
              <a:cxnLst/>
              <a:rect l="l" t="t" r="r" b="b"/>
              <a:pathLst>
                <a:path w="2191" h="905" extrusionOk="0">
                  <a:moveTo>
                    <a:pt x="404" y="1"/>
                  </a:moveTo>
                  <a:cubicBezTo>
                    <a:pt x="386" y="1"/>
                    <a:pt x="368" y="1"/>
                    <a:pt x="351" y="2"/>
                  </a:cubicBezTo>
                  <a:cubicBezTo>
                    <a:pt x="275" y="3"/>
                    <a:pt x="201" y="11"/>
                    <a:pt x="129" y="21"/>
                  </a:cubicBezTo>
                  <a:lnTo>
                    <a:pt x="128" y="21"/>
                  </a:lnTo>
                  <a:cubicBezTo>
                    <a:pt x="84" y="126"/>
                    <a:pt x="40" y="232"/>
                    <a:pt x="1" y="338"/>
                  </a:cubicBezTo>
                  <a:cubicBezTo>
                    <a:pt x="114" y="306"/>
                    <a:pt x="234" y="289"/>
                    <a:pt x="358" y="286"/>
                  </a:cubicBezTo>
                  <a:cubicBezTo>
                    <a:pt x="373" y="286"/>
                    <a:pt x="388" y="286"/>
                    <a:pt x="404" y="286"/>
                  </a:cubicBezTo>
                  <a:cubicBezTo>
                    <a:pt x="997" y="286"/>
                    <a:pt x="1612" y="599"/>
                    <a:pt x="2071" y="904"/>
                  </a:cubicBezTo>
                  <a:cubicBezTo>
                    <a:pt x="2109" y="815"/>
                    <a:pt x="2149" y="727"/>
                    <a:pt x="2191" y="641"/>
                  </a:cubicBezTo>
                  <a:cubicBezTo>
                    <a:pt x="1703" y="319"/>
                    <a:pt x="1054" y="1"/>
                    <a:pt x="404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65;p24">
              <a:extLst>
                <a:ext uri="{FF2B5EF4-FFF2-40B4-BE49-F238E27FC236}">
                  <a16:creationId xmlns:a16="http://schemas.microsoft.com/office/drawing/2014/main" id="{29D13591-165F-4ADE-7776-038974C4F85B}"/>
                </a:ext>
              </a:extLst>
            </p:cNvPr>
            <p:cNvSpPr/>
            <p:nvPr/>
          </p:nvSpPr>
          <p:spPr>
            <a:xfrm>
              <a:off x="4448400" y="2716850"/>
              <a:ext cx="46000" cy="41400"/>
            </a:xfrm>
            <a:custGeom>
              <a:avLst/>
              <a:gdLst/>
              <a:ahLst/>
              <a:cxnLst/>
              <a:rect l="l" t="t" r="r" b="b"/>
              <a:pathLst>
                <a:path w="1840" h="1656" extrusionOk="0">
                  <a:moveTo>
                    <a:pt x="255" y="0"/>
                  </a:moveTo>
                  <a:cubicBezTo>
                    <a:pt x="169" y="62"/>
                    <a:pt x="82" y="126"/>
                    <a:pt x="0" y="194"/>
                  </a:cubicBezTo>
                  <a:cubicBezTo>
                    <a:pt x="840" y="546"/>
                    <a:pt x="1324" y="1135"/>
                    <a:pt x="1603" y="1656"/>
                  </a:cubicBezTo>
                  <a:cubicBezTo>
                    <a:pt x="1680" y="1607"/>
                    <a:pt x="1759" y="1561"/>
                    <a:pt x="1839" y="1520"/>
                  </a:cubicBezTo>
                  <a:cubicBezTo>
                    <a:pt x="1550" y="985"/>
                    <a:pt x="1064" y="385"/>
                    <a:pt x="25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66;p24">
              <a:extLst>
                <a:ext uri="{FF2B5EF4-FFF2-40B4-BE49-F238E27FC236}">
                  <a16:creationId xmlns:a16="http://schemas.microsoft.com/office/drawing/2014/main" id="{DEAC000D-3856-C9DF-F992-3531B09B34C9}"/>
                </a:ext>
              </a:extLst>
            </p:cNvPr>
            <p:cNvSpPr/>
            <p:nvPr/>
          </p:nvSpPr>
          <p:spPr>
            <a:xfrm>
              <a:off x="4512700" y="2693975"/>
              <a:ext cx="25925" cy="53825"/>
            </a:xfrm>
            <a:custGeom>
              <a:avLst/>
              <a:gdLst/>
              <a:ahLst/>
              <a:cxnLst/>
              <a:rect l="l" t="t" r="r" b="b"/>
              <a:pathLst>
                <a:path w="1037" h="2153" extrusionOk="0">
                  <a:moveTo>
                    <a:pt x="359" y="0"/>
                  </a:moveTo>
                  <a:cubicBezTo>
                    <a:pt x="240" y="5"/>
                    <a:pt x="120" y="14"/>
                    <a:pt x="0" y="29"/>
                  </a:cubicBezTo>
                  <a:cubicBezTo>
                    <a:pt x="647" y="655"/>
                    <a:pt x="765" y="1506"/>
                    <a:pt x="744" y="2124"/>
                  </a:cubicBezTo>
                  <a:cubicBezTo>
                    <a:pt x="837" y="2129"/>
                    <a:pt x="927" y="2139"/>
                    <a:pt x="1018" y="2153"/>
                  </a:cubicBezTo>
                  <a:cubicBezTo>
                    <a:pt x="1037" y="1529"/>
                    <a:pt x="931" y="676"/>
                    <a:pt x="35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67;p24">
              <a:extLst>
                <a:ext uri="{FF2B5EF4-FFF2-40B4-BE49-F238E27FC236}">
                  <a16:creationId xmlns:a16="http://schemas.microsoft.com/office/drawing/2014/main" id="{DA109840-E734-D7FE-1743-FEB36A952382}"/>
                </a:ext>
              </a:extLst>
            </p:cNvPr>
            <p:cNvSpPr/>
            <p:nvPr/>
          </p:nvSpPr>
          <p:spPr>
            <a:xfrm>
              <a:off x="4579075" y="3019075"/>
              <a:ext cx="70150" cy="84325"/>
            </a:xfrm>
            <a:custGeom>
              <a:avLst/>
              <a:gdLst/>
              <a:ahLst/>
              <a:cxnLst/>
              <a:rect l="l" t="t" r="r" b="b"/>
              <a:pathLst>
                <a:path w="2806" h="3373" extrusionOk="0">
                  <a:moveTo>
                    <a:pt x="1568" y="0"/>
                  </a:moveTo>
                  <a:cubicBezTo>
                    <a:pt x="1422" y="0"/>
                    <a:pt x="1251" y="77"/>
                    <a:pt x="1076" y="214"/>
                  </a:cubicBezTo>
                  <a:cubicBezTo>
                    <a:pt x="832" y="403"/>
                    <a:pt x="579" y="711"/>
                    <a:pt x="378" y="1088"/>
                  </a:cubicBezTo>
                  <a:cubicBezTo>
                    <a:pt x="192" y="1435"/>
                    <a:pt x="78" y="1783"/>
                    <a:pt x="43" y="2075"/>
                  </a:cubicBezTo>
                  <a:cubicBezTo>
                    <a:pt x="1" y="2425"/>
                    <a:pt x="69" y="2698"/>
                    <a:pt x="255" y="2796"/>
                  </a:cubicBezTo>
                  <a:lnTo>
                    <a:pt x="1328" y="3372"/>
                  </a:lnTo>
                  <a:lnTo>
                    <a:pt x="2806" y="615"/>
                  </a:lnTo>
                  <a:lnTo>
                    <a:pt x="1732" y="40"/>
                  </a:lnTo>
                  <a:cubicBezTo>
                    <a:pt x="1683" y="13"/>
                    <a:pt x="1627" y="0"/>
                    <a:pt x="15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68;p24">
              <a:extLst>
                <a:ext uri="{FF2B5EF4-FFF2-40B4-BE49-F238E27FC236}">
                  <a16:creationId xmlns:a16="http://schemas.microsoft.com/office/drawing/2014/main" id="{66372AA2-D050-AEDC-E1D0-182D6106D48E}"/>
                </a:ext>
              </a:extLst>
            </p:cNvPr>
            <p:cNvSpPr/>
            <p:nvPr/>
          </p:nvSpPr>
          <p:spPr>
            <a:xfrm>
              <a:off x="4648500" y="3125450"/>
              <a:ext cx="87500" cy="43550"/>
            </a:xfrm>
            <a:custGeom>
              <a:avLst/>
              <a:gdLst/>
              <a:ahLst/>
              <a:cxnLst/>
              <a:rect l="l" t="t" r="r" b="b"/>
              <a:pathLst>
                <a:path w="3500" h="1742" extrusionOk="0">
                  <a:moveTo>
                    <a:pt x="598" y="0"/>
                  </a:moveTo>
                  <a:cubicBezTo>
                    <a:pt x="442" y="0"/>
                    <a:pt x="287" y="69"/>
                    <a:pt x="182" y="202"/>
                  </a:cubicBezTo>
                  <a:cubicBezTo>
                    <a:pt x="0" y="432"/>
                    <a:pt x="38" y="765"/>
                    <a:pt x="267" y="948"/>
                  </a:cubicBezTo>
                  <a:cubicBezTo>
                    <a:pt x="326" y="995"/>
                    <a:pt x="542" y="1162"/>
                    <a:pt x="851" y="1330"/>
                  </a:cubicBezTo>
                  <a:cubicBezTo>
                    <a:pt x="1223" y="1534"/>
                    <a:pt x="1729" y="1741"/>
                    <a:pt x="2248" y="1741"/>
                  </a:cubicBezTo>
                  <a:cubicBezTo>
                    <a:pt x="2569" y="1741"/>
                    <a:pt x="2894" y="1663"/>
                    <a:pt x="3196" y="1456"/>
                  </a:cubicBezTo>
                  <a:cubicBezTo>
                    <a:pt x="3439" y="1289"/>
                    <a:pt x="3499" y="957"/>
                    <a:pt x="3334" y="715"/>
                  </a:cubicBezTo>
                  <a:cubicBezTo>
                    <a:pt x="3231" y="565"/>
                    <a:pt x="3064" y="484"/>
                    <a:pt x="2894" y="484"/>
                  </a:cubicBezTo>
                  <a:cubicBezTo>
                    <a:pt x="2790" y="484"/>
                    <a:pt x="2685" y="514"/>
                    <a:pt x="2593" y="577"/>
                  </a:cubicBezTo>
                  <a:cubicBezTo>
                    <a:pt x="2497" y="644"/>
                    <a:pt x="2378" y="671"/>
                    <a:pt x="2249" y="671"/>
                  </a:cubicBezTo>
                  <a:cubicBezTo>
                    <a:pt x="1796" y="671"/>
                    <a:pt x="1206" y="332"/>
                    <a:pt x="929" y="115"/>
                  </a:cubicBezTo>
                  <a:cubicBezTo>
                    <a:pt x="831" y="38"/>
                    <a:pt x="714" y="0"/>
                    <a:pt x="598" y="0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69;p24">
              <a:extLst>
                <a:ext uri="{FF2B5EF4-FFF2-40B4-BE49-F238E27FC236}">
                  <a16:creationId xmlns:a16="http://schemas.microsoft.com/office/drawing/2014/main" id="{C38701BE-22AA-F92D-9B89-32A2AE8CD7AC}"/>
                </a:ext>
              </a:extLst>
            </p:cNvPr>
            <p:cNvSpPr/>
            <p:nvPr/>
          </p:nvSpPr>
          <p:spPr>
            <a:xfrm>
              <a:off x="4603800" y="3032650"/>
              <a:ext cx="98225" cy="111025"/>
            </a:xfrm>
            <a:custGeom>
              <a:avLst/>
              <a:gdLst/>
              <a:ahLst/>
              <a:cxnLst/>
              <a:rect l="l" t="t" r="r" b="b"/>
              <a:pathLst>
                <a:path w="3929" h="4441" extrusionOk="0">
                  <a:moveTo>
                    <a:pt x="2489" y="0"/>
                  </a:moveTo>
                  <a:cubicBezTo>
                    <a:pt x="2282" y="0"/>
                    <a:pt x="2057" y="21"/>
                    <a:pt x="1817" y="72"/>
                  </a:cubicBezTo>
                  <a:cubicBezTo>
                    <a:pt x="1767" y="45"/>
                    <a:pt x="1712" y="33"/>
                    <a:pt x="1652" y="33"/>
                  </a:cubicBezTo>
                  <a:cubicBezTo>
                    <a:pt x="1303" y="33"/>
                    <a:pt x="809" y="470"/>
                    <a:pt x="461" y="1120"/>
                  </a:cubicBezTo>
                  <a:cubicBezTo>
                    <a:pt x="63" y="1863"/>
                    <a:pt x="1" y="2609"/>
                    <a:pt x="314" y="2814"/>
                  </a:cubicBezTo>
                  <a:lnTo>
                    <a:pt x="308" y="2824"/>
                  </a:lnTo>
                  <a:cubicBezTo>
                    <a:pt x="763" y="4036"/>
                    <a:pt x="1703" y="4441"/>
                    <a:pt x="1703" y="4441"/>
                  </a:cubicBezTo>
                  <a:lnTo>
                    <a:pt x="3929" y="378"/>
                  </a:lnTo>
                  <a:cubicBezTo>
                    <a:pt x="3929" y="378"/>
                    <a:pt x="3373" y="0"/>
                    <a:pt x="2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70;p24">
              <a:extLst>
                <a:ext uri="{FF2B5EF4-FFF2-40B4-BE49-F238E27FC236}">
                  <a16:creationId xmlns:a16="http://schemas.microsoft.com/office/drawing/2014/main" id="{E84F5300-3BCC-A7FA-DFA2-955C79A5FA0A}"/>
                </a:ext>
              </a:extLst>
            </p:cNvPr>
            <p:cNvSpPr/>
            <p:nvPr/>
          </p:nvSpPr>
          <p:spPr>
            <a:xfrm>
              <a:off x="4634850" y="3040650"/>
              <a:ext cx="79750" cy="104700"/>
            </a:xfrm>
            <a:custGeom>
              <a:avLst/>
              <a:gdLst/>
              <a:ahLst/>
              <a:cxnLst/>
              <a:rect l="l" t="t" r="r" b="b"/>
              <a:pathLst>
                <a:path w="3190" h="4188" extrusionOk="0">
                  <a:moveTo>
                    <a:pt x="2444" y="0"/>
                  </a:moveTo>
                  <a:cubicBezTo>
                    <a:pt x="1928" y="0"/>
                    <a:pt x="1199" y="646"/>
                    <a:pt x="684" y="1606"/>
                  </a:cubicBezTo>
                  <a:cubicBezTo>
                    <a:pt x="81" y="2730"/>
                    <a:pt x="1" y="3860"/>
                    <a:pt x="504" y="4130"/>
                  </a:cubicBezTo>
                  <a:cubicBezTo>
                    <a:pt x="577" y="4169"/>
                    <a:pt x="659" y="4188"/>
                    <a:pt x="747" y="4188"/>
                  </a:cubicBezTo>
                  <a:cubicBezTo>
                    <a:pt x="1262" y="4188"/>
                    <a:pt x="1991" y="3543"/>
                    <a:pt x="2506" y="2582"/>
                  </a:cubicBezTo>
                  <a:cubicBezTo>
                    <a:pt x="3109" y="1458"/>
                    <a:pt x="3189" y="328"/>
                    <a:pt x="2687" y="58"/>
                  </a:cubicBezTo>
                  <a:cubicBezTo>
                    <a:pt x="2613" y="19"/>
                    <a:pt x="2531" y="0"/>
                    <a:pt x="2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71;p24">
              <a:extLst>
                <a:ext uri="{FF2B5EF4-FFF2-40B4-BE49-F238E27FC236}">
                  <a16:creationId xmlns:a16="http://schemas.microsoft.com/office/drawing/2014/main" id="{6CE3FC2A-F14D-4D87-0524-F8FB93F0B8FA}"/>
                </a:ext>
              </a:extLst>
            </p:cNvPr>
            <p:cNvSpPr/>
            <p:nvPr/>
          </p:nvSpPr>
          <p:spPr>
            <a:xfrm>
              <a:off x="4653975" y="3055700"/>
              <a:ext cx="54575" cy="78775"/>
            </a:xfrm>
            <a:custGeom>
              <a:avLst/>
              <a:gdLst/>
              <a:ahLst/>
              <a:cxnLst/>
              <a:rect l="l" t="t" r="r" b="b"/>
              <a:pathLst>
                <a:path w="2183" h="3151" extrusionOk="0">
                  <a:moveTo>
                    <a:pt x="1620" y="0"/>
                  </a:moveTo>
                  <a:cubicBezTo>
                    <a:pt x="1608" y="0"/>
                    <a:pt x="1596" y="1"/>
                    <a:pt x="1584" y="2"/>
                  </a:cubicBezTo>
                  <a:cubicBezTo>
                    <a:pt x="1770" y="339"/>
                    <a:pt x="1662" y="1039"/>
                    <a:pt x="1288" y="1734"/>
                  </a:cubicBezTo>
                  <a:cubicBezTo>
                    <a:pt x="913" y="2436"/>
                    <a:pt x="386" y="2914"/>
                    <a:pt x="1" y="2942"/>
                  </a:cubicBezTo>
                  <a:cubicBezTo>
                    <a:pt x="40" y="3014"/>
                    <a:pt x="93" y="3072"/>
                    <a:pt x="161" y="3107"/>
                  </a:cubicBezTo>
                  <a:cubicBezTo>
                    <a:pt x="217" y="3136"/>
                    <a:pt x="278" y="3151"/>
                    <a:pt x="345" y="3151"/>
                  </a:cubicBezTo>
                  <a:cubicBezTo>
                    <a:pt x="732" y="3151"/>
                    <a:pt x="1279" y="2665"/>
                    <a:pt x="1667" y="1942"/>
                  </a:cubicBezTo>
                  <a:cubicBezTo>
                    <a:pt x="2120" y="1097"/>
                    <a:pt x="2182" y="247"/>
                    <a:pt x="1803" y="44"/>
                  </a:cubicBezTo>
                  <a:cubicBezTo>
                    <a:pt x="1748" y="14"/>
                    <a:pt x="1687" y="0"/>
                    <a:pt x="1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72;p24">
              <a:extLst>
                <a:ext uri="{FF2B5EF4-FFF2-40B4-BE49-F238E27FC236}">
                  <a16:creationId xmlns:a16="http://schemas.microsoft.com/office/drawing/2014/main" id="{E6088919-1131-2F05-7F49-B8ED077F3CE2}"/>
                </a:ext>
              </a:extLst>
            </p:cNvPr>
            <p:cNvSpPr/>
            <p:nvPr/>
          </p:nvSpPr>
          <p:spPr>
            <a:xfrm>
              <a:off x="4649375" y="3055725"/>
              <a:ext cx="48875" cy="73525"/>
            </a:xfrm>
            <a:custGeom>
              <a:avLst/>
              <a:gdLst/>
              <a:ahLst/>
              <a:cxnLst/>
              <a:rect l="l" t="t" r="r" b="b"/>
              <a:pathLst>
                <a:path w="1955" h="2941" extrusionOk="0">
                  <a:moveTo>
                    <a:pt x="1768" y="1"/>
                  </a:moveTo>
                  <a:lnTo>
                    <a:pt x="1768" y="1"/>
                  </a:lnTo>
                  <a:cubicBezTo>
                    <a:pt x="1385" y="29"/>
                    <a:pt x="857" y="506"/>
                    <a:pt x="482" y="1206"/>
                  </a:cubicBezTo>
                  <a:lnTo>
                    <a:pt x="482" y="1208"/>
                  </a:lnTo>
                  <a:cubicBezTo>
                    <a:pt x="108" y="1903"/>
                    <a:pt x="0" y="2601"/>
                    <a:pt x="185" y="2941"/>
                  </a:cubicBezTo>
                  <a:cubicBezTo>
                    <a:pt x="570" y="2913"/>
                    <a:pt x="1097" y="2435"/>
                    <a:pt x="1472" y="1733"/>
                  </a:cubicBezTo>
                  <a:cubicBezTo>
                    <a:pt x="1846" y="1038"/>
                    <a:pt x="1954" y="338"/>
                    <a:pt x="17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73;p24">
              <a:extLst>
                <a:ext uri="{FF2B5EF4-FFF2-40B4-BE49-F238E27FC236}">
                  <a16:creationId xmlns:a16="http://schemas.microsoft.com/office/drawing/2014/main" id="{7CB8876E-2E6D-1A2B-D672-C9975DFF578A}"/>
                </a:ext>
              </a:extLst>
            </p:cNvPr>
            <p:cNvSpPr/>
            <p:nvPr/>
          </p:nvSpPr>
          <p:spPr>
            <a:xfrm>
              <a:off x="4674425" y="3037025"/>
              <a:ext cx="111900" cy="75200"/>
            </a:xfrm>
            <a:custGeom>
              <a:avLst/>
              <a:gdLst/>
              <a:ahLst/>
              <a:cxnLst/>
              <a:rect l="l" t="t" r="r" b="b"/>
              <a:pathLst>
                <a:path w="4476" h="3008" extrusionOk="0">
                  <a:moveTo>
                    <a:pt x="1924" y="0"/>
                  </a:moveTo>
                  <a:cubicBezTo>
                    <a:pt x="1473" y="0"/>
                    <a:pt x="975" y="91"/>
                    <a:pt x="431" y="273"/>
                  </a:cubicBezTo>
                  <a:cubicBezTo>
                    <a:pt x="151" y="365"/>
                    <a:pt x="1" y="667"/>
                    <a:pt x="95" y="945"/>
                  </a:cubicBezTo>
                  <a:cubicBezTo>
                    <a:pt x="139" y="1079"/>
                    <a:pt x="230" y="1182"/>
                    <a:pt x="343" y="1244"/>
                  </a:cubicBezTo>
                  <a:cubicBezTo>
                    <a:pt x="421" y="1286"/>
                    <a:pt x="509" y="1310"/>
                    <a:pt x="600" y="1310"/>
                  </a:cubicBezTo>
                  <a:cubicBezTo>
                    <a:pt x="655" y="1310"/>
                    <a:pt x="712" y="1301"/>
                    <a:pt x="767" y="1282"/>
                  </a:cubicBezTo>
                  <a:cubicBezTo>
                    <a:pt x="1203" y="1136"/>
                    <a:pt x="1588" y="1063"/>
                    <a:pt x="1919" y="1063"/>
                  </a:cubicBezTo>
                  <a:cubicBezTo>
                    <a:pt x="2255" y="1063"/>
                    <a:pt x="2537" y="1139"/>
                    <a:pt x="2761" y="1289"/>
                  </a:cubicBezTo>
                  <a:cubicBezTo>
                    <a:pt x="3339" y="1680"/>
                    <a:pt x="3397" y="2498"/>
                    <a:pt x="3397" y="2506"/>
                  </a:cubicBezTo>
                  <a:cubicBezTo>
                    <a:pt x="3414" y="2789"/>
                    <a:pt x="3651" y="3008"/>
                    <a:pt x="3931" y="3008"/>
                  </a:cubicBezTo>
                  <a:cubicBezTo>
                    <a:pt x="3940" y="3008"/>
                    <a:pt x="3949" y="3007"/>
                    <a:pt x="3959" y="3007"/>
                  </a:cubicBezTo>
                  <a:cubicBezTo>
                    <a:pt x="4251" y="2990"/>
                    <a:pt x="4475" y="2742"/>
                    <a:pt x="4460" y="2450"/>
                  </a:cubicBezTo>
                  <a:cubicBezTo>
                    <a:pt x="4457" y="2395"/>
                    <a:pt x="4381" y="1107"/>
                    <a:pt x="3366" y="415"/>
                  </a:cubicBezTo>
                  <a:cubicBezTo>
                    <a:pt x="2962" y="138"/>
                    <a:pt x="2479" y="0"/>
                    <a:pt x="1924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74;p24">
              <a:extLst>
                <a:ext uri="{FF2B5EF4-FFF2-40B4-BE49-F238E27FC236}">
                  <a16:creationId xmlns:a16="http://schemas.microsoft.com/office/drawing/2014/main" id="{EDE96A38-498E-4C06-B26E-515E6B0844D0}"/>
                </a:ext>
              </a:extLst>
            </p:cNvPr>
            <p:cNvSpPr/>
            <p:nvPr/>
          </p:nvSpPr>
          <p:spPr>
            <a:xfrm>
              <a:off x="4650925" y="3071025"/>
              <a:ext cx="109950" cy="70200"/>
            </a:xfrm>
            <a:custGeom>
              <a:avLst/>
              <a:gdLst/>
              <a:ahLst/>
              <a:cxnLst/>
              <a:rect l="l" t="t" r="r" b="b"/>
              <a:pathLst>
                <a:path w="4398" h="2808" extrusionOk="0">
                  <a:moveTo>
                    <a:pt x="1629" y="0"/>
                  </a:moveTo>
                  <a:cubicBezTo>
                    <a:pt x="1264" y="0"/>
                    <a:pt x="871" y="55"/>
                    <a:pt x="453" y="166"/>
                  </a:cubicBezTo>
                  <a:cubicBezTo>
                    <a:pt x="170" y="241"/>
                    <a:pt x="0" y="532"/>
                    <a:pt x="76" y="817"/>
                  </a:cubicBezTo>
                  <a:cubicBezTo>
                    <a:pt x="114" y="964"/>
                    <a:pt x="211" y="1080"/>
                    <a:pt x="335" y="1147"/>
                  </a:cubicBezTo>
                  <a:cubicBezTo>
                    <a:pt x="412" y="1190"/>
                    <a:pt x="500" y="1213"/>
                    <a:pt x="591" y="1213"/>
                  </a:cubicBezTo>
                  <a:cubicBezTo>
                    <a:pt x="635" y="1213"/>
                    <a:pt x="681" y="1208"/>
                    <a:pt x="726" y="1196"/>
                  </a:cubicBezTo>
                  <a:cubicBezTo>
                    <a:pt x="1054" y="1109"/>
                    <a:pt x="1354" y="1066"/>
                    <a:pt x="1625" y="1066"/>
                  </a:cubicBezTo>
                  <a:cubicBezTo>
                    <a:pt x="1999" y="1066"/>
                    <a:pt x="2318" y="1148"/>
                    <a:pt x="2580" y="1312"/>
                  </a:cubicBezTo>
                  <a:cubicBezTo>
                    <a:pt x="3161" y="1679"/>
                    <a:pt x="3298" y="2362"/>
                    <a:pt x="3299" y="2369"/>
                  </a:cubicBezTo>
                  <a:cubicBezTo>
                    <a:pt x="3344" y="2627"/>
                    <a:pt x="3567" y="2808"/>
                    <a:pt x="3820" y="2808"/>
                  </a:cubicBezTo>
                  <a:cubicBezTo>
                    <a:pt x="3851" y="2808"/>
                    <a:pt x="3883" y="2805"/>
                    <a:pt x="3914" y="2800"/>
                  </a:cubicBezTo>
                  <a:cubicBezTo>
                    <a:pt x="4203" y="2750"/>
                    <a:pt x="4397" y="2472"/>
                    <a:pt x="4347" y="2183"/>
                  </a:cubicBezTo>
                  <a:cubicBezTo>
                    <a:pt x="4340" y="2136"/>
                    <a:pt x="4140" y="1047"/>
                    <a:pt x="3164" y="423"/>
                  </a:cubicBezTo>
                  <a:cubicBezTo>
                    <a:pt x="2726" y="141"/>
                    <a:pt x="2212" y="0"/>
                    <a:pt x="1629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75;p24">
              <a:extLst>
                <a:ext uri="{FF2B5EF4-FFF2-40B4-BE49-F238E27FC236}">
                  <a16:creationId xmlns:a16="http://schemas.microsoft.com/office/drawing/2014/main" id="{59F742FF-701C-B11D-00A0-7EB61B1C8156}"/>
                </a:ext>
              </a:extLst>
            </p:cNvPr>
            <p:cNvSpPr/>
            <p:nvPr/>
          </p:nvSpPr>
          <p:spPr>
            <a:xfrm>
              <a:off x="4388650" y="2693825"/>
              <a:ext cx="217350" cy="377150"/>
            </a:xfrm>
            <a:custGeom>
              <a:avLst/>
              <a:gdLst/>
              <a:ahLst/>
              <a:cxnLst/>
              <a:rect l="l" t="t" r="r" b="b"/>
              <a:pathLst>
                <a:path w="8694" h="15086" extrusionOk="0">
                  <a:moveTo>
                    <a:pt x="5539" y="0"/>
                  </a:moveTo>
                  <a:cubicBezTo>
                    <a:pt x="5467" y="0"/>
                    <a:pt x="5394" y="2"/>
                    <a:pt x="5321" y="5"/>
                  </a:cubicBezTo>
                  <a:cubicBezTo>
                    <a:pt x="5202" y="11"/>
                    <a:pt x="5082" y="20"/>
                    <a:pt x="4962" y="35"/>
                  </a:cubicBezTo>
                  <a:cubicBezTo>
                    <a:pt x="4785" y="55"/>
                    <a:pt x="4610" y="85"/>
                    <a:pt x="4434" y="125"/>
                  </a:cubicBezTo>
                  <a:cubicBezTo>
                    <a:pt x="3786" y="272"/>
                    <a:pt x="3178" y="544"/>
                    <a:pt x="2645" y="921"/>
                  </a:cubicBezTo>
                  <a:cubicBezTo>
                    <a:pt x="2559" y="983"/>
                    <a:pt x="2472" y="1047"/>
                    <a:pt x="2390" y="1115"/>
                  </a:cubicBezTo>
                  <a:cubicBezTo>
                    <a:pt x="2066" y="1377"/>
                    <a:pt x="1774" y="1682"/>
                    <a:pt x="1523" y="2023"/>
                  </a:cubicBezTo>
                  <a:cubicBezTo>
                    <a:pt x="1185" y="2482"/>
                    <a:pt x="902" y="2974"/>
                    <a:pt x="679" y="3490"/>
                  </a:cubicBezTo>
                  <a:cubicBezTo>
                    <a:pt x="635" y="3595"/>
                    <a:pt x="591" y="3701"/>
                    <a:pt x="552" y="3807"/>
                  </a:cubicBezTo>
                  <a:cubicBezTo>
                    <a:pt x="161" y="4840"/>
                    <a:pt x="0" y="5956"/>
                    <a:pt x="87" y="7076"/>
                  </a:cubicBezTo>
                  <a:cubicBezTo>
                    <a:pt x="94" y="7188"/>
                    <a:pt x="106" y="7300"/>
                    <a:pt x="120" y="7412"/>
                  </a:cubicBezTo>
                  <a:cubicBezTo>
                    <a:pt x="149" y="7654"/>
                    <a:pt x="191" y="7898"/>
                    <a:pt x="244" y="8139"/>
                  </a:cubicBezTo>
                  <a:cubicBezTo>
                    <a:pt x="443" y="9046"/>
                    <a:pt x="799" y="9884"/>
                    <a:pt x="1292" y="10629"/>
                  </a:cubicBezTo>
                  <a:cubicBezTo>
                    <a:pt x="1360" y="10732"/>
                    <a:pt x="1429" y="10832"/>
                    <a:pt x="1503" y="10929"/>
                  </a:cubicBezTo>
                  <a:cubicBezTo>
                    <a:pt x="2054" y="11679"/>
                    <a:pt x="2753" y="12323"/>
                    <a:pt x="3575" y="12833"/>
                  </a:cubicBezTo>
                  <a:cubicBezTo>
                    <a:pt x="3663" y="12889"/>
                    <a:pt x="3752" y="12942"/>
                    <a:pt x="3843" y="12994"/>
                  </a:cubicBezTo>
                  <a:cubicBezTo>
                    <a:pt x="3881" y="13015"/>
                    <a:pt x="3917" y="13036"/>
                    <a:pt x="3955" y="13056"/>
                  </a:cubicBezTo>
                  <a:lnTo>
                    <a:pt x="7660" y="15085"/>
                  </a:lnTo>
                  <a:cubicBezTo>
                    <a:pt x="7695" y="14793"/>
                    <a:pt x="7809" y="14445"/>
                    <a:pt x="7995" y="14098"/>
                  </a:cubicBezTo>
                  <a:cubicBezTo>
                    <a:pt x="8196" y="13721"/>
                    <a:pt x="8448" y="13413"/>
                    <a:pt x="8693" y="13224"/>
                  </a:cubicBezTo>
                  <a:lnTo>
                    <a:pt x="7960" y="12824"/>
                  </a:lnTo>
                  <a:cubicBezTo>
                    <a:pt x="7948" y="12839"/>
                    <a:pt x="7936" y="12857"/>
                    <a:pt x="7924" y="12874"/>
                  </a:cubicBezTo>
                  <a:cubicBezTo>
                    <a:pt x="7592" y="13330"/>
                    <a:pt x="7074" y="13578"/>
                    <a:pt x="6547" y="13578"/>
                  </a:cubicBezTo>
                  <a:cubicBezTo>
                    <a:pt x="6252" y="13578"/>
                    <a:pt x="5954" y="13500"/>
                    <a:pt x="5685" y="13337"/>
                  </a:cubicBezTo>
                  <a:cubicBezTo>
                    <a:pt x="2247" y="11259"/>
                    <a:pt x="11" y="9592"/>
                    <a:pt x="1429" y="4623"/>
                  </a:cubicBezTo>
                  <a:cubicBezTo>
                    <a:pt x="2251" y="1748"/>
                    <a:pt x="4039" y="1040"/>
                    <a:pt x="5603" y="1040"/>
                  </a:cubicBezTo>
                  <a:cubicBezTo>
                    <a:pt x="7123" y="1040"/>
                    <a:pt x="8430" y="1709"/>
                    <a:pt x="8430" y="1709"/>
                  </a:cubicBezTo>
                  <a:cubicBezTo>
                    <a:pt x="8513" y="1262"/>
                    <a:pt x="8299" y="794"/>
                    <a:pt x="7875" y="570"/>
                  </a:cubicBezTo>
                  <a:cubicBezTo>
                    <a:pt x="7150" y="193"/>
                    <a:pt x="6346" y="0"/>
                    <a:pt x="553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" name="Google Shape;382;p38">
            <a:extLst>
              <a:ext uri="{FF2B5EF4-FFF2-40B4-BE49-F238E27FC236}">
                <a16:creationId xmlns:a16="http://schemas.microsoft.com/office/drawing/2014/main" id="{C51B5A3A-FBA0-A77B-0944-80BADAE95292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382;p38">
            <a:extLst>
              <a:ext uri="{FF2B5EF4-FFF2-40B4-BE49-F238E27FC236}">
                <a16:creationId xmlns:a16="http://schemas.microsoft.com/office/drawing/2014/main" id="{8EBEA857-D23E-5AA5-4C3A-127DADBDA1A9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382;p38">
            <a:extLst>
              <a:ext uri="{FF2B5EF4-FFF2-40B4-BE49-F238E27FC236}">
                <a16:creationId xmlns:a16="http://schemas.microsoft.com/office/drawing/2014/main" id="{7D9E5803-FED4-1015-7B7B-3AED6F429067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>
            <a:spLocks noGrp="1"/>
          </p:cNvSpPr>
          <p:nvPr>
            <p:ph type="title"/>
          </p:nvPr>
        </p:nvSpPr>
        <p:spPr>
          <a:xfrm>
            <a:off x="1732700" y="736050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02" name="Google Shape;202;p23"/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ECEAAE2-A659-2B61-8A7D-F96406251894}"/>
              </a:ext>
            </a:extLst>
          </p:cNvPr>
          <p:cNvSpPr txBox="1"/>
          <p:nvPr/>
        </p:nvSpPr>
        <p:spPr>
          <a:xfrm>
            <a:off x="1732700" y="1773450"/>
            <a:ext cx="64905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Golos Text" panose="020B0604020202020204" charset="0"/>
                <a:cs typeface="Golos Text" panose="020B0604020202020204" charset="0"/>
              </a:rPr>
              <a:t>The goal of the project is to develop an active detection model that allows an agent to focus attention on candidate regions to accurately identify the location of a target object. This model is trained using </a:t>
            </a:r>
            <a:r>
              <a:rPr lang="en-US" b="1" dirty="0">
                <a:latin typeface="Golos Text" panose="020B0604020202020204" charset="0"/>
                <a:cs typeface="Golos Text" panose="020B0604020202020204" charset="0"/>
              </a:rPr>
              <a:t>deep</a:t>
            </a:r>
            <a:r>
              <a:rPr lang="en-US" dirty="0">
                <a:latin typeface="Golos Text" panose="020B0604020202020204" charset="0"/>
                <a:cs typeface="Golos Text" panose="020B0604020202020204" charset="0"/>
              </a:rPr>
              <a:t> </a:t>
            </a:r>
            <a:r>
              <a:rPr lang="en-US" b="1" dirty="0">
                <a:latin typeface="Golos Text" panose="020B0604020202020204" charset="0"/>
                <a:cs typeface="Golos Text" panose="020B0604020202020204" charset="0"/>
              </a:rPr>
              <a:t>reinforcement learning</a:t>
            </a:r>
            <a:r>
              <a:rPr lang="en-US" dirty="0">
                <a:latin typeface="Golos Text" panose="020B0604020202020204" charset="0"/>
                <a:cs typeface="Golos Text" panose="020B0604020202020204" charset="0"/>
              </a:rPr>
              <a:t>, specifically </a:t>
            </a:r>
            <a:r>
              <a:rPr lang="en-US" b="1" dirty="0">
                <a:latin typeface="Golos Text" panose="020B0604020202020204" charset="0"/>
                <a:cs typeface="Golos Text" panose="020B0604020202020204" charset="0"/>
              </a:rPr>
              <a:t>Deep Q-Network (</a:t>
            </a:r>
            <a:r>
              <a:rPr lang="en-US" b="1" dirty="0" err="1">
                <a:latin typeface="Golos Text" panose="020B0604020202020204" charset="0"/>
                <a:cs typeface="Golos Text" panose="020B0604020202020204" charset="0"/>
              </a:rPr>
              <a:t>DQN</a:t>
            </a:r>
            <a:r>
              <a:rPr lang="en-US" b="1" dirty="0">
                <a:latin typeface="Golos Text" panose="020B0604020202020204" charset="0"/>
                <a:cs typeface="Golos Text" panose="020B0604020202020204" charset="0"/>
              </a:rPr>
              <a:t>)</a:t>
            </a:r>
            <a:r>
              <a:rPr lang="en-US" dirty="0">
                <a:latin typeface="Golos Text" panose="020B0604020202020204" charset="0"/>
                <a:cs typeface="Golos Text" panose="020B0604020202020204" charset="0"/>
              </a:rPr>
              <a:t> algorithms. Instead of proving the parameters of </a:t>
            </a:r>
            <a:r>
              <a:rPr lang="en-US" b="1" dirty="0">
                <a:latin typeface="Golos Text" panose="020B0604020202020204" charset="0"/>
                <a:cs typeface="Golos Text" panose="020B0604020202020204" charset="0"/>
              </a:rPr>
              <a:t>R-CNN</a:t>
            </a:r>
            <a:r>
              <a:rPr lang="en-US" dirty="0">
                <a:latin typeface="Golos Text" panose="020B0604020202020204" charset="0"/>
                <a:cs typeface="Golos Text" panose="020B0604020202020204" charset="0"/>
              </a:rPr>
              <a:t> again, we will directly apply </a:t>
            </a:r>
            <a:r>
              <a:rPr lang="en-US" b="1" dirty="0">
                <a:latin typeface="Golos Text" panose="020B0604020202020204" charset="0"/>
                <a:cs typeface="Golos Text" panose="020B0604020202020204" charset="0"/>
              </a:rPr>
              <a:t>R-CNN</a:t>
            </a:r>
            <a:r>
              <a:rPr lang="en-US" dirty="0">
                <a:latin typeface="Golos Text" panose="020B0604020202020204" charset="0"/>
                <a:cs typeface="Golos Text" panose="020B0604020202020204" charset="0"/>
              </a:rPr>
              <a:t> with the parameters proposed in the </a:t>
            </a:r>
            <a:r>
              <a:rPr lang="en-US" dirty="0">
                <a:latin typeface="Golos Text" panose="020B0604020202020204" charset="0"/>
                <a:cs typeface="Golos Text" panose="020B0604020202020204" charset="0"/>
                <a:hlinkClick r:id="rId3"/>
              </a:rPr>
              <a:t>paper</a:t>
            </a:r>
            <a:r>
              <a:rPr lang="en-US" dirty="0">
                <a:latin typeface="Golos Text" panose="020B0604020202020204" charset="0"/>
                <a:cs typeface="Golos Text" panose="020B0604020202020204" charset="0"/>
              </a:rPr>
              <a:t> and concentrate on using reinforcement learning algorithms to enhance the efficiency of object search and localization.</a:t>
            </a:r>
          </a:p>
        </p:txBody>
      </p:sp>
      <p:grpSp>
        <p:nvGrpSpPr>
          <p:cNvPr id="6" name="Google Shape;210;p24">
            <a:extLst>
              <a:ext uri="{FF2B5EF4-FFF2-40B4-BE49-F238E27FC236}">
                <a16:creationId xmlns:a16="http://schemas.microsoft.com/office/drawing/2014/main" id="{C7285F33-554F-BA94-B993-1A1A0FDA9A4E}"/>
              </a:ext>
            </a:extLst>
          </p:cNvPr>
          <p:cNvGrpSpPr/>
          <p:nvPr/>
        </p:nvGrpSpPr>
        <p:grpSpPr>
          <a:xfrm flipH="1">
            <a:off x="9450513" y="914389"/>
            <a:ext cx="3706695" cy="2550084"/>
            <a:chOff x="4388650" y="2224200"/>
            <a:chExt cx="1707525" cy="1174775"/>
          </a:xfrm>
        </p:grpSpPr>
        <p:sp>
          <p:nvSpPr>
            <p:cNvPr id="7" name="Google Shape;211;p24">
              <a:extLst>
                <a:ext uri="{FF2B5EF4-FFF2-40B4-BE49-F238E27FC236}">
                  <a16:creationId xmlns:a16="http://schemas.microsoft.com/office/drawing/2014/main" id="{2C9A968E-5903-C9D6-62E7-DA403A1821DA}"/>
                </a:ext>
              </a:extLst>
            </p:cNvPr>
            <p:cNvSpPr/>
            <p:nvPr/>
          </p:nvSpPr>
          <p:spPr>
            <a:xfrm>
              <a:off x="4422875" y="3236475"/>
              <a:ext cx="284875" cy="162500"/>
            </a:xfrm>
            <a:custGeom>
              <a:avLst/>
              <a:gdLst/>
              <a:ahLst/>
              <a:cxnLst/>
              <a:rect l="l" t="t" r="r" b="b"/>
              <a:pathLst>
                <a:path w="11395" h="6500" extrusionOk="0">
                  <a:moveTo>
                    <a:pt x="440" y="0"/>
                  </a:moveTo>
                  <a:cubicBezTo>
                    <a:pt x="352" y="135"/>
                    <a:pt x="270" y="274"/>
                    <a:pt x="193" y="415"/>
                  </a:cubicBezTo>
                  <a:lnTo>
                    <a:pt x="191" y="415"/>
                  </a:lnTo>
                  <a:cubicBezTo>
                    <a:pt x="1" y="767"/>
                    <a:pt x="2303" y="2396"/>
                    <a:pt x="5337" y="4058"/>
                  </a:cubicBezTo>
                  <a:cubicBezTo>
                    <a:pt x="7981" y="5506"/>
                    <a:pt x="10305" y="6500"/>
                    <a:pt x="10986" y="6500"/>
                  </a:cubicBezTo>
                  <a:cubicBezTo>
                    <a:pt x="11087" y="6500"/>
                    <a:pt x="11151" y="6478"/>
                    <a:pt x="11176" y="6433"/>
                  </a:cubicBezTo>
                  <a:cubicBezTo>
                    <a:pt x="11255" y="6291"/>
                    <a:pt x="11326" y="6147"/>
                    <a:pt x="11394" y="6000"/>
                  </a:cubicBezTo>
                  <a:lnTo>
                    <a:pt x="11394" y="6000"/>
                  </a:lnTo>
                  <a:cubicBezTo>
                    <a:pt x="11360" y="6019"/>
                    <a:pt x="11310" y="6028"/>
                    <a:pt x="11244" y="6028"/>
                  </a:cubicBezTo>
                  <a:cubicBezTo>
                    <a:pt x="10562" y="6028"/>
                    <a:pt x="8237" y="5036"/>
                    <a:pt x="5594" y="3587"/>
                  </a:cubicBezTo>
                  <a:cubicBezTo>
                    <a:pt x="2697" y="2000"/>
                    <a:pt x="464" y="441"/>
                    <a:pt x="4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12;p24">
              <a:extLst>
                <a:ext uri="{FF2B5EF4-FFF2-40B4-BE49-F238E27FC236}">
                  <a16:creationId xmlns:a16="http://schemas.microsoft.com/office/drawing/2014/main" id="{EC25425A-B7E4-3642-DFF1-EFCF07ACF883}"/>
                </a:ext>
              </a:extLst>
            </p:cNvPr>
            <p:cNvSpPr/>
            <p:nvPr/>
          </p:nvSpPr>
          <p:spPr>
            <a:xfrm>
              <a:off x="4433850" y="3137400"/>
              <a:ext cx="302375" cy="249825"/>
            </a:xfrm>
            <a:custGeom>
              <a:avLst/>
              <a:gdLst/>
              <a:ahLst/>
              <a:cxnLst/>
              <a:rect l="l" t="t" r="r" b="b"/>
              <a:pathLst>
                <a:path w="12095" h="9993" extrusionOk="0">
                  <a:moveTo>
                    <a:pt x="4816" y="1"/>
                  </a:moveTo>
                  <a:cubicBezTo>
                    <a:pt x="4816" y="1"/>
                    <a:pt x="3750" y="461"/>
                    <a:pt x="2529" y="1359"/>
                  </a:cubicBezTo>
                  <a:cubicBezTo>
                    <a:pt x="2453" y="1415"/>
                    <a:pt x="2377" y="1473"/>
                    <a:pt x="2300" y="1532"/>
                  </a:cubicBezTo>
                  <a:cubicBezTo>
                    <a:pt x="1488" y="2156"/>
                    <a:pt x="636" y="2970"/>
                    <a:pt x="1" y="3963"/>
                  </a:cubicBezTo>
                  <a:cubicBezTo>
                    <a:pt x="25" y="4404"/>
                    <a:pt x="2258" y="5963"/>
                    <a:pt x="5155" y="7552"/>
                  </a:cubicBezTo>
                  <a:cubicBezTo>
                    <a:pt x="7800" y="9000"/>
                    <a:pt x="10126" y="9993"/>
                    <a:pt x="10806" y="9993"/>
                  </a:cubicBezTo>
                  <a:cubicBezTo>
                    <a:pt x="10871" y="9993"/>
                    <a:pt x="10921" y="9983"/>
                    <a:pt x="10955" y="9964"/>
                  </a:cubicBezTo>
                  <a:cubicBezTo>
                    <a:pt x="11116" y="9616"/>
                    <a:pt x="11249" y="9257"/>
                    <a:pt x="11358" y="8900"/>
                  </a:cubicBezTo>
                  <a:cubicBezTo>
                    <a:pt x="11385" y="8809"/>
                    <a:pt x="11411" y="8718"/>
                    <a:pt x="11435" y="8627"/>
                  </a:cubicBezTo>
                  <a:cubicBezTo>
                    <a:pt x="12094" y="6188"/>
                    <a:pt x="11700" y="3772"/>
                    <a:pt x="11700" y="3772"/>
                  </a:cubicBezTo>
                  <a:lnTo>
                    <a:pt x="48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13;p24">
              <a:extLst>
                <a:ext uri="{FF2B5EF4-FFF2-40B4-BE49-F238E27FC236}">
                  <a16:creationId xmlns:a16="http://schemas.microsoft.com/office/drawing/2014/main" id="{A331E1F7-9526-72C1-27E5-63D8C18ABD11}"/>
                </a:ext>
              </a:extLst>
            </p:cNvPr>
            <p:cNvSpPr/>
            <p:nvPr/>
          </p:nvSpPr>
          <p:spPr>
            <a:xfrm>
              <a:off x="5008550" y="2646000"/>
              <a:ext cx="577200" cy="331650"/>
            </a:xfrm>
            <a:custGeom>
              <a:avLst/>
              <a:gdLst/>
              <a:ahLst/>
              <a:cxnLst/>
              <a:rect l="l" t="t" r="r" b="b"/>
              <a:pathLst>
                <a:path w="23088" h="13266" extrusionOk="0">
                  <a:moveTo>
                    <a:pt x="21874" y="0"/>
                  </a:moveTo>
                  <a:cubicBezTo>
                    <a:pt x="21472" y="0"/>
                    <a:pt x="21087" y="228"/>
                    <a:pt x="20908" y="617"/>
                  </a:cubicBezTo>
                  <a:lnTo>
                    <a:pt x="19853" y="2890"/>
                  </a:lnTo>
                  <a:lnTo>
                    <a:pt x="19244" y="4204"/>
                  </a:lnTo>
                  <a:lnTo>
                    <a:pt x="18984" y="4767"/>
                  </a:lnTo>
                  <a:lnTo>
                    <a:pt x="18851" y="5055"/>
                  </a:lnTo>
                  <a:lnTo>
                    <a:pt x="18411" y="6003"/>
                  </a:lnTo>
                  <a:cubicBezTo>
                    <a:pt x="18074" y="6732"/>
                    <a:pt x="17645" y="7395"/>
                    <a:pt x="17147" y="7983"/>
                  </a:cubicBezTo>
                  <a:cubicBezTo>
                    <a:pt x="17086" y="8057"/>
                    <a:pt x="17021" y="8131"/>
                    <a:pt x="16956" y="8203"/>
                  </a:cubicBezTo>
                  <a:cubicBezTo>
                    <a:pt x="16301" y="8927"/>
                    <a:pt x="15538" y="9528"/>
                    <a:pt x="14703" y="9994"/>
                  </a:cubicBezTo>
                  <a:cubicBezTo>
                    <a:pt x="14622" y="10040"/>
                    <a:pt x="14538" y="10084"/>
                    <a:pt x="14455" y="10126"/>
                  </a:cubicBezTo>
                  <a:cubicBezTo>
                    <a:pt x="13584" y="10579"/>
                    <a:pt x="12642" y="10885"/>
                    <a:pt x="11666" y="11032"/>
                  </a:cubicBezTo>
                  <a:cubicBezTo>
                    <a:pt x="11574" y="11047"/>
                    <a:pt x="11480" y="11059"/>
                    <a:pt x="11385" y="11070"/>
                  </a:cubicBezTo>
                  <a:cubicBezTo>
                    <a:pt x="11043" y="11110"/>
                    <a:pt x="10699" y="11130"/>
                    <a:pt x="10353" y="11130"/>
                  </a:cubicBezTo>
                  <a:cubicBezTo>
                    <a:pt x="9477" y="11130"/>
                    <a:pt x="8591" y="11000"/>
                    <a:pt x="7722" y="10726"/>
                  </a:cubicBezTo>
                  <a:cubicBezTo>
                    <a:pt x="7633" y="10699"/>
                    <a:pt x="7542" y="10668"/>
                    <a:pt x="7452" y="10637"/>
                  </a:cubicBezTo>
                  <a:cubicBezTo>
                    <a:pt x="7380" y="10611"/>
                    <a:pt x="7307" y="10585"/>
                    <a:pt x="7234" y="10556"/>
                  </a:cubicBezTo>
                  <a:lnTo>
                    <a:pt x="1563" y="8402"/>
                  </a:lnTo>
                  <a:cubicBezTo>
                    <a:pt x="1439" y="8355"/>
                    <a:pt x="1312" y="8333"/>
                    <a:pt x="1186" y="8333"/>
                  </a:cubicBezTo>
                  <a:cubicBezTo>
                    <a:pt x="758" y="8333"/>
                    <a:pt x="353" y="8595"/>
                    <a:pt x="191" y="9020"/>
                  </a:cubicBezTo>
                  <a:cubicBezTo>
                    <a:pt x="0" y="9522"/>
                    <a:pt x="214" y="10079"/>
                    <a:pt x="673" y="10331"/>
                  </a:cubicBezTo>
                  <a:cubicBezTo>
                    <a:pt x="715" y="10355"/>
                    <a:pt x="760" y="10375"/>
                    <a:pt x="807" y="10393"/>
                  </a:cubicBezTo>
                  <a:lnTo>
                    <a:pt x="1842" y="10787"/>
                  </a:lnTo>
                  <a:lnTo>
                    <a:pt x="6479" y="12547"/>
                  </a:lnTo>
                  <a:cubicBezTo>
                    <a:pt x="6900" y="12707"/>
                    <a:pt x="7328" y="12841"/>
                    <a:pt x="7761" y="12948"/>
                  </a:cubicBezTo>
                  <a:cubicBezTo>
                    <a:pt x="7895" y="12980"/>
                    <a:pt x="8027" y="13010"/>
                    <a:pt x="8160" y="13037"/>
                  </a:cubicBezTo>
                  <a:cubicBezTo>
                    <a:pt x="8892" y="13189"/>
                    <a:pt x="9636" y="13265"/>
                    <a:pt x="10379" y="13265"/>
                  </a:cubicBezTo>
                  <a:cubicBezTo>
                    <a:pt x="10999" y="13265"/>
                    <a:pt x="11618" y="13213"/>
                    <a:pt x="12231" y="13107"/>
                  </a:cubicBezTo>
                  <a:cubicBezTo>
                    <a:pt x="12346" y="13089"/>
                    <a:pt x="12462" y="13066"/>
                    <a:pt x="12577" y="13042"/>
                  </a:cubicBezTo>
                  <a:cubicBezTo>
                    <a:pt x="13237" y="12907"/>
                    <a:pt x="13887" y="12710"/>
                    <a:pt x="14522" y="12451"/>
                  </a:cubicBezTo>
                  <a:cubicBezTo>
                    <a:pt x="15006" y="12254"/>
                    <a:pt x="15473" y="12024"/>
                    <a:pt x="15918" y="11765"/>
                  </a:cubicBezTo>
                  <a:cubicBezTo>
                    <a:pt x="16008" y="11712"/>
                    <a:pt x="16097" y="11659"/>
                    <a:pt x="16185" y="11603"/>
                  </a:cubicBezTo>
                  <a:cubicBezTo>
                    <a:pt x="17116" y="11026"/>
                    <a:pt x="17951" y="10314"/>
                    <a:pt x="18666" y="9492"/>
                  </a:cubicBezTo>
                  <a:cubicBezTo>
                    <a:pt x="18733" y="9416"/>
                    <a:pt x="18796" y="9339"/>
                    <a:pt x="18860" y="9261"/>
                  </a:cubicBezTo>
                  <a:cubicBezTo>
                    <a:pt x="19447" y="8548"/>
                    <a:pt x="19947" y="7756"/>
                    <a:pt x="20343" y="6900"/>
                  </a:cubicBezTo>
                  <a:lnTo>
                    <a:pt x="20733" y="6056"/>
                  </a:lnTo>
                  <a:lnTo>
                    <a:pt x="20862" y="5782"/>
                  </a:lnTo>
                  <a:lnTo>
                    <a:pt x="21751" y="3864"/>
                  </a:lnTo>
                  <a:lnTo>
                    <a:pt x="22840" y="1512"/>
                  </a:lnTo>
                  <a:cubicBezTo>
                    <a:pt x="23087" y="979"/>
                    <a:pt x="22856" y="346"/>
                    <a:pt x="22321" y="99"/>
                  </a:cubicBezTo>
                  <a:cubicBezTo>
                    <a:pt x="22176" y="32"/>
                    <a:pt x="22024" y="0"/>
                    <a:pt x="2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14;p24">
              <a:extLst>
                <a:ext uri="{FF2B5EF4-FFF2-40B4-BE49-F238E27FC236}">
                  <a16:creationId xmlns:a16="http://schemas.microsoft.com/office/drawing/2014/main" id="{C121284E-D9B3-A5C6-CE20-C842D0BA781F}"/>
                </a:ext>
              </a:extLst>
            </p:cNvPr>
            <p:cNvSpPr/>
            <p:nvPr/>
          </p:nvSpPr>
          <p:spPr>
            <a:xfrm>
              <a:off x="4444500" y="2590075"/>
              <a:ext cx="711075" cy="698300"/>
            </a:xfrm>
            <a:custGeom>
              <a:avLst/>
              <a:gdLst/>
              <a:ahLst/>
              <a:cxnLst/>
              <a:rect l="l" t="t" r="r" b="b"/>
              <a:pathLst>
                <a:path w="28443" h="27932" extrusionOk="0">
                  <a:moveTo>
                    <a:pt x="5556" y="0"/>
                  </a:moveTo>
                  <a:lnTo>
                    <a:pt x="1502" y="12131"/>
                  </a:lnTo>
                  <a:cubicBezTo>
                    <a:pt x="0" y="16623"/>
                    <a:pt x="1321" y="21379"/>
                    <a:pt x="4507" y="24475"/>
                  </a:cubicBezTo>
                  <a:cubicBezTo>
                    <a:pt x="4575" y="24541"/>
                    <a:pt x="4645" y="24608"/>
                    <a:pt x="4714" y="24672"/>
                  </a:cubicBezTo>
                  <a:cubicBezTo>
                    <a:pt x="5905" y="25774"/>
                    <a:pt x="7339" y="26651"/>
                    <a:pt x="8972" y="27209"/>
                  </a:cubicBezTo>
                  <a:cubicBezTo>
                    <a:pt x="9036" y="27230"/>
                    <a:pt x="9099" y="27251"/>
                    <a:pt x="9163" y="27272"/>
                  </a:cubicBezTo>
                  <a:cubicBezTo>
                    <a:pt x="9227" y="27294"/>
                    <a:pt x="9289" y="27315"/>
                    <a:pt x="9352" y="27335"/>
                  </a:cubicBezTo>
                  <a:cubicBezTo>
                    <a:pt x="9548" y="27400"/>
                    <a:pt x="9743" y="27457"/>
                    <a:pt x="9940" y="27512"/>
                  </a:cubicBezTo>
                  <a:cubicBezTo>
                    <a:pt x="10982" y="27795"/>
                    <a:pt x="12033" y="27931"/>
                    <a:pt x="13070" y="27931"/>
                  </a:cubicBezTo>
                  <a:cubicBezTo>
                    <a:pt x="18065" y="27931"/>
                    <a:pt x="22718" y="24773"/>
                    <a:pt x="24387" y="19779"/>
                  </a:cubicBezTo>
                  <a:lnTo>
                    <a:pt x="27146" y="11527"/>
                  </a:lnTo>
                  <a:lnTo>
                    <a:pt x="28442" y="7648"/>
                  </a:lnTo>
                  <a:lnTo>
                    <a:pt x="55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15;p24">
              <a:extLst>
                <a:ext uri="{FF2B5EF4-FFF2-40B4-BE49-F238E27FC236}">
                  <a16:creationId xmlns:a16="http://schemas.microsoft.com/office/drawing/2014/main" id="{A1E18019-90E8-638F-C37E-5D97AF26BF9F}"/>
                </a:ext>
              </a:extLst>
            </p:cNvPr>
            <p:cNvSpPr/>
            <p:nvPr/>
          </p:nvSpPr>
          <p:spPr>
            <a:xfrm>
              <a:off x="4574225" y="2577925"/>
              <a:ext cx="590500" cy="215475"/>
            </a:xfrm>
            <a:custGeom>
              <a:avLst/>
              <a:gdLst/>
              <a:ahLst/>
              <a:cxnLst/>
              <a:rect l="l" t="t" r="r" b="b"/>
              <a:pathLst>
                <a:path w="23620" h="8619" extrusionOk="0">
                  <a:moveTo>
                    <a:pt x="1951" y="0"/>
                  </a:moveTo>
                  <a:cubicBezTo>
                    <a:pt x="1043" y="0"/>
                    <a:pt x="477" y="156"/>
                    <a:pt x="367" y="485"/>
                  </a:cubicBezTo>
                  <a:cubicBezTo>
                    <a:pt x="1" y="1581"/>
                    <a:pt x="4828" y="4181"/>
                    <a:pt x="11148" y="6294"/>
                  </a:cubicBezTo>
                  <a:cubicBezTo>
                    <a:pt x="15570" y="7771"/>
                    <a:pt x="19552" y="8618"/>
                    <a:pt x="21670" y="8618"/>
                  </a:cubicBezTo>
                  <a:cubicBezTo>
                    <a:pt x="22578" y="8618"/>
                    <a:pt x="23143" y="8463"/>
                    <a:pt x="23253" y="8134"/>
                  </a:cubicBezTo>
                  <a:cubicBezTo>
                    <a:pt x="23620" y="7037"/>
                    <a:pt x="18792" y="4436"/>
                    <a:pt x="12473" y="2325"/>
                  </a:cubicBezTo>
                  <a:cubicBezTo>
                    <a:pt x="8050" y="847"/>
                    <a:pt x="4068" y="0"/>
                    <a:pt x="1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16;p24">
              <a:extLst>
                <a:ext uri="{FF2B5EF4-FFF2-40B4-BE49-F238E27FC236}">
                  <a16:creationId xmlns:a16="http://schemas.microsoft.com/office/drawing/2014/main" id="{368D1FA8-DA96-B586-6F30-9E9288A14414}"/>
                </a:ext>
              </a:extLst>
            </p:cNvPr>
            <p:cNvSpPr/>
            <p:nvPr/>
          </p:nvSpPr>
          <p:spPr>
            <a:xfrm>
              <a:off x="4590900" y="2586800"/>
              <a:ext cx="557175" cy="197700"/>
            </a:xfrm>
            <a:custGeom>
              <a:avLst/>
              <a:gdLst/>
              <a:ahLst/>
              <a:cxnLst/>
              <a:rect l="l" t="t" r="r" b="b"/>
              <a:pathLst>
                <a:path w="22287" h="7908" extrusionOk="0">
                  <a:moveTo>
                    <a:pt x="1289" y="1"/>
                  </a:moveTo>
                  <a:cubicBezTo>
                    <a:pt x="358" y="1"/>
                    <a:pt x="61" y="168"/>
                    <a:pt x="37" y="242"/>
                  </a:cubicBezTo>
                  <a:cubicBezTo>
                    <a:pt x="0" y="351"/>
                    <a:pt x="329" y="1014"/>
                    <a:pt x="2601" y="2258"/>
                  </a:cubicBezTo>
                  <a:lnTo>
                    <a:pt x="2600" y="2258"/>
                  </a:lnTo>
                  <a:cubicBezTo>
                    <a:pt x="4629" y="3370"/>
                    <a:pt x="7468" y="4557"/>
                    <a:pt x="10593" y="5601"/>
                  </a:cubicBezTo>
                  <a:cubicBezTo>
                    <a:pt x="13631" y="6617"/>
                    <a:pt x="16552" y="7365"/>
                    <a:pt x="18819" y="7711"/>
                  </a:cubicBezTo>
                  <a:cubicBezTo>
                    <a:pt x="19779" y="7857"/>
                    <a:pt x="20485" y="7908"/>
                    <a:pt x="20998" y="7908"/>
                  </a:cubicBezTo>
                  <a:cubicBezTo>
                    <a:pt x="21929" y="7908"/>
                    <a:pt x="22226" y="7740"/>
                    <a:pt x="22250" y="7667"/>
                  </a:cubicBezTo>
                  <a:cubicBezTo>
                    <a:pt x="22286" y="7558"/>
                    <a:pt x="21958" y="6894"/>
                    <a:pt x="19686" y="5649"/>
                  </a:cubicBezTo>
                  <a:cubicBezTo>
                    <a:pt x="17656" y="4537"/>
                    <a:pt x="14817" y="3351"/>
                    <a:pt x="11694" y="2306"/>
                  </a:cubicBezTo>
                  <a:cubicBezTo>
                    <a:pt x="8657" y="1291"/>
                    <a:pt x="5735" y="542"/>
                    <a:pt x="3468" y="198"/>
                  </a:cubicBezTo>
                  <a:cubicBezTo>
                    <a:pt x="2508" y="52"/>
                    <a:pt x="1802" y="1"/>
                    <a:pt x="1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17;p24">
              <a:extLst>
                <a:ext uri="{FF2B5EF4-FFF2-40B4-BE49-F238E27FC236}">
                  <a16:creationId xmlns:a16="http://schemas.microsoft.com/office/drawing/2014/main" id="{F49C49CA-79AA-C638-DDCE-F3FE48BE8193}"/>
                </a:ext>
              </a:extLst>
            </p:cNvPr>
            <p:cNvSpPr/>
            <p:nvPr/>
          </p:nvSpPr>
          <p:spPr>
            <a:xfrm>
              <a:off x="4590825" y="2520000"/>
              <a:ext cx="586625" cy="223800"/>
            </a:xfrm>
            <a:custGeom>
              <a:avLst/>
              <a:gdLst/>
              <a:ahLst/>
              <a:cxnLst/>
              <a:rect l="l" t="t" r="r" b="b"/>
              <a:pathLst>
                <a:path w="23465" h="8952" extrusionOk="0">
                  <a:moveTo>
                    <a:pt x="644" y="1"/>
                  </a:moveTo>
                  <a:cubicBezTo>
                    <a:pt x="608" y="102"/>
                    <a:pt x="571" y="204"/>
                    <a:pt x="538" y="307"/>
                  </a:cubicBezTo>
                  <a:lnTo>
                    <a:pt x="367" y="817"/>
                  </a:lnTo>
                  <a:cubicBezTo>
                    <a:pt x="0" y="1914"/>
                    <a:pt x="4826" y="4513"/>
                    <a:pt x="11147" y="6626"/>
                  </a:cubicBezTo>
                  <a:cubicBezTo>
                    <a:pt x="15570" y="8104"/>
                    <a:pt x="19551" y="8952"/>
                    <a:pt x="21668" y="8952"/>
                  </a:cubicBezTo>
                  <a:cubicBezTo>
                    <a:pt x="22577" y="8952"/>
                    <a:pt x="23142" y="8796"/>
                    <a:pt x="23251" y="8467"/>
                  </a:cubicBezTo>
                  <a:lnTo>
                    <a:pt x="23422" y="7955"/>
                  </a:lnTo>
                  <a:cubicBezTo>
                    <a:pt x="23437" y="7912"/>
                    <a:pt x="23450" y="7871"/>
                    <a:pt x="23465" y="7829"/>
                  </a:cubicBezTo>
                  <a:lnTo>
                    <a:pt x="23465" y="7829"/>
                  </a:lnTo>
                  <a:cubicBezTo>
                    <a:pt x="23188" y="7920"/>
                    <a:pt x="22797" y="7965"/>
                    <a:pt x="22308" y="7965"/>
                  </a:cubicBezTo>
                  <a:cubicBezTo>
                    <a:pt x="20153" y="7965"/>
                    <a:pt x="16101" y="7102"/>
                    <a:pt x="11598" y="5598"/>
                  </a:cubicBezTo>
                  <a:cubicBezTo>
                    <a:pt x="5712" y="3630"/>
                    <a:pt x="1097" y="1246"/>
                    <a:pt x="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18;p24">
              <a:extLst>
                <a:ext uri="{FF2B5EF4-FFF2-40B4-BE49-F238E27FC236}">
                  <a16:creationId xmlns:a16="http://schemas.microsoft.com/office/drawing/2014/main" id="{7021CC64-7C49-FF1E-0ED8-E1DCBC466C02}"/>
                </a:ext>
              </a:extLst>
            </p:cNvPr>
            <p:cNvSpPr/>
            <p:nvPr/>
          </p:nvSpPr>
          <p:spPr>
            <a:xfrm>
              <a:off x="4606925" y="2321525"/>
              <a:ext cx="621150" cy="397600"/>
            </a:xfrm>
            <a:custGeom>
              <a:avLst/>
              <a:gdLst/>
              <a:ahLst/>
              <a:cxnLst/>
              <a:rect l="l" t="t" r="r" b="b"/>
              <a:pathLst>
                <a:path w="24846" h="15904" extrusionOk="0">
                  <a:moveTo>
                    <a:pt x="11335" y="1"/>
                  </a:moveTo>
                  <a:cubicBezTo>
                    <a:pt x="9445" y="1"/>
                    <a:pt x="7603" y="449"/>
                    <a:pt x="5948" y="1274"/>
                  </a:cubicBezTo>
                  <a:cubicBezTo>
                    <a:pt x="3276" y="2607"/>
                    <a:pt x="1095" y="4929"/>
                    <a:pt x="0" y="7940"/>
                  </a:cubicBezTo>
                  <a:cubicBezTo>
                    <a:pt x="453" y="9185"/>
                    <a:pt x="5068" y="11569"/>
                    <a:pt x="10954" y="13537"/>
                  </a:cubicBezTo>
                  <a:cubicBezTo>
                    <a:pt x="15457" y="15041"/>
                    <a:pt x="19509" y="15904"/>
                    <a:pt x="21664" y="15904"/>
                  </a:cubicBezTo>
                  <a:cubicBezTo>
                    <a:pt x="22153" y="15904"/>
                    <a:pt x="22544" y="15859"/>
                    <a:pt x="22821" y="15768"/>
                  </a:cubicBezTo>
                  <a:cubicBezTo>
                    <a:pt x="24846" y="9483"/>
                    <a:pt x="21439" y="2725"/>
                    <a:pt x="15161" y="627"/>
                  </a:cubicBezTo>
                  <a:cubicBezTo>
                    <a:pt x="13892" y="202"/>
                    <a:pt x="12603" y="1"/>
                    <a:pt x="1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19;p24">
              <a:extLst>
                <a:ext uri="{FF2B5EF4-FFF2-40B4-BE49-F238E27FC236}">
                  <a16:creationId xmlns:a16="http://schemas.microsoft.com/office/drawing/2014/main" id="{C6F1DF73-D419-7052-9B6E-0EEB9E2896EE}"/>
                </a:ext>
              </a:extLst>
            </p:cNvPr>
            <p:cNvSpPr/>
            <p:nvPr/>
          </p:nvSpPr>
          <p:spPr>
            <a:xfrm>
              <a:off x="4719000" y="2826275"/>
              <a:ext cx="401475" cy="462100"/>
            </a:xfrm>
            <a:custGeom>
              <a:avLst/>
              <a:gdLst/>
              <a:ahLst/>
              <a:cxnLst/>
              <a:rect l="l" t="t" r="r" b="b"/>
              <a:pathLst>
                <a:path w="16059" h="18484" extrusionOk="0">
                  <a:moveTo>
                    <a:pt x="11689" y="0"/>
                  </a:moveTo>
                  <a:cubicBezTo>
                    <a:pt x="9277" y="0"/>
                    <a:pt x="6932" y="1498"/>
                    <a:pt x="6117" y="4063"/>
                  </a:cubicBezTo>
                  <a:cubicBezTo>
                    <a:pt x="5037" y="7462"/>
                    <a:pt x="3225" y="12146"/>
                    <a:pt x="585" y="15808"/>
                  </a:cubicBezTo>
                  <a:cubicBezTo>
                    <a:pt x="578" y="15816"/>
                    <a:pt x="573" y="15825"/>
                    <a:pt x="566" y="15833"/>
                  </a:cubicBezTo>
                  <a:cubicBezTo>
                    <a:pt x="1" y="16617"/>
                    <a:pt x="234" y="17632"/>
                    <a:pt x="911" y="18149"/>
                  </a:cubicBezTo>
                  <a:cubicBezTo>
                    <a:pt x="1175" y="18349"/>
                    <a:pt x="1506" y="18474"/>
                    <a:pt x="1882" y="18482"/>
                  </a:cubicBezTo>
                  <a:cubicBezTo>
                    <a:pt x="1950" y="18483"/>
                    <a:pt x="2019" y="18484"/>
                    <a:pt x="2087" y="18484"/>
                  </a:cubicBezTo>
                  <a:cubicBezTo>
                    <a:pt x="7084" y="18484"/>
                    <a:pt x="11738" y="15327"/>
                    <a:pt x="13407" y="10331"/>
                  </a:cubicBezTo>
                  <a:lnTo>
                    <a:pt x="15413" y="4330"/>
                  </a:lnTo>
                  <a:lnTo>
                    <a:pt x="15532" y="3972"/>
                  </a:lnTo>
                  <a:lnTo>
                    <a:pt x="15861" y="2988"/>
                  </a:lnTo>
                  <a:cubicBezTo>
                    <a:pt x="16058" y="2402"/>
                    <a:pt x="15875" y="1756"/>
                    <a:pt x="15402" y="1360"/>
                  </a:cubicBezTo>
                  <a:cubicBezTo>
                    <a:pt x="15098" y="1102"/>
                    <a:pt x="14777" y="885"/>
                    <a:pt x="14445" y="704"/>
                  </a:cubicBezTo>
                  <a:cubicBezTo>
                    <a:pt x="14375" y="666"/>
                    <a:pt x="14304" y="628"/>
                    <a:pt x="14233" y="593"/>
                  </a:cubicBezTo>
                  <a:cubicBezTo>
                    <a:pt x="13421" y="191"/>
                    <a:pt x="12550" y="0"/>
                    <a:pt x="116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20;p24">
              <a:extLst>
                <a:ext uri="{FF2B5EF4-FFF2-40B4-BE49-F238E27FC236}">
                  <a16:creationId xmlns:a16="http://schemas.microsoft.com/office/drawing/2014/main" id="{F5C2740E-3985-5772-6D9D-29F11EDCD145}"/>
                </a:ext>
              </a:extLst>
            </p:cNvPr>
            <p:cNvSpPr/>
            <p:nvPr/>
          </p:nvSpPr>
          <p:spPr>
            <a:xfrm>
              <a:off x="4705700" y="2820425"/>
              <a:ext cx="369125" cy="459575"/>
            </a:xfrm>
            <a:custGeom>
              <a:avLst/>
              <a:gdLst/>
              <a:ahLst/>
              <a:cxnLst/>
              <a:rect l="l" t="t" r="r" b="b"/>
              <a:pathLst>
                <a:path w="14765" h="18383" extrusionOk="0">
                  <a:moveTo>
                    <a:pt x="11794" y="1"/>
                  </a:moveTo>
                  <a:cubicBezTo>
                    <a:pt x="9383" y="1"/>
                    <a:pt x="7038" y="1497"/>
                    <a:pt x="6222" y="4063"/>
                  </a:cubicBezTo>
                  <a:lnTo>
                    <a:pt x="6223" y="4063"/>
                  </a:lnTo>
                  <a:cubicBezTo>
                    <a:pt x="5142" y="7463"/>
                    <a:pt x="3330" y="12145"/>
                    <a:pt x="690" y="15808"/>
                  </a:cubicBezTo>
                  <a:cubicBezTo>
                    <a:pt x="684" y="15817"/>
                    <a:pt x="678" y="15824"/>
                    <a:pt x="672" y="15833"/>
                  </a:cubicBezTo>
                  <a:cubicBezTo>
                    <a:pt x="1" y="16765"/>
                    <a:pt x="457" y="18022"/>
                    <a:pt x="1443" y="18383"/>
                  </a:cubicBezTo>
                  <a:cubicBezTo>
                    <a:pt x="766" y="17866"/>
                    <a:pt x="533" y="16851"/>
                    <a:pt x="1098" y="16067"/>
                  </a:cubicBezTo>
                  <a:cubicBezTo>
                    <a:pt x="1104" y="16059"/>
                    <a:pt x="1111" y="16050"/>
                    <a:pt x="1117" y="16041"/>
                  </a:cubicBezTo>
                  <a:cubicBezTo>
                    <a:pt x="3757" y="12378"/>
                    <a:pt x="5568" y="7696"/>
                    <a:pt x="6649" y="4296"/>
                  </a:cubicBezTo>
                  <a:cubicBezTo>
                    <a:pt x="7465" y="1731"/>
                    <a:pt x="9810" y="234"/>
                    <a:pt x="12221" y="234"/>
                  </a:cubicBezTo>
                  <a:cubicBezTo>
                    <a:pt x="13083" y="234"/>
                    <a:pt x="13953" y="425"/>
                    <a:pt x="14765" y="827"/>
                  </a:cubicBezTo>
                  <a:cubicBezTo>
                    <a:pt x="14694" y="785"/>
                    <a:pt x="14622" y="744"/>
                    <a:pt x="14551" y="704"/>
                  </a:cubicBezTo>
                  <a:cubicBezTo>
                    <a:pt x="13679" y="227"/>
                    <a:pt x="12732" y="1"/>
                    <a:pt x="117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21;p24">
              <a:extLst>
                <a:ext uri="{FF2B5EF4-FFF2-40B4-BE49-F238E27FC236}">
                  <a16:creationId xmlns:a16="http://schemas.microsoft.com/office/drawing/2014/main" id="{EDA734C3-E022-FA5A-5C44-6A930E31A5AF}"/>
                </a:ext>
              </a:extLst>
            </p:cNvPr>
            <p:cNvSpPr/>
            <p:nvPr/>
          </p:nvSpPr>
          <p:spPr>
            <a:xfrm>
              <a:off x="5487750" y="2687725"/>
              <a:ext cx="86000" cy="65025"/>
            </a:xfrm>
            <a:custGeom>
              <a:avLst/>
              <a:gdLst/>
              <a:ahLst/>
              <a:cxnLst/>
              <a:rect l="l" t="t" r="r" b="b"/>
              <a:pathLst>
                <a:path w="3440" h="2601" extrusionOk="0">
                  <a:moveTo>
                    <a:pt x="546" y="1"/>
                  </a:moveTo>
                  <a:lnTo>
                    <a:pt x="83" y="1126"/>
                  </a:lnTo>
                  <a:cubicBezTo>
                    <a:pt x="1" y="1326"/>
                    <a:pt x="129" y="1588"/>
                    <a:pt x="401" y="1838"/>
                  </a:cubicBezTo>
                  <a:cubicBezTo>
                    <a:pt x="613" y="2035"/>
                    <a:pt x="911" y="2223"/>
                    <a:pt x="1264" y="2368"/>
                  </a:cubicBezTo>
                  <a:cubicBezTo>
                    <a:pt x="1642" y="2524"/>
                    <a:pt x="2013" y="2600"/>
                    <a:pt x="2315" y="2600"/>
                  </a:cubicBezTo>
                  <a:cubicBezTo>
                    <a:pt x="2342" y="2600"/>
                    <a:pt x="2369" y="2600"/>
                    <a:pt x="2395" y="2598"/>
                  </a:cubicBezTo>
                  <a:cubicBezTo>
                    <a:pt x="2689" y="2583"/>
                    <a:pt x="2906" y="2489"/>
                    <a:pt x="2976" y="2317"/>
                  </a:cubicBezTo>
                  <a:lnTo>
                    <a:pt x="3439" y="1191"/>
                  </a:lnTo>
                  <a:lnTo>
                    <a:pt x="5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22;p24">
              <a:extLst>
                <a:ext uri="{FF2B5EF4-FFF2-40B4-BE49-F238E27FC236}">
                  <a16:creationId xmlns:a16="http://schemas.microsoft.com/office/drawing/2014/main" id="{E02BECAA-135D-4903-2067-131B2B59873C}"/>
                </a:ext>
              </a:extLst>
            </p:cNvPr>
            <p:cNvSpPr/>
            <p:nvPr/>
          </p:nvSpPr>
          <p:spPr>
            <a:xfrm>
              <a:off x="5491475" y="2634400"/>
              <a:ext cx="118875" cy="90200"/>
            </a:xfrm>
            <a:custGeom>
              <a:avLst/>
              <a:gdLst/>
              <a:ahLst/>
              <a:cxnLst/>
              <a:rect l="l" t="t" r="r" b="b"/>
              <a:pathLst>
                <a:path w="4755" h="3608" extrusionOk="0">
                  <a:moveTo>
                    <a:pt x="488" y="1"/>
                  </a:moveTo>
                  <a:cubicBezTo>
                    <a:pt x="488" y="1"/>
                    <a:pt x="0" y="902"/>
                    <a:pt x="397" y="2134"/>
                  </a:cubicBezTo>
                  <a:cubicBezTo>
                    <a:pt x="250" y="2491"/>
                    <a:pt x="779" y="3047"/>
                    <a:pt x="1577" y="3376"/>
                  </a:cubicBezTo>
                  <a:cubicBezTo>
                    <a:pt x="1955" y="3530"/>
                    <a:pt x="2325" y="3607"/>
                    <a:pt x="2626" y="3607"/>
                  </a:cubicBezTo>
                  <a:cubicBezTo>
                    <a:pt x="2947" y="3607"/>
                    <a:pt x="3189" y="3520"/>
                    <a:pt x="3278" y="3348"/>
                  </a:cubicBezTo>
                  <a:lnTo>
                    <a:pt x="3290" y="3354"/>
                  </a:lnTo>
                  <a:cubicBezTo>
                    <a:pt x="4449" y="2779"/>
                    <a:pt x="4755" y="1802"/>
                    <a:pt x="4755" y="1802"/>
                  </a:cubicBezTo>
                  <a:lnTo>
                    <a:pt x="4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23;p24">
              <a:extLst>
                <a:ext uri="{FF2B5EF4-FFF2-40B4-BE49-F238E27FC236}">
                  <a16:creationId xmlns:a16="http://schemas.microsoft.com/office/drawing/2014/main" id="{7CEB9322-8E99-63AA-5341-DCEC4DDC10C8}"/>
                </a:ext>
              </a:extLst>
            </p:cNvPr>
            <p:cNvSpPr/>
            <p:nvPr/>
          </p:nvSpPr>
          <p:spPr>
            <a:xfrm>
              <a:off x="5498250" y="2623925"/>
              <a:ext cx="117675" cy="64950"/>
            </a:xfrm>
            <a:custGeom>
              <a:avLst/>
              <a:gdLst/>
              <a:ahLst/>
              <a:cxnLst/>
              <a:rect l="l" t="t" r="r" b="b"/>
              <a:pathLst>
                <a:path w="4707" h="2598" extrusionOk="0">
                  <a:moveTo>
                    <a:pt x="1198" y="1"/>
                  </a:moveTo>
                  <a:cubicBezTo>
                    <a:pt x="701" y="1"/>
                    <a:pt x="331" y="142"/>
                    <a:pt x="217" y="420"/>
                  </a:cubicBezTo>
                  <a:cubicBezTo>
                    <a:pt x="0" y="947"/>
                    <a:pt x="780" y="1769"/>
                    <a:pt x="1960" y="2254"/>
                  </a:cubicBezTo>
                  <a:cubicBezTo>
                    <a:pt x="2517" y="2484"/>
                    <a:pt x="3064" y="2597"/>
                    <a:pt x="3509" y="2597"/>
                  </a:cubicBezTo>
                  <a:cubicBezTo>
                    <a:pt x="4006" y="2597"/>
                    <a:pt x="4375" y="2456"/>
                    <a:pt x="4490" y="2178"/>
                  </a:cubicBezTo>
                  <a:cubicBezTo>
                    <a:pt x="4707" y="1650"/>
                    <a:pt x="3926" y="829"/>
                    <a:pt x="2746" y="343"/>
                  </a:cubicBezTo>
                  <a:cubicBezTo>
                    <a:pt x="2189" y="114"/>
                    <a:pt x="1642" y="1"/>
                    <a:pt x="1198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24;p24">
              <a:extLst>
                <a:ext uri="{FF2B5EF4-FFF2-40B4-BE49-F238E27FC236}">
                  <a16:creationId xmlns:a16="http://schemas.microsoft.com/office/drawing/2014/main" id="{C35804B8-AECB-7130-4CF1-D20DF442AE17}"/>
                </a:ext>
              </a:extLst>
            </p:cNvPr>
            <p:cNvSpPr/>
            <p:nvPr/>
          </p:nvSpPr>
          <p:spPr>
            <a:xfrm>
              <a:off x="4786400" y="2462150"/>
              <a:ext cx="360800" cy="211625"/>
            </a:xfrm>
            <a:custGeom>
              <a:avLst/>
              <a:gdLst/>
              <a:ahLst/>
              <a:cxnLst/>
              <a:rect l="l" t="t" r="r" b="b"/>
              <a:pathLst>
                <a:path w="14432" h="8465" extrusionOk="0">
                  <a:moveTo>
                    <a:pt x="2547" y="0"/>
                  </a:moveTo>
                  <a:cubicBezTo>
                    <a:pt x="1724" y="0"/>
                    <a:pt x="984" y="572"/>
                    <a:pt x="804" y="1409"/>
                  </a:cubicBezTo>
                  <a:lnTo>
                    <a:pt x="210" y="4152"/>
                  </a:lnTo>
                  <a:cubicBezTo>
                    <a:pt x="1" y="5117"/>
                    <a:pt x="614" y="6068"/>
                    <a:pt x="1578" y="6276"/>
                  </a:cubicBezTo>
                  <a:lnTo>
                    <a:pt x="11505" y="8424"/>
                  </a:lnTo>
                  <a:cubicBezTo>
                    <a:pt x="11633" y="8451"/>
                    <a:pt x="11760" y="8465"/>
                    <a:pt x="11885" y="8465"/>
                  </a:cubicBezTo>
                  <a:cubicBezTo>
                    <a:pt x="12708" y="8465"/>
                    <a:pt x="13447" y="7893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800" y="14"/>
                    <a:pt x="2672" y="0"/>
                    <a:pt x="2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25;p24">
              <a:extLst>
                <a:ext uri="{FF2B5EF4-FFF2-40B4-BE49-F238E27FC236}">
                  <a16:creationId xmlns:a16="http://schemas.microsoft.com/office/drawing/2014/main" id="{90E5112C-6D08-E83E-07FF-BF3CF6ADEF5D}"/>
                </a:ext>
              </a:extLst>
            </p:cNvPr>
            <p:cNvSpPr/>
            <p:nvPr/>
          </p:nvSpPr>
          <p:spPr>
            <a:xfrm>
              <a:off x="4841500" y="2474075"/>
              <a:ext cx="360800" cy="211625"/>
            </a:xfrm>
            <a:custGeom>
              <a:avLst/>
              <a:gdLst/>
              <a:ahLst/>
              <a:cxnLst/>
              <a:rect l="l" t="t" r="r" b="b"/>
              <a:pathLst>
                <a:path w="14432" h="8465" extrusionOk="0">
                  <a:moveTo>
                    <a:pt x="2547" y="1"/>
                  </a:moveTo>
                  <a:cubicBezTo>
                    <a:pt x="1724" y="1"/>
                    <a:pt x="985" y="572"/>
                    <a:pt x="803" y="1409"/>
                  </a:cubicBezTo>
                  <a:lnTo>
                    <a:pt x="210" y="4152"/>
                  </a:lnTo>
                  <a:cubicBezTo>
                    <a:pt x="1" y="5117"/>
                    <a:pt x="614" y="6067"/>
                    <a:pt x="1578" y="6276"/>
                  </a:cubicBezTo>
                  <a:lnTo>
                    <a:pt x="11505" y="8424"/>
                  </a:lnTo>
                  <a:cubicBezTo>
                    <a:pt x="11632" y="8451"/>
                    <a:pt x="11759" y="8465"/>
                    <a:pt x="11884" y="8465"/>
                  </a:cubicBezTo>
                  <a:cubicBezTo>
                    <a:pt x="12707" y="8465"/>
                    <a:pt x="13447" y="7892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799" y="14"/>
                    <a:pt x="2672" y="1"/>
                    <a:pt x="25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6;p24">
              <a:extLst>
                <a:ext uri="{FF2B5EF4-FFF2-40B4-BE49-F238E27FC236}">
                  <a16:creationId xmlns:a16="http://schemas.microsoft.com/office/drawing/2014/main" id="{6DD46351-AD37-9294-E17E-2550391B48C5}"/>
                </a:ext>
              </a:extLst>
            </p:cNvPr>
            <p:cNvSpPr/>
            <p:nvPr/>
          </p:nvSpPr>
          <p:spPr>
            <a:xfrm>
              <a:off x="4852100" y="2482925"/>
              <a:ext cx="339600" cy="193900"/>
            </a:xfrm>
            <a:custGeom>
              <a:avLst/>
              <a:gdLst/>
              <a:ahLst/>
              <a:cxnLst/>
              <a:rect l="l" t="t" r="r" b="b"/>
              <a:pathLst>
                <a:path w="13584" h="7756" extrusionOk="0">
                  <a:moveTo>
                    <a:pt x="2125" y="0"/>
                  </a:moveTo>
                  <a:cubicBezTo>
                    <a:pt x="1466" y="0"/>
                    <a:pt x="871" y="460"/>
                    <a:pt x="726" y="1129"/>
                  </a:cubicBezTo>
                  <a:lnTo>
                    <a:pt x="133" y="3874"/>
                  </a:lnTo>
                  <a:cubicBezTo>
                    <a:pt x="1" y="4485"/>
                    <a:pt x="275" y="5106"/>
                    <a:pt x="816" y="5416"/>
                  </a:cubicBezTo>
                  <a:cubicBezTo>
                    <a:pt x="944" y="5490"/>
                    <a:pt x="1082" y="5543"/>
                    <a:pt x="1229" y="5575"/>
                  </a:cubicBezTo>
                  <a:lnTo>
                    <a:pt x="11155" y="7723"/>
                  </a:lnTo>
                  <a:cubicBezTo>
                    <a:pt x="11257" y="7745"/>
                    <a:pt x="11358" y="7755"/>
                    <a:pt x="11459" y="7755"/>
                  </a:cubicBezTo>
                  <a:cubicBezTo>
                    <a:pt x="12118" y="7755"/>
                    <a:pt x="12713" y="7297"/>
                    <a:pt x="12858" y="6626"/>
                  </a:cubicBezTo>
                  <a:lnTo>
                    <a:pt x="13451" y="3883"/>
                  </a:lnTo>
                  <a:cubicBezTo>
                    <a:pt x="13583" y="3271"/>
                    <a:pt x="13309" y="2652"/>
                    <a:pt x="12767" y="2340"/>
                  </a:cubicBezTo>
                  <a:cubicBezTo>
                    <a:pt x="12640" y="2266"/>
                    <a:pt x="12500" y="2212"/>
                    <a:pt x="12355" y="2181"/>
                  </a:cubicBezTo>
                  <a:lnTo>
                    <a:pt x="2427" y="33"/>
                  </a:lnTo>
                  <a:cubicBezTo>
                    <a:pt x="2326" y="11"/>
                    <a:pt x="2225" y="0"/>
                    <a:pt x="2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27;p24">
              <a:extLst>
                <a:ext uri="{FF2B5EF4-FFF2-40B4-BE49-F238E27FC236}">
                  <a16:creationId xmlns:a16="http://schemas.microsoft.com/office/drawing/2014/main" id="{09836472-23CC-37BB-84FB-357852AB6FAD}"/>
                </a:ext>
              </a:extLst>
            </p:cNvPr>
            <p:cNvSpPr/>
            <p:nvPr/>
          </p:nvSpPr>
          <p:spPr>
            <a:xfrm>
              <a:off x="5110550" y="2563175"/>
              <a:ext cx="51225" cy="89100"/>
            </a:xfrm>
            <a:custGeom>
              <a:avLst/>
              <a:gdLst/>
              <a:ahLst/>
              <a:cxnLst/>
              <a:rect l="l" t="t" r="r" b="b"/>
              <a:pathLst>
                <a:path w="2049" h="3564" extrusionOk="0">
                  <a:moveTo>
                    <a:pt x="1252" y="1"/>
                  </a:moveTo>
                  <a:cubicBezTo>
                    <a:pt x="916" y="1"/>
                    <a:pt x="615" y="234"/>
                    <a:pt x="540" y="575"/>
                  </a:cubicBezTo>
                  <a:lnTo>
                    <a:pt x="86" y="2680"/>
                  </a:lnTo>
                  <a:cubicBezTo>
                    <a:pt x="1" y="3074"/>
                    <a:pt x="249" y="3462"/>
                    <a:pt x="643" y="3547"/>
                  </a:cubicBezTo>
                  <a:cubicBezTo>
                    <a:pt x="695" y="3558"/>
                    <a:pt x="746" y="3563"/>
                    <a:pt x="797" y="3563"/>
                  </a:cubicBezTo>
                  <a:cubicBezTo>
                    <a:pt x="1132" y="3563"/>
                    <a:pt x="1434" y="3330"/>
                    <a:pt x="1508" y="2988"/>
                  </a:cubicBezTo>
                  <a:lnTo>
                    <a:pt x="1964" y="882"/>
                  </a:lnTo>
                  <a:cubicBezTo>
                    <a:pt x="2049" y="490"/>
                    <a:pt x="1799" y="102"/>
                    <a:pt x="1406" y="17"/>
                  </a:cubicBezTo>
                  <a:cubicBezTo>
                    <a:pt x="1355" y="6"/>
                    <a:pt x="1303" y="1"/>
                    <a:pt x="1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28;p24">
              <a:extLst>
                <a:ext uri="{FF2B5EF4-FFF2-40B4-BE49-F238E27FC236}">
                  <a16:creationId xmlns:a16="http://schemas.microsoft.com/office/drawing/2014/main" id="{CA654365-39B5-E4CE-00FE-91CDB2880D0E}"/>
                </a:ext>
              </a:extLst>
            </p:cNvPr>
            <p:cNvSpPr/>
            <p:nvPr/>
          </p:nvSpPr>
          <p:spPr>
            <a:xfrm>
              <a:off x="4967900" y="2531650"/>
              <a:ext cx="51275" cy="89075"/>
            </a:xfrm>
            <a:custGeom>
              <a:avLst/>
              <a:gdLst/>
              <a:ahLst/>
              <a:cxnLst/>
              <a:rect l="l" t="t" r="r" b="b"/>
              <a:pathLst>
                <a:path w="2051" h="3563" extrusionOk="0">
                  <a:moveTo>
                    <a:pt x="1253" y="0"/>
                  </a:moveTo>
                  <a:cubicBezTo>
                    <a:pt x="917" y="0"/>
                    <a:pt x="615" y="233"/>
                    <a:pt x="542" y="574"/>
                  </a:cubicBezTo>
                  <a:lnTo>
                    <a:pt x="87" y="2679"/>
                  </a:lnTo>
                  <a:cubicBezTo>
                    <a:pt x="1" y="3073"/>
                    <a:pt x="251" y="3461"/>
                    <a:pt x="645" y="3546"/>
                  </a:cubicBezTo>
                  <a:cubicBezTo>
                    <a:pt x="696" y="3557"/>
                    <a:pt x="748" y="3562"/>
                    <a:pt x="799" y="3562"/>
                  </a:cubicBezTo>
                  <a:cubicBezTo>
                    <a:pt x="1134" y="3562"/>
                    <a:pt x="1436" y="3329"/>
                    <a:pt x="1509" y="2988"/>
                  </a:cubicBezTo>
                  <a:lnTo>
                    <a:pt x="1965" y="883"/>
                  </a:lnTo>
                  <a:cubicBezTo>
                    <a:pt x="2050" y="489"/>
                    <a:pt x="1800" y="101"/>
                    <a:pt x="1408" y="17"/>
                  </a:cubicBezTo>
                  <a:cubicBezTo>
                    <a:pt x="1356" y="5"/>
                    <a:pt x="1304" y="0"/>
                    <a:pt x="12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29;p24">
              <a:extLst>
                <a:ext uri="{FF2B5EF4-FFF2-40B4-BE49-F238E27FC236}">
                  <a16:creationId xmlns:a16="http://schemas.microsoft.com/office/drawing/2014/main" id="{3B6C2D24-3E6B-593C-5E1A-E553643FFACA}"/>
                </a:ext>
              </a:extLst>
            </p:cNvPr>
            <p:cNvSpPr/>
            <p:nvPr/>
          </p:nvSpPr>
          <p:spPr>
            <a:xfrm>
              <a:off x="5563000" y="2623925"/>
              <a:ext cx="144650" cy="69950"/>
            </a:xfrm>
            <a:custGeom>
              <a:avLst/>
              <a:gdLst/>
              <a:ahLst/>
              <a:cxnLst/>
              <a:rect l="l" t="t" r="r" b="b"/>
              <a:pathLst>
                <a:path w="5786" h="2798" extrusionOk="0">
                  <a:moveTo>
                    <a:pt x="5180" y="1"/>
                  </a:moveTo>
                  <a:cubicBezTo>
                    <a:pt x="4976" y="1"/>
                    <a:pt x="4781" y="119"/>
                    <a:pt x="4693" y="318"/>
                  </a:cubicBezTo>
                  <a:cubicBezTo>
                    <a:pt x="4307" y="1189"/>
                    <a:pt x="3451" y="1732"/>
                    <a:pt x="2525" y="1732"/>
                  </a:cubicBezTo>
                  <a:cubicBezTo>
                    <a:pt x="2390" y="1732"/>
                    <a:pt x="2252" y="1721"/>
                    <a:pt x="2115" y="1697"/>
                  </a:cubicBezTo>
                  <a:lnTo>
                    <a:pt x="662" y="1444"/>
                  </a:lnTo>
                  <a:cubicBezTo>
                    <a:pt x="632" y="1439"/>
                    <a:pt x="601" y="1436"/>
                    <a:pt x="571" y="1436"/>
                  </a:cubicBezTo>
                  <a:cubicBezTo>
                    <a:pt x="317" y="1436"/>
                    <a:pt x="92" y="1618"/>
                    <a:pt x="47" y="1877"/>
                  </a:cubicBezTo>
                  <a:cubicBezTo>
                    <a:pt x="0" y="2141"/>
                    <a:pt x="158" y="2394"/>
                    <a:pt x="405" y="2474"/>
                  </a:cubicBezTo>
                  <a:cubicBezTo>
                    <a:pt x="429" y="2483"/>
                    <a:pt x="453" y="2489"/>
                    <a:pt x="479" y="2493"/>
                  </a:cubicBezTo>
                  <a:lnTo>
                    <a:pt x="1932" y="2746"/>
                  </a:lnTo>
                  <a:cubicBezTo>
                    <a:pt x="2131" y="2781"/>
                    <a:pt x="2329" y="2798"/>
                    <a:pt x="2525" y="2798"/>
                  </a:cubicBezTo>
                  <a:cubicBezTo>
                    <a:pt x="3868" y="2798"/>
                    <a:pt x="5108" y="2011"/>
                    <a:pt x="5667" y="749"/>
                  </a:cubicBezTo>
                  <a:cubicBezTo>
                    <a:pt x="5785" y="479"/>
                    <a:pt x="5664" y="165"/>
                    <a:pt x="5394" y="46"/>
                  </a:cubicBezTo>
                  <a:cubicBezTo>
                    <a:pt x="5325" y="15"/>
                    <a:pt x="5252" y="1"/>
                    <a:pt x="5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30;p24">
              <a:extLst>
                <a:ext uri="{FF2B5EF4-FFF2-40B4-BE49-F238E27FC236}">
                  <a16:creationId xmlns:a16="http://schemas.microsoft.com/office/drawing/2014/main" id="{1B8B2FC9-3DB9-E5C1-0D65-F8A7A4B0553F}"/>
                </a:ext>
              </a:extLst>
            </p:cNvPr>
            <p:cNvSpPr/>
            <p:nvPr/>
          </p:nvSpPr>
          <p:spPr>
            <a:xfrm>
              <a:off x="5560725" y="2556250"/>
              <a:ext cx="98475" cy="106000"/>
            </a:xfrm>
            <a:custGeom>
              <a:avLst/>
              <a:gdLst/>
              <a:ahLst/>
              <a:cxnLst/>
              <a:rect l="l" t="t" r="r" b="b"/>
              <a:pathLst>
                <a:path w="3939" h="4240" extrusionOk="0">
                  <a:moveTo>
                    <a:pt x="3307" y="1"/>
                  </a:moveTo>
                  <a:cubicBezTo>
                    <a:pt x="3296" y="1"/>
                    <a:pt x="3285" y="1"/>
                    <a:pt x="3274" y="2"/>
                  </a:cubicBezTo>
                  <a:cubicBezTo>
                    <a:pt x="2980" y="20"/>
                    <a:pt x="2757" y="273"/>
                    <a:pt x="2777" y="567"/>
                  </a:cubicBezTo>
                  <a:cubicBezTo>
                    <a:pt x="2847" y="1658"/>
                    <a:pt x="2167" y="2650"/>
                    <a:pt x="1126" y="2980"/>
                  </a:cubicBezTo>
                  <a:lnTo>
                    <a:pt x="435" y="3200"/>
                  </a:lnTo>
                  <a:cubicBezTo>
                    <a:pt x="155" y="3289"/>
                    <a:pt x="1" y="3587"/>
                    <a:pt x="88" y="3868"/>
                  </a:cubicBezTo>
                  <a:cubicBezTo>
                    <a:pt x="148" y="4051"/>
                    <a:pt x="296" y="4181"/>
                    <a:pt x="472" y="4224"/>
                  </a:cubicBezTo>
                  <a:cubicBezTo>
                    <a:pt x="513" y="4234"/>
                    <a:pt x="555" y="4239"/>
                    <a:pt x="598" y="4239"/>
                  </a:cubicBezTo>
                  <a:cubicBezTo>
                    <a:pt x="651" y="4239"/>
                    <a:pt x="705" y="4231"/>
                    <a:pt x="758" y="4214"/>
                  </a:cubicBezTo>
                  <a:lnTo>
                    <a:pt x="1447" y="3995"/>
                  </a:lnTo>
                  <a:cubicBezTo>
                    <a:pt x="2956" y="3516"/>
                    <a:pt x="3939" y="2079"/>
                    <a:pt x="3839" y="499"/>
                  </a:cubicBezTo>
                  <a:cubicBezTo>
                    <a:pt x="3821" y="218"/>
                    <a:pt x="3587" y="1"/>
                    <a:pt x="3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31;p24">
              <a:extLst>
                <a:ext uri="{FF2B5EF4-FFF2-40B4-BE49-F238E27FC236}">
                  <a16:creationId xmlns:a16="http://schemas.microsoft.com/office/drawing/2014/main" id="{3134703C-49C1-0B3C-A10F-AD245E3DB9B3}"/>
                </a:ext>
              </a:extLst>
            </p:cNvPr>
            <p:cNvSpPr/>
            <p:nvPr/>
          </p:nvSpPr>
          <p:spPr>
            <a:xfrm>
              <a:off x="4873700" y="2352750"/>
              <a:ext cx="192300" cy="110800"/>
            </a:xfrm>
            <a:custGeom>
              <a:avLst/>
              <a:gdLst/>
              <a:ahLst/>
              <a:cxnLst/>
              <a:rect l="l" t="t" r="r" b="b"/>
              <a:pathLst>
                <a:path w="7692" h="4432" extrusionOk="0">
                  <a:moveTo>
                    <a:pt x="2638" y="0"/>
                  </a:moveTo>
                  <a:cubicBezTo>
                    <a:pt x="1529" y="0"/>
                    <a:pt x="620" y="328"/>
                    <a:pt x="229" y="900"/>
                  </a:cubicBezTo>
                  <a:cubicBezTo>
                    <a:pt x="150" y="1015"/>
                    <a:pt x="93" y="1141"/>
                    <a:pt x="58" y="1274"/>
                  </a:cubicBezTo>
                  <a:lnTo>
                    <a:pt x="58" y="1276"/>
                  </a:lnTo>
                  <a:cubicBezTo>
                    <a:pt x="0" y="1498"/>
                    <a:pt x="11" y="1729"/>
                    <a:pt x="84" y="1960"/>
                  </a:cubicBezTo>
                  <a:cubicBezTo>
                    <a:pt x="368" y="2881"/>
                    <a:pt x="1598" y="3807"/>
                    <a:pt x="3219" y="4220"/>
                  </a:cubicBezTo>
                  <a:cubicBezTo>
                    <a:pt x="3777" y="4364"/>
                    <a:pt x="4324" y="4431"/>
                    <a:pt x="4829" y="4431"/>
                  </a:cubicBezTo>
                  <a:cubicBezTo>
                    <a:pt x="6161" y="4431"/>
                    <a:pt x="7203" y="3960"/>
                    <a:pt x="7409" y="3157"/>
                  </a:cubicBezTo>
                  <a:cubicBezTo>
                    <a:pt x="7692" y="2048"/>
                    <a:pt x="6277" y="731"/>
                    <a:pt x="4246" y="211"/>
                  </a:cubicBezTo>
                  <a:cubicBezTo>
                    <a:pt x="3688" y="68"/>
                    <a:pt x="3142" y="0"/>
                    <a:pt x="2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32;p24">
              <a:extLst>
                <a:ext uri="{FF2B5EF4-FFF2-40B4-BE49-F238E27FC236}">
                  <a16:creationId xmlns:a16="http://schemas.microsoft.com/office/drawing/2014/main" id="{DB7265B3-E3C7-348D-9A04-AFDB79FB731F}"/>
                </a:ext>
              </a:extLst>
            </p:cNvPr>
            <p:cNvSpPr/>
            <p:nvPr/>
          </p:nvSpPr>
          <p:spPr>
            <a:xfrm>
              <a:off x="4873700" y="2375275"/>
              <a:ext cx="16175" cy="26500"/>
            </a:xfrm>
            <a:custGeom>
              <a:avLst/>
              <a:gdLst/>
              <a:ahLst/>
              <a:cxnLst/>
              <a:rect l="l" t="t" r="r" b="b"/>
              <a:pathLst>
                <a:path w="647" h="1060" extrusionOk="0">
                  <a:moveTo>
                    <a:pt x="227" y="1"/>
                  </a:moveTo>
                  <a:cubicBezTo>
                    <a:pt x="149" y="114"/>
                    <a:pt x="91" y="240"/>
                    <a:pt x="58" y="375"/>
                  </a:cubicBezTo>
                  <a:cubicBezTo>
                    <a:pt x="0" y="597"/>
                    <a:pt x="11" y="828"/>
                    <a:pt x="84" y="1059"/>
                  </a:cubicBezTo>
                  <a:cubicBezTo>
                    <a:pt x="330" y="1020"/>
                    <a:pt x="529" y="875"/>
                    <a:pt x="583" y="661"/>
                  </a:cubicBezTo>
                  <a:cubicBezTo>
                    <a:pt x="647" y="413"/>
                    <a:pt x="496" y="149"/>
                    <a:pt x="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33;p24">
              <a:extLst>
                <a:ext uri="{FF2B5EF4-FFF2-40B4-BE49-F238E27FC236}">
                  <a16:creationId xmlns:a16="http://schemas.microsoft.com/office/drawing/2014/main" id="{D17D99DB-7388-6D6C-EAB1-EBA7BB0CCD72}"/>
                </a:ext>
              </a:extLst>
            </p:cNvPr>
            <p:cNvSpPr/>
            <p:nvPr/>
          </p:nvSpPr>
          <p:spPr>
            <a:xfrm>
              <a:off x="4801900" y="2507750"/>
              <a:ext cx="50225" cy="71325"/>
            </a:xfrm>
            <a:custGeom>
              <a:avLst/>
              <a:gdLst/>
              <a:ahLst/>
              <a:cxnLst/>
              <a:rect l="l" t="t" r="r" b="b"/>
              <a:pathLst>
                <a:path w="2009" h="2853" extrusionOk="0">
                  <a:moveTo>
                    <a:pt x="1036" y="0"/>
                  </a:moveTo>
                  <a:cubicBezTo>
                    <a:pt x="887" y="0"/>
                    <a:pt x="753" y="104"/>
                    <a:pt x="720" y="255"/>
                  </a:cubicBezTo>
                  <a:lnTo>
                    <a:pt x="271" y="2327"/>
                  </a:lnTo>
                  <a:cubicBezTo>
                    <a:pt x="234" y="2501"/>
                    <a:pt x="0" y="2598"/>
                    <a:pt x="176" y="2636"/>
                  </a:cubicBezTo>
                  <a:lnTo>
                    <a:pt x="1139" y="2845"/>
                  </a:lnTo>
                  <a:cubicBezTo>
                    <a:pt x="1162" y="2850"/>
                    <a:pt x="1186" y="2852"/>
                    <a:pt x="1208" y="2852"/>
                  </a:cubicBezTo>
                  <a:cubicBezTo>
                    <a:pt x="1357" y="2852"/>
                    <a:pt x="1491" y="2749"/>
                    <a:pt x="1524" y="2596"/>
                  </a:cubicBezTo>
                  <a:lnTo>
                    <a:pt x="1971" y="526"/>
                  </a:lnTo>
                  <a:cubicBezTo>
                    <a:pt x="2009" y="352"/>
                    <a:pt x="1898" y="179"/>
                    <a:pt x="1724" y="141"/>
                  </a:cubicBezTo>
                  <a:lnTo>
                    <a:pt x="1105" y="8"/>
                  </a:lnTo>
                  <a:cubicBezTo>
                    <a:pt x="1081" y="3"/>
                    <a:pt x="1058" y="0"/>
                    <a:pt x="103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34;p24">
              <a:extLst>
                <a:ext uri="{FF2B5EF4-FFF2-40B4-BE49-F238E27FC236}">
                  <a16:creationId xmlns:a16="http://schemas.microsoft.com/office/drawing/2014/main" id="{656942B6-ACCE-0D39-EE43-FB47119DF399}"/>
                </a:ext>
              </a:extLst>
            </p:cNvPr>
            <p:cNvSpPr/>
            <p:nvPr/>
          </p:nvSpPr>
          <p:spPr>
            <a:xfrm>
              <a:off x="4799725" y="2506000"/>
              <a:ext cx="39675" cy="70200"/>
            </a:xfrm>
            <a:custGeom>
              <a:avLst/>
              <a:gdLst/>
              <a:ahLst/>
              <a:cxnLst/>
              <a:rect l="l" t="t" r="r" b="b"/>
              <a:pathLst>
                <a:path w="1587" h="2808" extrusionOk="0">
                  <a:moveTo>
                    <a:pt x="802" y="1"/>
                  </a:moveTo>
                  <a:cubicBezTo>
                    <a:pt x="653" y="1"/>
                    <a:pt x="519" y="104"/>
                    <a:pt x="487" y="255"/>
                  </a:cubicBezTo>
                  <a:lnTo>
                    <a:pt x="39" y="2327"/>
                  </a:lnTo>
                  <a:cubicBezTo>
                    <a:pt x="1" y="2501"/>
                    <a:pt x="112" y="2674"/>
                    <a:pt x="286" y="2712"/>
                  </a:cubicBezTo>
                  <a:lnTo>
                    <a:pt x="717" y="2800"/>
                  </a:lnTo>
                  <a:cubicBezTo>
                    <a:pt x="741" y="2805"/>
                    <a:pt x="764" y="2807"/>
                    <a:pt x="786" y="2807"/>
                  </a:cubicBezTo>
                  <a:cubicBezTo>
                    <a:pt x="935" y="2807"/>
                    <a:pt x="1069" y="2704"/>
                    <a:pt x="1102" y="2551"/>
                  </a:cubicBezTo>
                  <a:lnTo>
                    <a:pt x="1549" y="481"/>
                  </a:lnTo>
                  <a:cubicBezTo>
                    <a:pt x="1587" y="306"/>
                    <a:pt x="1476" y="134"/>
                    <a:pt x="1302" y="96"/>
                  </a:cubicBezTo>
                  <a:lnTo>
                    <a:pt x="870" y="8"/>
                  </a:lnTo>
                  <a:cubicBezTo>
                    <a:pt x="847" y="3"/>
                    <a:pt x="824" y="1"/>
                    <a:pt x="8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35;p24">
              <a:extLst>
                <a:ext uri="{FF2B5EF4-FFF2-40B4-BE49-F238E27FC236}">
                  <a16:creationId xmlns:a16="http://schemas.microsoft.com/office/drawing/2014/main" id="{5A17C0B8-7B50-82DF-8D99-6F39167805FD}"/>
                </a:ext>
              </a:extLst>
            </p:cNvPr>
            <p:cNvSpPr/>
            <p:nvPr/>
          </p:nvSpPr>
          <p:spPr>
            <a:xfrm>
              <a:off x="4812500" y="2313275"/>
              <a:ext cx="60150" cy="225100"/>
            </a:xfrm>
            <a:custGeom>
              <a:avLst/>
              <a:gdLst/>
              <a:ahLst/>
              <a:cxnLst/>
              <a:rect l="l" t="t" r="r" b="b"/>
              <a:pathLst>
                <a:path w="2406" h="9004" extrusionOk="0">
                  <a:moveTo>
                    <a:pt x="2107" y="1"/>
                  </a:moveTo>
                  <a:cubicBezTo>
                    <a:pt x="1980" y="1"/>
                    <a:pt x="1867" y="89"/>
                    <a:pt x="1839" y="216"/>
                  </a:cubicBezTo>
                  <a:lnTo>
                    <a:pt x="32" y="8671"/>
                  </a:lnTo>
                  <a:cubicBezTo>
                    <a:pt x="0" y="8818"/>
                    <a:pt x="94" y="8965"/>
                    <a:pt x="243" y="8997"/>
                  </a:cubicBezTo>
                  <a:cubicBezTo>
                    <a:pt x="262" y="9001"/>
                    <a:pt x="281" y="9003"/>
                    <a:pt x="300" y="9003"/>
                  </a:cubicBezTo>
                  <a:cubicBezTo>
                    <a:pt x="426" y="9003"/>
                    <a:pt x="539" y="8915"/>
                    <a:pt x="567" y="8786"/>
                  </a:cubicBezTo>
                  <a:lnTo>
                    <a:pt x="2374" y="331"/>
                  </a:lnTo>
                  <a:cubicBezTo>
                    <a:pt x="2406" y="184"/>
                    <a:pt x="2312" y="39"/>
                    <a:pt x="2165" y="7"/>
                  </a:cubicBezTo>
                  <a:cubicBezTo>
                    <a:pt x="2145" y="3"/>
                    <a:pt x="2126" y="1"/>
                    <a:pt x="2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36;p24">
              <a:extLst>
                <a:ext uri="{FF2B5EF4-FFF2-40B4-BE49-F238E27FC236}">
                  <a16:creationId xmlns:a16="http://schemas.microsoft.com/office/drawing/2014/main" id="{589EB044-9594-C792-2333-C863C22A2A2B}"/>
                </a:ext>
              </a:extLst>
            </p:cNvPr>
            <p:cNvSpPr/>
            <p:nvPr/>
          </p:nvSpPr>
          <p:spPr>
            <a:xfrm>
              <a:off x="5479800" y="2765175"/>
              <a:ext cx="50275" cy="32250"/>
            </a:xfrm>
            <a:custGeom>
              <a:avLst/>
              <a:gdLst/>
              <a:ahLst/>
              <a:cxnLst/>
              <a:rect l="l" t="t" r="r" b="b"/>
              <a:pathLst>
                <a:path w="2011" h="1290" extrusionOk="0">
                  <a:moveTo>
                    <a:pt x="134" y="0"/>
                  </a:moveTo>
                  <a:lnTo>
                    <a:pt x="1" y="288"/>
                  </a:lnTo>
                  <a:cubicBezTo>
                    <a:pt x="272" y="609"/>
                    <a:pt x="558" y="832"/>
                    <a:pt x="834" y="983"/>
                  </a:cubicBezTo>
                  <a:cubicBezTo>
                    <a:pt x="1228" y="1198"/>
                    <a:pt x="1602" y="1271"/>
                    <a:pt x="1883" y="1289"/>
                  </a:cubicBezTo>
                  <a:lnTo>
                    <a:pt x="2011" y="1015"/>
                  </a:lnTo>
                  <a:lnTo>
                    <a:pt x="2011" y="1015"/>
                  </a:lnTo>
                  <a:cubicBezTo>
                    <a:pt x="2008" y="1015"/>
                    <a:pt x="2006" y="1015"/>
                    <a:pt x="2004" y="1015"/>
                  </a:cubicBezTo>
                  <a:cubicBezTo>
                    <a:pt x="1583" y="1015"/>
                    <a:pt x="809" y="877"/>
                    <a:pt x="13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37;p24">
              <a:extLst>
                <a:ext uri="{FF2B5EF4-FFF2-40B4-BE49-F238E27FC236}">
                  <a16:creationId xmlns:a16="http://schemas.microsoft.com/office/drawing/2014/main" id="{5275B9CF-8997-91C2-409A-F21DBE9E7E9C}"/>
                </a:ext>
              </a:extLst>
            </p:cNvPr>
            <p:cNvSpPr/>
            <p:nvPr/>
          </p:nvSpPr>
          <p:spPr>
            <a:xfrm>
              <a:off x="5432425" y="2845550"/>
              <a:ext cx="47625" cy="37750"/>
            </a:xfrm>
            <a:custGeom>
              <a:avLst/>
              <a:gdLst/>
              <a:ahLst/>
              <a:cxnLst/>
              <a:rect l="l" t="t" r="r" b="b"/>
              <a:pathLst>
                <a:path w="1905" h="1510" extrusionOk="0">
                  <a:moveTo>
                    <a:pt x="192" y="1"/>
                  </a:moveTo>
                  <a:cubicBezTo>
                    <a:pt x="129" y="75"/>
                    <a:pt x="66" y="149"/>
                    <a:pt x="1" y="221"/>
                  </a:cubicBezTo>
                  <a:cubicBezTo>
                    <a:pt x="352" y="726"/>
                    <a:pt x="773" y="1054"/>
                    <a:pt x="1163" y="1267"/>
                  </a:cubicBezTo>
                  <a:cubicBezTo>
                    <a:pt x="1358" y="1375"/>
                    <a:pt x="1546" y="1452"/>
                    <a:pt x="1711" y="1510"/>
                  </a:cubicBezTo>
                  <a:cubicBezTo>
                    <a:pt x="1778" y="1434"/>
                    <a:pt x="1841" y="1357"/>
                    <a:pt x="1905" y="1279"/>
                  </a:cubicBezTo>
                  <a:cubicBezTo>
                    <a:pt x="1440" y="1143"/>
                    <a:pt x="723" y="811"/>
                    <a:pt x="19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38;p24">
              <a:extLst>
                <a:ext uri="{FF2B5EF4-FFF2-40B4-BE49-F238E27FC236}">
                  <a16:creationId xmlns:a16="http://schemas.microsoft.com/office/drawing/2014/main" id="{33D7B042-B387-072A-F47C-B3E629EB4523}"/>
                </a:ext>
              </a:extLst>
            </p:cNvPr>
            <p:cNvSpPr/>
            <p:nvPr/>
          </p:nvSpPr>
          <p:spPr>
            <a:xfrm>
              <a:off x="5369900" y="2895850"/>
              <a:ext cx="43275" cy="44300"/>
            </a:xfrm>
            <a:custGeom>
              <a:avLst/>
              <a:gdLst/>
              <a:ahLst/>
              <a:cxnLst/>
              <a:rect l="l" t="t" r="r" b="b"/>
              <a:pathLst>
                <a:path w="1731" h="1772" extrusionOk="0">
                  <a:moveTo>
                    <a:pt x="249" y="0"/>
                  </a:moveTo>
                  <a:cubicBezTo>
                    <a:pt x="168" y="46"/>
                    <a:pt x="84" y="90"/>
                    <a:pt x="1" y="132"/>
                  </a:cubicBezTo>
                  <a:cubicBezTo>
                    <a:pt x="342" y="940"/>
                    <a:pt x="948" y="1456"/>
                    <a:pt x="1464" y="1771"/>
                  </a:cubicBezTo>
                  <a:cubicBezTo>
                    <a:pt x="1554" y="1718"/>
                    <a:pt x="1643" y="1665"/>
                    <a:pt x="1731" y="1609"/>
                  </a:cubicBezTo>
                  <a:cubicBezTo>
                    <a:pt x="1223" y="1330"/>
                    <a:pt x="587" y="835"/>
                    <a:pt x="24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39;p24">
              <a:extLst>
                <a:ext uri="{FF2B5EF4-FFF2-40B4-BE49-F238E27FC236}">
                  <a16:creationId xmlns:a16="http://schemas.microsoft.com/office/drawing/2014/main" id="{06847F64-B8DF-7743-73A9-195D2175CF32}"/>
                </a:ext>
              </a:extLst>
            </p:cNvPr>
            <p:cNvSpPr/>
            <p:nvPr/>
          </p:nvSpPr>
          <p:spPr>
            <a:xfrm>
              <a:off x="5292900" y="2921750"/>
              <a:ext cx="30075" cy="51950"/>
            </a:xfrm>
            <a:custGeom>
              <a:avLst/>
              <a:gdLst/>
              <a:ahLst/>
              <a:cxnLst/>
              <a:rect l="l" t="t" r="r" b="b"/>
              <a:pathLst>
                <a:path w="1203" h="2078" extrusionOk="0">
                  <a:moveTo>
                    <a:pt x="294" y="0"/>
                  </a:moveTo>
                  <a:cubicBezTo>
                    <a:pt x="200" y="16"/>
                    <a:pt x="105" y="28"/>
                    <a:pt x="11" y="40"/>
                  </a:cubicBezTo>
                  <a:cubicBezTo>
                    <a:pt x="0" y="1050"/>
                    <a:pt x="468" y="1706"/>
                    <a:pt x="857" y="2077"/>
                  </a:cubicBezTo>
                  <a:cubicBezTo>
                    <a:pt x="972" y="2057"/>
                    <a:pt x="1088" y="2036"/>
                    <a:pt x="1203" y="2012"/>
                  </a:cubicBezTo>
                  <a:cubicBezTo>
                    <a:pt x="839" y="1724"/>
                    <a:pt x="264" y="1096"/>
                    <a:pt x="29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40;p24">
              <a:extLst>
                <a:ext uri="{FF2B5EF4-FFF2-40B4-BE49-F238E27FC236}">
                  <a16:creationId xmlns:a16="http://schemas.microsoft.com/office/drawing/2014/main" id="{A452D55F-33D7-3FE4-3B3F-661A989E22DE}"/>
                </a:ext>
              </a:extLst>
            </p:cNvPr>
            <p:cNvSpPr/>
            <p:nvPr/>
          </p:nvSpPr>
          <p:spPr>
            <a:xfrm>
              <a:off x="5185875" y="2911900"/>
              <a:ext cx="26675" cy="60050"/>
            </a:xfrm>
            <a:custGeom>
              <a:avLst/>
              <a:gdLst/>
              <a:ahLst/>
              <a:cxnLst/>
              <a:rect l="l" t="t" r="r" b="b"/>
              <a:pathLst>
                <a:path w="1067" h="2402" extrusionOk="0">
                  <a:moveTo>
                    <a:pt x="359" y="1"/>
                  </a:moveTo>
                  <a:lnTo>
                    <a:pt x="359" y="1"/>
                  </a:lnTo>
                  <a:cubicBezTo>
                    <a:pt x="0" y="912"/>
                    <a:pt x="299" y="1732"/>
                    <a:pt x="668" y="2311"/>
                  </a:cubicBezTo>
                  <a:cubicBezTo>
                    <a:pt x="800" y="2344"/>
                    <a:pt x="934" y="2374"/>
                    <a:pt x="1067" y="2401"/>
                  </a:cubicBezTo>
                  <a:cubicBezTo>
                    <a:pt x="665" y="1880"/>
                    <a:pt x="246" y="1043"/>
                    <a:pt x="631" y="90"/>
                  </a:cubicBezTo>
                  <a:cubicBezTo>
                    <a:pt x="540" y="63"/>
                    <a:pt x="450" y="32"/>
                    <a:pt x="35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41;p24">
              <a:extLst>
                <a:ext uri="{FF2B5EF4-FFF2-40B4-BE49-F238E27FC236}">
                  <a16:creationId xmlns:a16="http://schemas.microsoft.com/office/drawing/2014/main" id="{2C9E4A52-1FA0-E645-A70A-0675CA24208F}"/>
                </a:ext>
              </a:extLst>
            </p:cNvPr>
            <p:cNvSpPr/>
            <p:nvPr/>
          </p:nvSpPr>
          <p:spPr>
            <a:xfrm>
              <a:off x="4491350" y="3171375"/>
              <a:ext cx="228400" cy="188525"/>
            </a:xfrm>
            <a:custGeom>
              <a:avLst/>
              <a:gdLst/>
              <a:ahLst/>
              <a:cxnLst/>
              <a:rect l="l" t="t" r="r" b="b"/>
              <a:pathLst>
                <a:path w="9136" h="7541" extrusionOk="0">
                  <a:moveTo>
                    <a:pt x="229" y="0"/>
                  </a:moveTo>
                  <a:cubicBezTo>
                    <a:pt x="153" y="56"/>
                    <a:pt x="77" y="114"/>
                    <a:pt x="0" y="173"/>
                  </a:cubicBezTo>
                  <a:cubicBezTo>
                    <a:pt x="652" y="1229"/>
                    <a:pt x="1609" y="1856"/>
                    <a:pt x="1972" y="2068"/>
                  </a:cubicBezTo>
                  <a:cubicBezTo>
                    <a:pt x="1721" y="2419"/>
                    <a:pt x="1468" y="2810"/>
                    <a:pt x="1224" y="3243"/>
                  </a:cubicBezTo>
                  <a:lnTo>
                    <a:pt x="1165" y="3349"/>
                  </a:lnTo>
                  <a:lnTo>
                    <a:pt x="1260" y="3424"/>
                  </a:lnTo>
                  <a:cubicBezTo>
                    <a:pt x="2589" y="4481"/>
                    <a:pt x="3825" y="5275"/>
                    <a:pt x="4914" y="5871"/>
                  </a:cubicBezTo>
                  <a:cubicBezTo>
                    <a:pt x="6909" y="6964"/>
                    <a:pt x="8405" y="7391"/>
                    <a:pt x="9058" y="7541"/>
                  </a:cubicBezTo>
                  <a:cubicBezTo>
                    <a:pt x="9085" y="7450"/>
                    <a:pt x="9111" y="7359"/>
                    <a:pt x="9135" y="7268"/>
                  </a:cubicBezTo>
                  <a:cubicBezTo>
                    <a:pt x="8187" y="7053"/>
                    <a:pt x="5235" y="6196"/>
                    <a:pt x="1532" y="3278"/>
                  </a:cubicBezTo>
                  <a:cubicBezTo>
                    <a:pt x="1962" y="2528"/>
                    <a:pt x="2425" y="1907"/>
                    <a:pt x="2842" y="1420"/>
                  </a:cubicBezTo>
                  <a:cubicBezTo>
                    <a:pt x="2771" y="1356"/>
                    <a:pt x="2701" y="1289"/>
                    <a:pt x="2633" y="1223"/>
                  </a:cubicBezTo>
                  <a:cubicBezTo>
                    <a:pt x="2475" y="1408"/>
                    <a:pt x="2309" y="1612"/>
                    <a:pt x="2140" y="1838"/>
                  </a:cubicBezTo>
                  <a:cubicBezTo>
                    <a:pt x="1824" y="1653"/>
                    <a:pt x="859" y="1033"/>
                    <a:pt x="2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42;p24">
              <a:extLst>
                <a:ext uri="{FF2B5EF4-FFF2-40B4-BE49-F238E27FC236}">
                  <a16:creationId xmlns:a16="http://schemas.microsoft.com/office/drawing/2014/main" id="{36CE0268-B677-4CB7-F21A-31C27FD5191B}"/>
                </a:ext>
              </a:extLst>
            </p:cNvPr>
            <p:cNvSpPr/>
            <p:nvPr/>
          </p:nvSpPr>
          <p:spPr>
            <a:xfrm>
              <a:off x="5269600" y="2224200"/>
              <a:ext cx="826575" cy="449875"/>
            </a:xfrm>
            <a:custGeom>
              <a:avLst/>
              <a:gdLst/>
              <a:ahLst/>
              <a:cxnLst/>
              <a:rect l="l" t="t" r="r" b="b"/>
              <a:pathLst>
                <a:path w="33063" h="17995" extrusionOk="0">
                  <a:moveTo>
                    <a:pt x="0" y="0"/>
                  </a:moveTo>
                  <a:lnTo>
                    <a:pt x="0" y="17995"/>
                  </a:lnTo>
                  <a:lnTo>
                    <a:pt x="2533" y="15262"/>
                  </a:lnTo>
                  <a:lnTo>
                    <a:pt x="33062" y="15262"/>
                  </a:lnTo>
                  <a:lnTo>
                    <a:pt x="330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43;p24">
              <a:extLst>
                <a:ext uri="{FF2B5EF4-FFF2-40B4-BE49-F238E27FC236}">
                  <a16:creationId xmlns:a16="http://schemas.microsoft.com/office/drawing/2014/main" id="{C89DA34C-8F05-4DDC-CBBC-FA1E4BFE0223}"/>
                </a:ext>
              </a:extLst>
            </p:cNvPr>
            <p:cNvSpPr/>
            <p:nvPr/>
          </p:nvSpPr>
          <p:spPr>
            <a:xfrm>
              <a:off x="5851600" y="2306750"/>
              <a:ext cx="215675" cy="196525"/>
            </a:xfrm>
            <a:custGeom>
              <a:avLst/>
              <a:gdLst/>
              <a:ahLst/>
              <a:cxnLst/>
              <a:rect l="l" t="t" r="r" b="b"/>
              <a:pathLst>
                <a:path w="8627" h="7861" extrusionOk="0">
                  <a:moveTo>
                    <a:pt x="4313" y="0"/>
                  </a:moveTo>
                  <a:cubicBezTo>
                    <a:pt x="3307" y="0"/>
                    <a:pt x="2302" y="384"/>
                    <a:pt x="1534" y="1151"/>
                  </a:cubicBezTo>
                  <a:cubicBezTo>
                    <a:pt x="0" y="2687"/>
                    <a:pt x="0" y="5174"/>
                    <a:pt x="1534" y="6709"/>
                  </a:cubicBezTo>
                  <a:cubicBezTo>
                    <a:pt x="2302" y="7477"/>
                    <a:pt x="3307" y="7861"/>
                    <a:pt x="4313" y="7861"/>
                  </a:cubicBezTo>
                  <a:cubicBezTo>
                    <a:pt x="5319" y="7861"/>
                    <a:pt x="6325" y="7477"/>
                    <a:pt x="7092" y="6709"/>
                  </a:cubicBezTo>
                  <a:cubicBezTo>
                    <a:pt x="8626" y="5174"/>
                    <a:pt x="8626" y="2687"/>
                    <a:pt x="7092" y="1151"/>
                  </a:cubicBezTo>
                  <a:cubicBezTo>
                    <a:pt x="6325" y="384"/>
                    <a:pt x="5319" y="0"/>
                    <a:pt x="43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44;p24">
              <a:extLst>
                <a:ext uri="{FF2B5EF4-FFF2-40B4-BE49-F238E27FC236}">
                  <a16:creationId xmlns:a16="http://schemas.microsoft.com/office/drawing/2014/main" id="{E1201451-26E1-0C8E-AFD8-15D413D20483}"/>
                </a:ext>
              </a:extLst>
            </p:cNvPr>
            <p:cNvSpPr/>
            <p:nvPr/>
          </p:nvSpPr>
          <p:spPr>
            <a:xfrm>
              <a:off x="5312100" y="2329950"/>
              <a:ext cx="496750" cy="16000"/>
            </a:xfrm>
            <a:custGeom>
              <a:avLst/>
              <a:gdLst/>
              <a:ahLst/>
              <a:cxnLst/>
              <a:rect l="l" t="t" r="r" b="b"/>
              <a:pathLst>
                <a:path w="19870" h="640" extrusionOk="0">
                  <a:moveTo>
                    <a:pt x="320" y="1"/>
                  </a:moveTo>
                  <a:cubicBezTo>
                    <a:pt x="142" y="1"/>
                    <a:pt x="0" y="143"/>
                    <a:pt x="0" y="320"/>
                  </a:cubicBezTo>
                  <a:cubicBezTo>
                    <a:pt x="0" y="496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6"/>
                    <a:pt x="19870" y="320"/>
                  </a:cubicBezTo>
                  <a:cubicBezTo>
                    <a:pt x="19870" y="143"/>
                    <a:pt x="19728" y="1"/>
                    <a:pt x="195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45;p24">
              <a:extLst>
                <a:ext uri="{FF2B5EF4-FFF2-40B4-BE49-F238E27FC236}">
                  <a16:creationId xmlns:a16="http://schemas.microsoft.com/office/drawing/2014/main" id="{3FC63506-E43A-8C67-05B9-3A361D2CDFC3}"/>
                </a:ext>
              </a:extLst>
            </p:cNvPr>
            <p:cNvSpPr/>
            <p:nvPr/>
          </p:nvSpPr>
          <p:spPr>
            <a:xfrm>
              <a:off x="5623275" y="2389025"/>
              <a:ext cx="185575" cy="16000"/>
            </a:xfrm>
            <a:custGeom>
              <a:avLst/>
              <a:gdLst/>
              <a:ahLst/>
              <a:cxnLst/>
              <a:rect l="l" t="t" r="r" b="b"/>
              <a:pathLst>
                <a:path w="7423" h="640" extrusionOk="0">
                  <a:moveTo>
                    <a:pt x="320" y="1"/>
                  </a:moveTo>
                  <a:cubicBezTo>
                    <a:pt x="143" y="1"/>
                    <a:pt x="1" y="143"/>
                    <a:pt x="1" y="320"/>
                  </a:cubicBezTo>
                  <a:cubicBezTo>
                    <a:pt x="1" y="497"/>
                    <a:pt x="143" y="640"/>
                    <a:pt x="320" y="640"/>
                  </a:cubicBezTo>
                  <a:lnTo>
                    <a:pt x="7103" y="640"/>
                  </a:lnTo>
                  <a:cubicBezTo>
                    <a:pt x="7281" y="640"/>
                    <a:pt x="7423" y="497"/>
                    <a:pt x="7423" y="320"/>
                  </a:cubicBezTo>
                  <a:cubicBezTo>
                    <a:pt x="7423" y="143"/>
                    <a:pt x="7281" y="1"/>
                    <a:pt x="7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46;p24">
              <a:extLst>
                <a:ext uri="{FF2B5EF4-FFF2-40B4-BE49-F238E27FC236}">
                  <a16:creationId xmlns:a16="http://schemas.microsoft.com/office/drawing/2014/main" id="{E7702CD6-0339-598B-D7D6-19AA173D7149}"/>
                </a:ext>
              </a:extLst>
            </p:cNvPr>
            <p:cNvSpPr/>
            <p:nvPr/>
          </p:nvSpPr>
          <p:spPr>
            <a:xfrm>
              <a:off x="5308075" y="2389025"/>
              <a:ext cx="288225" cy="16000"/>
            </a:xfrm>
            <a:custGeom>
              <a:avLst/>
              <a:gdLst/>
              <a:ahLst/>
              <a:cxnLst/>
              <a:rect l="l" t="t" r="r" b="b"/>
              <a:pathLst>
                <a:path w="11529" h="640" extrusionOk="0">
                  <a:moveTo>
                    <a:pt x="320" y="1"/>
                  </a:moveTo>
                  <a:cubicBezTo>
                    <a:pt x="144" y="1"/>
                    <a:pt x="0" y="143"/>
                    <a:pt x="0" y="320"/>
                  </a:cubicBezTo>
                  <a:cubicBezTo>
                    <a:pt x="0" y="496"/>
                    <a:pt x="144" y="640"/>
                    <a:pt x="320" y="640"/>
                  </a:cubicBezTo>
                  <a:lnTo>
                    <a:pt x="11209" y="640"/>
                  </a:lnTo>
                  <a:cubicBezTo>
                    <a:pt x="11387" y="640"/>
                    <a:pt x="11529" y="496"/>
                    <a:pt x="11529" y="320"/>
                  </a:cubicBezTo>
                  <a:cubicBezTo>
                    <a:pt x="11529" y="143"/>
                    <a:pt x="11387" y="1"/>
                    <a:pt x="11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47;p24">
              <a:extLst>
                <a:ext uri="{FF2B5EF4-FFF2-40B4-BE49-F238E27FC236}">
                  <a16:creationId xmlns:a16="http://schemas.microsoft.com/office/drawing/2014/main" id="{864DAD33-B828-81BA-331F-1053CCAC9226}"/>
                </a:ext>
              </a:extLst>
            </p:cNvPr>
            <p:cNvSpPr/>
            <p:nvPr/>
          </p:nvSpPr>
          <p:spPr>
            <a:xfrm>
              <a:off x="5312100" y="2448100"/>
              <a:ext cx="496750" cy="16000"/>
            </a:xfrm>
            <a:custGeom>
              <a:avLst/>
              <a:gdLst/>
              <a:ahLst/>
              <a:cxnLst/>
              <a:rect l="l" t="t" r="r" b="b"/>
              <a:pathLst>
                <a:path w="19870" h="640" extrusionOk="0">
                  <a:moveTo>
                    <a:pt x="320" y="0"/>
                  </a:moveTo>
                  <a:cubicBezTo>
                    <a:pt x="142" y="0"/>
                    <a:pt x="0" y="144"/>
                    <a:pt x="0" y="320"/>
                  </a:cubicBezTo>
                  <a:cubicBezTo>
                    <a:pt x="0" y="497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7"/>
                    <a:pt x="19870" y="320"/>
                  </a:cubicBezTo>
                  <a:cubicBezTo>
                    <a:pt x="19870" y="144"/>
                    <a:pt x="19728" y="0"/>
                    <a:pt x="195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48;p24">
              <a:extLst>
                <a:ext uri="{FF2B5EF4-FFF2-40B4-BE49-F238E27FC236}">
                  <a16:creationId xmlns:a16="http://schemas.microsoft.com/office/drawing/2014/main" id="{9165EF03-49B6-E0E0-81AF-DAB9B178162C}"/>
                </a:ext>
              </a:extLst>
            </p:cNvPr>
            <p:cNvSpPr/>
            <p:nvPr/>
          </p:nvSpPr>
          <p:spPr>
            <a:xfrm>
              <a:off x="5657100" y="2507200"/>
              <a:ext cx="151750" cy="16025"/>
            </a:xfrm>
            <a:custGeom>
              <a:avLst/>
              <a:gdLst/>
              <a:ahLst/>
              <a:cxnLst/>
              <a:rect l="l" t="t" r="r" b="b"/>
              <a:pathLst>
                <a:path w="6070" h="641" extrusionOk="0">
                  <a:moveTo>
                    <a:pt x="320" y="1"/>
                  </a:moveTo>
                  <a:cubicBezTo>
                    <a:pt x="143" y="1"/>
                    <a:pt x="1" y="143"/>
                    <a:pt x="1" y="321"/>
                  </a:cubicBezTo>
                  <a:cubicBezTo>
                    <a:pt x="1" y="496"/>
                    <a:pt x="143" y="640"/>
                    <a:pt x="320" y="640"/>
                  </a:cubicBezTo>
                  <a:lnTo>
                    <a:pt x="5750" y="640"/>
                  </a:lnTo>
                  <a:cubicBezTo>
                    <a:pt x="5928" y="640"/>
                    <a:pt x="6070" y="496"/>
                    <a:pt x="6070" y="321"/>
                  </a:cubicBezTo>
                  <a:cubicBezTo>
                    <a:pt x="6070" y="143"/>
                    <a:pt x="5928" y="1"/>
                    <a:pt x="57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49;p24">
              <a:extLst>
                <a:ext uri="{FF2B5EF4-FFF2-40B4-BE49-F238E27FC236}">
                  <a16:creationId xmlns:a16="http://schemas.microsoft.com/office/drawing/2014/main" id="{2D1CAB14-11F8-A4B9-EA59-BDFA8E61C2F3}"/>
                </a:ext>
              </a:extLst>
            </p:cNvPr>
            <p:cNvSpPr/>
            <p:nvPr/>
          </p:nvSpPr>
          <p:spPr>
            <a:xfrm>
              <a:off x="5429550" y="2507200"/>
              <a:ext cx="201875" cy="16025"/>
            </a:xfrm>
            <a:custGeom>
              <a:avLst/>
              <a:gdLst/>
              <a:ahLst/>
              <a:cxnLst/>
              <a:rect l="l" t="t" r="r" b="b"/>
              <a:pathLst>
                <a:path w="8075" h="641" extrusionOk="0">
                  <a:moveTo>
                    <a:pt x="320" y="1"/>
                  </a:moveTo>
                  <a:cubicBezTo>
                    <a:pt x="145" y="1"/>
                    <a:pt x="1" y="143"/>
                    <a:pt x="1" y="321"/>
                  </a:cubicBezTo>
                  <a:cubicBezTo>
                    <a:pt x="1" y="496"/>
                    <a:pt x="145" y="640"/>
                    <a:pt x="320" y="640"/>
                  </a:cubicBezTo>
                  <a:lnTo>
                    <a:pt x="7754" y="640"/>
                  </a:lnTo>
                  <a:cubicBezTo>
                    <a:pt x="7932" y="640"/>
                    <a:pt x="8074" y="496"/>
                    <a:pt x="8074" y="321"/>
                  </a:cubicBezTo>
                  <a:cubicBezTo>
                    <a:pt x="8074" y="143"/>
                    <a:pt x="7932" y="1"/>
                    <a:pt x="77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50;p24">
              <a:extLst>
                <a:ext uri="{FF2B5EF4-FFF2-40B4-BE49-F238E27FC236}">
                  <a16:creationId xmlns:a16="http://schemas.microsoft.com/office/drawing/2014/main" id="{8CA95336-3895-7F34-5497-6E409978795A}"/>
                </a:ext>
              </a:extLst>
            </p:cNvPr>
            <p:cNvSpPr/>
            <p:nvPr/>
          </p:nvSpPr>
          <p:spPr>
            <a:xfrm>
              <a:off x="5493200" y="2531950"/>
              <a:ext cx="70325" cy="122725"/>
            </a:xfrm>
            <a:custGeom>
              <a:avLst/>
              <a:gdLst/>
              <a:ahLst/>
              <a:cxnLst/>
              <a:rect l="l" t="t" r="r" b="b"/>
              <a:pathLst>
                <a:path w="2813" h="4909" extrusionOk="0">
                  <a:moveTo>
                    <a:pt x="2207" y="1"/>
                  </a:moveTo>
                  <a:cubicBezTo>
                    <a:pt x="2100" y="1"/>
                    <a:pt x="1992" y="33"/>
                    <a:pt x="1899" y="100"/>
                  </a:cubicBezTo>
                  <a:cubicBezTo>
                    <a:pt x="832" y="859"/>
                    <a:pt x="237" y="1719"/>
                    <a:pt x="134" y="2655"/>
                  </a:cubicBezTo>
                  <a:cubicBezTo>
                    <a:pt x="1" y="3850"/>
                    <a:pt x="743" y="4696"/>
                    <a:pt x="775" y="4730"/>
                  </a:cubicBezTo>
                  <a:cubicBezTo>
                    <a:pt x="816" y="4777"/>
                    <a:pt x="864" y="4815"/>
                    <a:pt x="916" y="4843"/>
                  </a:cubicBezTo>
                  <a:cubicBezTo>
                    <a:pt x="995" y="4886"/>
                    <a:pt x="1084" y="4908"/>
                    <a:pt x="1172" y="4908"/>
                  </a:cubicBezTo>
                  <a:cubicBezTo>
                    <a:pt x="1298" y="4908"/>
                    <a:pt x="1425" y="4864"/>
                    <a:pt x="1526" y="4773"/>
                  </a:cubicBezTo>
                  <a:cubicBezTo>
                    <a:pt x="1744" y="4577"/>
                    <a:pt x="1764" y="4243"/>
                    <a:pt x="1570" y="4023"/>
                  </a:cubicBezTo>
                  <a:cubicBezTo>
                    <a:pt x="1555" y="4006"/>
                    <a:pt x="1108" y="3472"/>
                    <a:pt x="1193" y="2760"/>
                  </a:cubicBezTo>
                  <a:cubicBezTo>
                    <a:pt x="1267" y="2142"/>
                    <a:pt x="1712" y="1539"/>
                    <a:pt x="2515" y="968"/>
                  </a:cubicBezTo>
                  <a:cubicBezTo>
                    <a:pt x="2756" y="797"/>
                    <a:pt x="2812" y="465"/>
                    <a:pt x="2641" y="226"/>
                  </a:cubicBezTo>
                  <a:cubicBezTo>
                    <a:pt x="2538" y="79"/>
                    <a:pt x="2374" y="1"/>
                    <a:pt x="220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51;p24">
              <a:extLst>
                <a:ext uri="{FF2B5EF4-FFF2-40B4-BE49-F238E27FC236}">
                  <a16:creationId xmlns:a16="http://schemas.microsoft.com/office/drawing/2014/main" id="{C9ADF5A3-ED3F-EC9A-CDCF-AC2ED40D2862}"/>
                </a:ext>
              </a:extLst>
            </p:cNvPr>
            <p:cNvSpPr/>
            <p:nvPr/>
          </p:nvSpPr>
          <p:spPr>
            <a:xfrm>
              <a:off x="5503650" y="2630150"/>
              <a:ext cx="104675" cy="57775"/>
            </a:xfrm>
            <a:custGeom>
              <a:avLst/>
              <a:gdLst/>
              <a:ahLst/>
              <a:cxnLst/>
              <a:rect l="l" t="t" r="r" b="b"/>
              <a:pathLst>
                <a:path w="4187" h="2311" extrusionOk="0">
                  <a:moveTo>
                    <a:pt x="1065" y="1"/>
                  </a:moveTo>
                  <a:cubicBezTo>
                    <a:pt x="624" y="1"/>
                    <a:pt x="296" y="126"/>
                    <a:pt x="193" y="374"/>
                  </a:cubicBezTo>
                  <a:cubicBezTo>
                    <a:pt x="1" y="843"/>
                    <a:pt x="695" y="1573"/>
                    <a:pt x="1744" y="2005"/>
                  </a:cubicBezTo>
                  <a:cubicBezTo>
                    <a:pt x="2240" y="2209"/>
                    <a:pt x="2726" y="2310"/>
                    <a:pt x="3122" y="2310"/>
                  </a:cubicBezTo>
                  <a:cubicBezTo>
                    <a:pt x="3563" y="2310"/>
                    <a:pt x="3891" y="2185"/>
                    <a:pt x="3994" y="1937"/>
                  </a:cubicBezTo>
                  <a:cubicBezTo>
                    <a:pt x="4186" y="1467"/>
                    <a:pt x="3492" y="737"/>
                    <a:pt x="2443" y="306"/>
                  </a:cubicBezTo>
                  <a:cubicBezTo>
                    <a:pt x="1947" y="102"/>
                    <a:pt x="1461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52;p24">
              <a:extLst>
                <a:ext uri="{FF2B5EF4-FFF2-40B4-BE49-F238E27FC236}">
                  <a16:creationId xmlns:a16="http://schemas.microsoft.com/office/drawing/2014/main" id="{DBF960CA-0E6F-5ACF-DBF5-BEB07D75DE61}"/>
                </a:ext>
              </a:extLst>
            </p:cNvPr>
            <p:cNvSpPr/>
            <p:nvPr/>
          </p:nvSpPr>
          <p:spPr>
            <a:xfrm>
              <a:off x="5527175" y="2641900"/>
              <a:ext cx="59900" cy="34300"/>
            </a:xfrm>
            <a:custGeom>
              <a:avLst/>
              <a:gdLst/>
              <a:ahLst/>
              <a:cxnLst/>
              <a:rect l="l" t="t" r="r" b="b"/>
              <a:pathLst>
                <a:path w="2396" h="1372" extrusionOk="0">
                  <a:moveTo>
                    <a:pt x="542" y="0"/>
                  </a:moveTo>
                  <a:cubicBezTo>
                    <a:pt x="280" y="0"/>
                    <a:pt x="85" y="75"/>
                    <a:pt x="25" y="222"/>
                  </a:cubicBezTo>
                  <a:cubicBezTo>
                    <a:pt x="4" y="270"/>
                    <a:pt x="1" y="323"/>
                    <a:pt x="11" y="381"/>
                  </a:cubicBezTo>
                  <a:cubicBezTo>
                    <a:pt x="61" y="646"/>
                    <a:pt x="431" y="979"/>
                    <a:pt x="946" y="1190"/>
                  </a:cubicBezTo>
                  <a:cubicBezTo>
                    <a:pt x="1240" y="1311"/>
                    <a:pt x="1529" y="1371"/>
                    <a:pt x="1764" y="1371"/>
                  </a:cubicBezTo>
                  <a:cubicBezTo>
                    <a:pt x="1907" y="1371"/>
                    <a:pt x="2030" y="1349"/>
                    <a:pt x="2123" y="1305"/>
                  </a:cubicBezTo>
                  <a:cubicBezTo>
                    <a:pt x="2198" y="1269"/>
                    <a:pt x="2253" y="1217"/>
                    <a:pt x="2280" y="1150"/>
                  </a:cubicBezTo>
                  <a:cubicBezTo>
                    <a:pt x="2395" y="872"/>
                    <a:pt x="1983" y="437"/>
                    <a:pt x="1361" y="181"/>
                  </a:cubicBezTo>
                  <a:cubicBezTo>
                    <a:pt x="1066" y="60"/>
                    <a:pt x="777" y="0"/>
                    <a:pt x="5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53;p24">
              <a:extLst>
                <a:ext uri="{FF2B5EF4-FFF2-40B4-BE49-F238E27FC236}">
                  <a16:creationId xmlns:a16="http://schemas.microsoft.com/office/drawing/2014/main" id="{124C33C6-F09E-67D5-D2BB-031D691CE65E}"/>
                </a:ext>
              </a:extLst>
            </p:cNvPr>
            <p:cNvSpPr/>
            <p:nvPr/>
          </p:nvSpPr>
          <p:spPr>
            <a:xfrm>
              <a:off x="5527450" y="2649750"/>
              <a:ext cx="52800" cy="26450"/>
            </a:xfrm>
            <a:custGeom>
              <a:avLst/>
              <a:gdLst/>
              <a:ahLst/>
              <a:cxnLst/>
              <a:rect l="l" t="t" r="r" b="b"/>
              <a:pathLst>
                <a:path w="2112" h="1058" extrusionOk="0">
                  <a:moveTo>
                    <a:pt x="357" y="1"/>
                  </a:moveTo>
                  <a:cubicBezTo>
                    <a:pt x="215" y="1"/>
                    <a:pt x="92" y="23"/>
                    <a:pt x="0" y="67"/>
                  </a:cubicBezTo>
                  <a:cubicBezTo>
                    <a:pt x="50" y="332"/>
                    <a:pt x="420" y="665"/>
                    <a:pt x="935" y="876"/>
                  </a:cubicBezTo>
                  <a:cubicBezTo>
                    <a:pt x="1229" y="997"/>
                    <a:pt x="1518" y="1057"/>
                    <a:pt x="1753" y="1057"/>
                  </a:cubicBezTo>
                  <a:cubicBezTo>
                    <a:pt x="1896" y="1057"/>
                    <a:pt x="2019" y="1035"/>
                    <a:pt x="2112" y="991"/>
                  </a:cubicBezTo>
                  <a:cubicBezTo>
                    <a:pt x="2062" y="724"/>
                    <a:pt x="1691" y="393"/>
                    <a:pt x="1177" y="182"/>
                  </a:cubicBezTo>
                  <a:cubicBezTo>
                    <a:pt x="881" y="61"/>
                    <a:pt x="592" y="1"/>
                    <a:pt x="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54;p24">
              <a:extLst>
                <a:ext uri="{FF2B5EF4-FFF2-40B4-BE49-F238E27FC236}">
                  <a16:creationId xmlns:a16="http://schemas.microsoft.com/office/drawing/2014/main" id="{AA85D8AB-CFE6-FA37-5823-73C5021E6C43}"/>
                </a:ext>
              </a:extLst>
            </p:cNvPr>
            <p:cNvSpPr/>
            <p:nvPr/>
          </p:nvSpPr>
          <p:spPr>
            <a:xfrm>
              <a:off x="5104300" y="2733650"/>
              <a:ext cx="443350" cy="244000"/>
            </a:xfrm>
            <a:custGeom>
              <a:avLst/>
              <a:gdLst/>
              <a:ahLst/>
              <a:cxnLst/>
              <a:rect l="l" t="t" r="r" b="b"/>
              <a:pathLst>
                <a:path w="17734" h="9760" extrusionOk="0">
                  <a:moveTo>
                    <a:pt x="15739" y="1"/>
                  </a:moveTo>
                  <a:lnTo>
                    <a:pt x="15416" y="698"/>
                  </a:lnTo>
                  <a:cubicBezTo>
                    <a:pt x="15477" y="798"/>
                    <a:pt x="15631" y="958"/>
                    <a:pt x="16025" y="1146"/>
                  </a:cubicBezTo>
                  <a:cubicBezTo>
                    <a:pt x="16588" y="1416"/>
                    <a:pt x="16802" y="2108"/>
                    <a:pt x="16494" y="2650"/>
                  </a:cubicBezTo>
                  <a:cubicBezTo>
                    <a:pt x="15065" y="5155"/>
                    <a:pt x="11958" y="9266"/>
                    <a:pt x="6459" y="9266"/>
                  </a:cubicBezTo>
                  <a:cubicBezTo>
                    <a:pt x="4623" y="9266"/>
                    <a:pt x="2519" y="8808"/>
                    <a:pt x="122" y="7677"/>
                  </a:cubicBezTo>
                  <a:lnTo>
                    <a:pt x="120" y="7677"/>
                  </a:lnTo>
                  <a:lnTo>
                    <a:pt x="1" y="8035"/>
                  </a:lnTo>
                  <a:lnTo>
                    <a:pt x="2649" y="9041"/>
                  </a:lnTo>
                  <a:cubicBezTo>
                    <a:pt x="3070" y="9201"/>
                    <a:pt x="3498" y="9335"/>
                    <a:pt x="3931" y="9441"/>
                  </a:cubicBezTo>
                  <a:cubicBezTo>
                    <a:pt x="4065" y="9474"/>
                    <a:pt x="4197" y="9504"/>
                    <a:pt x="4330" y="9531"/>
                  </a:cubicBezTo>
                  <a:cubicBezTo>
                    <a:pt x="5062" y="9683"/>
                    <a:pt x="5806" y="9759"/>
                    <a:pt x="6549" y="9759"/>
                  </a:cubicBezTo>
                  <a:cubicBezTo>
                    <a:pt x="7169" y="9759"/>
                    <a:pt x="7788" y="9707"/>
                    <a:pt x="8401" y="9601"/>
                  </a:cubicBezTo>
                  <a:cubicBezTo>
                    <a:pt x="8516" y="9581"/>
                    <a:pt x="8632" y="9560"/>
                    <a:pt x="8747" y="9536"/>
                  </a:cubicBezTo>
                  <a:cubicBezTo>
                    <a:pt x="9407" y="9401"/>
                    <a:pt x="10057" y="9204"/>
                    <a:pt x="10692" y="8945"/>
                  </a:cubicBezTo>
                  <a:cubicBezTo>
                    <a:pt x="11176" y="8748"/>
                    <a:pt x="11643" y="8518"/>
                    <a:pt x="12088" y="8258"/>
                  </a:cubicBezTo>
                  <a:cubicBezTo>
                    <a:pt x="12178" y="8206"/>
                    <a:pt x="12267" y="8153"/>
                    <a:pt x="12355" y="8097"/>
                  </a:cubicBezTo>
                  <a:cubicBezTo>
                    <a:pt x="13286" y="7520"/>
                    <a:pt x="14121" y="6806"/>
                    <a:pt x="14836" y="5984"/>
                  </a:cubicBezTo>
                  <a:cubicBezTo>
                    <a:pt x="14903" y="5910"/>
                    <a:pt x="14966" y="5833"/>
                    <a:pt x="15030" y="5755"/>
                  </a:cubicBezTo>
                  <a:cubicBezTo>
                    <a:pt x="15617" y="5042"/>
                    <a:pt x="16117" y="4250"/>
                    <a:pt x="16513" y="3392"/>
                  </a:cubicBezTo>
                  <a:lnTo>
                    <a:pt x="16903" y="2550"/>
                  </a:lnTo>
                  <a:lnTo>
                    <a:pt x="17032" y="2276"/>
                  </a:lnTo>
                  <a:lnTo>
                    <a:pt x="17733" y="761"/>
                  </a:lnTo>
                  <a:lnTo>
                    <a:pt x="17733" y="761"/>
                  </a:lnTo>
                  <a:cubicBezTo>
                    <a:pt x="17707" y="763"/>
                    <a:pt x="17680" y="763"/>
                    <a:pt x="17653" y="763"/>
                  </a:cubicBezTo>
                  <a:cubicBezTo>
                    <a:pt x="17351" y="763"/>
                    <a:pt x="16980" y="687"/>
                    <a:pt x="16602" y="531"/>
                  </a:cubicBezTo>
                  <a:cubicBezTo>
                    <a:pt x="16249" y="386"/>
                    <a:pt x="15951" y="198"/>
                    <a:pt x="1573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55;p24">
              <a:extLst>
                <a:ext uri="{FF2B5EF4-FFF2-40B4-BE49-F238E27FC236}">
                  <a16:creationId xmlns:a16="http://schemas.microsoft.com/office/drawing/2014/main" id="{871CD228-F51F-E288-13EF-0B459888977D}"/>
                </a:ext>
              </a:extLst>
            </p:cNvPr>
            <p:cNvSpPr/>
            <p:nvPr/>
          </p:nvSpPr>
          <p:spPr>
            <a:xfrm>
              <a:off x="4549275" y="2667375"/>
              <a:ext cx="142750" cy="163300"/>
            </a:xfrm>
            <a:custGeom>
              <a:avLst/>
              <a:gdLst/>
              <a:ahLst/>
              <a:cxnLst/>
              <a:rect l="l" t="t" r="r" b="b"/>
              <a:pathLst>
                <a:path w="5710" h="6532" extrusionOk="0">
                  <a:moveTo>
                    <a:pt x="3284" y="0"/>
                  </a:moveTo>
                  <a:cubicBezTo>
                    <a:pt x="2143" y="0"/>
                    <a:pt x="978" y="1045"/>
                    <a:pt x="523" y="2573"/>
                  </a:cubicBezTo>
                  <a:cubicBezTo>
                    <a:pt x="1" y="4335"/>
                    <a:pt x="620" y="6074"/>
                    <a:pt x="1908" y="6457"/>
                  </a:cubicBezTo>
                  <a:cubicBezTo>
                    <a:pt x="2078" y="6507"/>
                    <a:pt x="2251" y="6532"/>
                    <a:pt x="2425" y="6532"/>
                  </a:cubicBezTo>
                  <a:cubicBezTo>
                    <a:pt x="3567" y="6532"/>
                    <a:pt x="4732" y="5488"/>
                    <a:pt x="5187" y="3959"/>
                  </a:cubicBezTo>
                  <a:cubicBezTo>
                    <a:pt x="5710" y="2197"/>
                    <a:pt x="5092" y="459"/>
                    <a:pt x="3803" y="75"/>
                  </a:cubicBezTo>
                  <a:cubicBezTo>
                    <a:pt x="3632" y="25"/>
                    <a:pt x="3458" y="0"/>
                    <a:pt x="32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56;p24">
              <a:extLst>
                <a:ext uri="{FF2B5EF4-FFF2-40B4-BE49-F238E27FC236}">
                  <a16:creationId xmlns:a16="http://schemas.microsoft.com/office/drawing/2014/main" id="{ADACC04D-B75C-1159-9F6C-EE26E315938C}"/>
                </a:ext>
              </a:extLst>
            </p:cNvPr>
            <p:cNvSpPr/>
            <p:nvPr/>
          </p:nvSpPr>
          <p:spPr>
            <a:xfrm>
              <a:off x="4539175" y="2681025"/>
              <a:ext cx="125200" cy="130775"/>
            </a:xfrm>
            <a:custGeom>
              <a:avLst/>
              <a:gdLst/>
              <a:ahLst/>
              <a:cxnLst/>
              <a:rect l="l" t="t" r="r" b="b"/>
              <a:pathLst>
                <a:path w="5008" h="5231" extrusionOk="0">
                  <a:moveTo>
                    <a:pt x="2952" y="0"/>
                  </a:moveTo>
                  <a:cubicBezTo>
                    <a:pt x="1968" y="0"/>
                    <a:pt x="770" y="643"/>
                    <a:pt x="420" y="1821"/>
                  </a:cubicBezTo>
                  <a:cubicBezTo>
                    <a:pt x="0" y="3228"/>
                    <a:pt x="951" y="4867"/>
                    <a:pt x="1981" y="5173"/>
                  </a:cubicBezTo>
                  <a:cubicBezTo>
                    <a:pt x="2111" y="5212"/>
                    <a:pt x="2242" y="5230"/>
                    <a:pt x="2374" y="5230"/>
                  </a:cubicBezTo>
                  <a:cubicBezTo>
                    <a:pt x="3290" y="5230"/>
                    <a:pt x="4223" y="4340"/>
                    <a:pt x="4588" y="3110"/>
                  </a:cubicBezTo>
                  <a:cubicBezTo>
                    <a:pt x="5008" y="1701"/>
                    <a:pt x="4525" y="381"/>
                    <a:pt x="3496" y="75"/>
                  </a:cubicBezTo>
                  <a:cubicBezTo>
                    <a:pt x="3328" y="25"/>
                    <a:pt x="3144" y="0"/>
                    <a:pt x="29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57;p24">
              <a:extLst>
                <a:ext uri="{FF2B5EF4-FFF2-40B4-BE49-F238E27FC236}">
                  <a16:creationId xmlns:a16="http://schemas.microsoft.com/office/drawing/2014/main" id="{247D4A43-3E44-EC44-2060-AED892848D52}"/>
                </a:ext>
              </a:extLst>
            </p:cNvPr>
            <p:cNvSpPr/>
            <p:nvPr/>
          </p:nvSpPr>
          <p:spPr>
            <a:xfrm>
              <a:off x="4558700" y="2709425"/>
              <a:ext cx="52075" cy="56600"/>
            </a:xfrm>
            <a:custGeom>
              <a:avLst/>
              <a:gdLst/>
              <a:ahLst/>
              <a:cxnLst/>
              <a:rect l="l" t="t" r="r" b="b"/>
              <a:pathLst>
                <a:path w="2083" h="2264" extrusionOk="0">
                  <a:moveTo>
                    <a:pt x="1336" y="0"/>
                  </a:moveTo>
                  <a:cubicBezTo>
                    <a:pt x="980" y="0"/>
                    <a:pt x="572" y="282"/>
                    <a:pt x="322" y="738"/>
                  </a:cubicBezTo>
                  <a:cubicBezTo>
                    <a:pt x="1" y="1324"/>
                    <a:pt x="63" y="1976"/>
                    <a:pt x="460" y="2192"/>
                  </a:cubicBezTo>
                  <a:cubicBezTo>
                    <a:pt x="548" y="2241"/>
                    <a:pt x="646" y="2264"/>
                    <a:pt x="747" y="2264"/>
                  </a:cubicBezTo>
                  <a:cubicBezTo>
                    <a:pt x="1104" y="2264"/>
                    <a:pt x="1511" y="1982"/>
                    <a:pt x="1761" y="1526"/>
                  </a:cubicBezTo>
                  <a:cubicBezTo>
                    <a:pt x="2082" y="940"/>
                    <a:pt x="2020" y="288"/>
                    <a:pt x="1623" y="72"/>
                  </a:cubicBezTo>
                  <a:cubicBezTo>
                    <a:pt x="1535" y="23"/>
                    <a:pt x="1438" y="0"/>
                    <a:pt x="13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58;p24">
              <a:extLst>
                <a:ext uri="{FF2B5EF4-FFF2-40B4-BE49-F238E27FC236}">
                  <a16:creationId xmlns:a16="http://schemas.microsoft.com/office/drawing/2014/main" id="{AC6B39EE-7F56-BAE3-380C-DAB2A928F52B}"/>
                </a:ext>
              </a:extLst>
            </p:cNvPr>
            <p:cNvSpPr/>
            <p:nvPr/>
          </p:nvSpPr>
          <p:spPr>
            <a:xfrm>
              <a:off x="4570225" y="2711200"/>
              <a:ext cx="53825" cy="62125"/>
            </a:xfrm>
            <a:custGeom>
              <a:avLst/>
              <a:gdLst/>
              <a:ahLst/>
              <a:cxnLst/>
              <a:rect l="l" t="t" r="r" b="b"/>
              <a:pathLst>
                <a:path w="2153" h="2485" extrusionOk="0">
                  <a:moveTo>
                    <a:pt x="1162" y="1"/>
                  </a:moveTo>
                  <a:lnTo>
                    <a:pt x="1163" y="1"/>
                  </a:lnTo>
                  <a:lnTo>
                    <a:pt x="1163" y="1"/>
                  </a:lnTo>
                  <a:cubicBezTo>
                    <a:pt x="1163" y="1"/>
                    <a:pt x="1162" y="1"/>
                    <a:pt x="1162" y="1"/>
                  </a:cubicBezTo>
                  <a:close/>
                  <a:moveTo>
                    <a:pt x="1163" y="1"/>
                  </a:moveTo>
                  <a:lnTo>
                    <a:pt x="1163" y="1"/>
                  </a:lnTo>
                  <a:cubicBezTo>
                    <a:pt x="1559" y="218"/>
                    <a:pt x="1621" y="869"/>
                    <a:pt x="1300" y="1455"/>
                  </a:cubicBezTo>
                  <a:cubicBezTo>
                    <a:pt x="1050" y="1911"/>
                    <a:pt x="642" y="2193"/>
                    <a:pt x="286" y="2193"/>
                  </a:cubicBezTo>
                  <a:cubicBezTo>
                    <a:pt x="185" y="2193"/>
                    <a:pt x="88" y="2171"/>
                    <a:pt x="0" y="2123"/>
                  </a:cubicBezTo>
                  <a:lnTo>
                    <a:pt x="0" y="2123"/>
                  </a:lnTo>
                  <a:lnTo>
                    <a:pt x="530" y="2414"/>
                  </a:lnTo>
                  <a:cubicBezTo>
                    <a:pt x="619" y="2462"/>
                    <a:pt x="716" y="2485"/>
                    <a:pt x="817" y="2485"/>
                  </a:cubicBezTo>
                  <a:cubicBezTo>
                    <a:pt x="1174" y="2485"/>
                    <a:pt x="1582" y="2202"/>
                    <a:pt x="1832" y="1747"/>
                  </a:cubicBezTo>
                  <a:cubicBezTo>
                    <a:pt x="2153" y="1161"/>
                    <a:pt x="2091" y="510"/>
                    <a:pt x="1694" y="292"/>
                  </a:cubicBezTo>
                  <a:lnTo>
                    <a:pt x="11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59;p24">
              <a:extLst>
                <a:ext uri="{FF2B5EF4-FFF2-40B4-BE49-F238E27FC236}">
                  <a16:creationId xmlns:a16="http://schemas.microsoft.com/office/drawing/2014/main" id="{B3FF2821-0F64-CA3A-6001-167D6B70802C}"/>
                </a:ext>
              </a:extLst>
            </p:cNvPr>
            <p:cNvSpPr/>
            <p:nvPr/>
          </p:nvSpPr>
          <p:spPr>
            <a:xfrm>
              <a:off x="4388650" y="2693800"/>
              <a:ext cx="248175" cy="388675"/>
            </a:xfrm>
            <a:custGeom>
              <a:avLst/>
              <a:gdLst/>
              <a:ahLst/>
              <a:cxnLst/>
              <a:rect l="l" t="t" r="r" b="b"/>
              <a:pathLst>
                <a:path w="9927" h="15547" extrusionOk="0">
                  <a:moveTo>
                    <a:pt x="5545" y="1"/>
                  </a:moveTo>
                  <a:cubicBezTo>
                    <a:pt x="5470" y="1"/>
                    <a:pt x="5395" y="3"/>
                    <a:pt x="5320" y="6"/>
                  </a:cubicBezTo>
                  <a:cubicBezTo>
                    <a:pt x="5202" y="11"/>
                    <a:pt x="5082" y="21"/>
                    <a:pt x="4962" y="35"/>
                  </a:cubicBezTo>
                  <a:cubicBezTo>
                    <a:pt x="4785" y="56"/>
                    <a:pt x="4610" y="85"/>
                    <a:pt x="4434" y="126"/>
                  </a:cubicBezTo>
                  <a:cubicBezTo>
                    <a:pt x="3786" y="271"/>
                    <a:pt x="3178" y="544"/>
                    <a:pt x="2645" y="921"/>
                  </a:cubicBezTo>
                  <a:cubicBezTo>
                    <a:pt x="2559" y="983"/>
                    <a:pt x="2472" y="1048"/>
                    <a:pt x="2390" y="1116"/>
                  </a:cubicBezTo>
                  <a:cubicBezTo>
                    <a:pt x="2066" y="1378"/>
                    <a:pt x="1774" y="1681"/>
                    <a:pt x="1523" y="2022"/>
                  </a:cubicBezTo>
                  <a:cubicBezTo>
                    <a:pt x="1185" y="2481"/>
                    <a:pt x="902" y="2975"/>
                    <a:pt x="679" y="3490"/>
                  </a:cubicBezTo>
                  <a:lnTo>
                    <a:pt x="679" y="3491"/>
                  </a:lnTo>
                  <a:cubicBezTo>
                    <a:pt x="635" y="3596"/>
                    <a:pt x="591" y="3702"/>
                    <a:pt x="552" y="3808"/>
                  </a:cubicBezTo>
                  <a:cubicBezTo>
                    <a:pt x="161" y="4841"/>
                    <a:pt x="0" y="5957"/>
                    <a:pt x="87" y="7077"/>
                  </a:cubicBezTo>
                  <a:cubicBezTo>
                    <a:pt x="94" y="7189"/>
                    <a:pt x="106" y="7301"/>
                    <a:pt x="120" y="7413"/>
                  </a:cubicBezTo>
                  <a:cubicBezTo>
                    <a:pt x="149" y="7655"/>
                    <a:pt x="191" y="7899"/>
                    <a:pt x="244" y="8140"/>
                  </a:cubicBezTo>
                  <a:cubicBezTo>
                    <a:pt x="443" y="9047"/>
                    <a:pt x="799" y="9885"/>
                    <a:pt x="1292" y="10630"/>
                  </a:cubicBezTo>
                  <a:cubicBezTo>
                    <a:pt x="1360" y="10733"/>
                    <a:pt x="1429" y="10833"/>
                    <a:pt x="1503" y="10930"/>
                  </a:cubicBezTo>
                  <a:cubicBezTo>
                    <a:pt x="2054" y="11680"/>
                    <a:pt x="2753" y="12324"/>
                    <a:pt x="3575" y="12834"/>
                  </a:cubicBezTo>
                  <a:cubicBezTo>
                    <a:pt x="3663" y="12890"/>
                    <a:pt x="3752" y="12943"/>
                    <a:pt x="3843" y="12995"/>
                  </a:cubicBezTo>
                  <a:cubicBezTo>
                    <a:pt x="3881" y="13016"/>
                    <a:pt x="3917" y="13037"/>
                    <a:pt x="3955" y="13057"/>
                  </a:cubicBezTo>
                  <a:lnTo>
                    <a:pt x="8260" y="15415"/>
                  </a:lnTo>
                  <a:cubicBezTo>
                    <a:pt x="8422" y="15504"/>
                    <a:pt x="8596" y="15547"/>
                    <a:pt x="8768" y="15547"/>
                  </a:cubicBezTo>
                  <a:cubicBezTo>
                    <a:pt x="8798" y="15547"/>
                    <a:pt x="8829" y="15545"/>
                    <a:pt x="8860" y="15542"/>
                  </a:cubicBezTo>
                  <a:cubicBezTo>
                    <a:pt x="9204" y="15514"/>
                    <a:pt x="9528" y="15318"/>
                    <a:pt x="9705" y="14994"/>
                  </a:cubicBezTo>
                  <a:cubicBezTo>
                    <a:pt x="9926" y="14590"/>
                    <a:pt x="9860" y="14108"/>
                    <a:pt x="9573" y="13781"/>
                  </a:cubicBezTo>
                  <a:cubicBezTo>
                    <a:pt x="9493" y="13690"/>
                    <a:pt x="9396" y="13610"/>
                    <a:pt x="9282" y="13549"/>
                  </a:cubicBezTo>
                  <a:lnTo>
                    <a:pt x="4978" y="11191"/>
                  </a:lnTo>
                  <a:cubicBezTo>
                    <a:pt x="4967" y="11185"/>
                    <a:pt x="4956" y="11178"/>
                    <a:pt x="4946" y="11171"/>
                  </a:cubicBezTo>
                  <a:cubicBezTo>
                    <a:pt x="4853" y="11121"/>
                    <a:pt x="4766" y="11069"/>
                    <a:pt x="4681" y="11015"/>
                  </a:cubicBezTo>
                  <a:cubicBezTo>
                    <a:pt x="3995" y="10585"/>
                    <a:pt x="3431" y="10024"/>
                    <a:pt x="3015" y="9370"/>
                  </a:cubicBezTo>
                  <a:cubicBezTo>
                    <a:pt x="2965" y="9290"/>
                    <a:pt x="2916" y="9209"/>
                    <a:pt x="2871" y="9128"/>
                  </a:cubicBezTo>
                  <a:cubicBezTo>
                    <a:pt x="2621" y="8682"/>
                    <a:pt x="2436" y="8198"/>
                    <a:pt x="2322" y="7683"/>
                  </a:cubicBezTo>
                  <a:cubicBezTo>
                    <a:pt x="2274" y="7463"/>
                    <a:pt x="2241" y="7242"/>
                    <a:pt x="2219" y="7021"/>
                  </a:cubicBezTo>
                  <a:cubicBezTo>
                    <a:pt x="2210" y="6924"/>
                    <a:pt x="2204" y="6827"/>
                    <a:pt x="2201" y="6730"/>
                  </a:cubicBezTo>
                  <a:cubicBezTo>
                    <a:pt x="2169" y="5921"/>
                    <a:pt x="2315" y="5111"/>
                    <a:pt x="2622" y="4374"/>
                  </a:cubicBezTo>
                  <a:cubicBezTo>
                    <a:pt x="2660" y="4285"/>
                    <a:pt x="2700" y="4197"/>
                    <a:pt x="2740" y="4109"/>
                  </a:cubicBezTo>
                  <a:cubicBezTo>
                    <a:pt x="2880" y="3822"/>
                    <a:pt x="3045" y="3546"/>
                    <a:pt x="3236" y="3288"/>
                  </a:cubicBezTo>
                  <a:cubicBezTo>
                    <a:pt x="3449" y="2999"/>
                    <a:pt x="3707" y="2761"/>
                    <a:pt x="3993" y="2576"/>
                  </a:cubicBezTo>
                  <a:cubicBezTo>
                    <a:pt x="4070" y="2528"/>
                    <a:pt x="4149" y="2483"/>
                    <a:pt x="4229" y="2442"/>
                  </a:cubicBezTo>
                  <a:cubicBezTo>
                    <a:pt x="4632" y="2234"/>
                    <a:pt x="5077" y="2126"/>
                    <a:pt x="5530" y="2126"/>
                  </a:cubicBezTo>
                  <a:cubicBezTo>
                    <a:pt x="5588" y="2126"/>
                    <a:pt x="5647" y="2127"/>
                    <a:pt x="5706" y="2131"/>
                  </a:cubicBezTo>
                  <a:cubicBezTo>
                    <a:pt x="5797" y="2136"/>
                    <a:pt x="5889" y="2145"/>
                    <a:pt x="5980" y="2160"/>
                  </a:cubicBezTo>
                  <a:cubicBezTo>
                    <a:pt x="6291" y="2207"/>
                    <a:pt x="6598" y="2307"/>
                    <a:pt x="6892" y="2460"/>
                  </a:cubicBezTo>
                  <a:cubicBezTo>
                    <a:pt x="7049" y="2542"/>
                    <a:pt x="7217" y="2580"/>
                    <a:pt x="7383" y="2580"/>
                  </a:cubicBezTo>
                  <a:cubicBezTo>
                    <a:pt x="7767" y="2580"/>
                    <a:pt x="8138" y="2372"/>
                    <a:pt x="8328" y="2007"/>
                  </a:cubicBezTo>
                  <a:cubicBezTo>
                    <a:pt x="8378" y="1911"/>
                    <a:pt x="8411" y="1810"/>
                    <a:pt x="8430" y="1710"/>
                  </a:cubicBezTo>
                  <a:cubicBezTo>
                    <a:pt x="8513" y="1262"/>
                    <a:pt x="8299" y="794"/>
                    <a:pt x="7875" y="571"/>
                  </a:cubicBezTo>
                  <a:cubicBezTo>
                    <a:pt x="7152" y="194"/>
                    <a:pt x="6351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60;p24">
              <a:extLst>
                <a:ext uri="{FF2B5EF4-FFF2-40B4-BE49-F238E27FC236}">
                  <a16:creationId xmlns:a16="http://schemas.microsoft.com/office/drawing/2014/main" id="{F7F26A60-1108-CA2E-97A1-29ECDA6D5CCE}"/>
                </a:ext>
              </a:extLst>
            </p:cNvPr>
            <p:cNvSpPr/>
            <p:nvPr/>
          </p:nvSpPr>
          <p:spPr>
            <a:xfrm>
              <a:off x="4536375" y="3004175"/>
              <a:ext cx="39600" cy="46225"/>
            </a:xfrm>
            <a:custGeom>
              <a:avLst/>
              <a:gdLst/>
              <a:ahLst/>
              <a:cxnLst/>
              <a:rect l="l" t="t" r="r" b="b"/>
              <a:pathLst>
                <a:path w="1584" h="1849" extrusionOk="0">
                  <a:moveTo>
                    <a:pt x="1306" y="1"/>
                  </a:moveTo>
                  <a:cubicBezTo>
                    <a:pt x="888" y="283"/>
                    <a:pt x="311" y="813"/>
                    <a:pt x="0" y="1713"/>
                  </a:cubicBezTo>
                  <a:lnTo>
                    <a:pt x="249" y="1849"/>
                  </a:lnTo>
                  <a:cubicBezTo>
                    <a:pt x="561" y="884"/>
                    <a:pt x="1197" y="380"/>
                    <a:pt x="1583" y="152"/>
                  </a:cubicBezTo>
                  <a:lnTo>
                    <a:pt x="1306" y="1"/>
                  </a:ln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61;p24">
              <a:extLst>
                <a:ext uri="{FF2B5EF4-FFF2-40B4-BE49-F238E27FC236}">
                  <a16:creationId xmlns:a16="http://schemas.microsoft.com/office/drawing/2014/main" id="{B46EEBCB-73F3-ED5D-F3C0-43E415845EF1}"/>
                </a:ext>
              </a:extLst>
            </p:cNvPr>
            <p:cNvSpPr/>
            <p:nvPr/>
          </p:nvSpPr>
          <p:spPr>
            <a:xfrm>
              <a:off x="4478025" y="2969150"/>
              <a:ext cx="34275" cy="49525"/>
            </a:xfrm>
            <a:custGeom>
              <a:avLst/>
              <a:gdLst/>
              <a:ahLst/>
              <a:cxnLst/>
              <a:rect l="l" t="t" r="r" b="b"/>
              <a:pathLst>
                <a:path w="1371" h="1981" extrusionOk="0">
                  <a:moveTo>
                    <a:pt x="1106" y="1"/>
                  </a:moveTo>
                  <a:cubicBezTo>
                    <a:pt x="624" y="327"/>
                    <a:pt x="114" y="885"/>
                    <a:pt x="0" y="1820"/>
                  </a:cubicBezTo>
                  <a:cubicBezTo>
                    <a:pt x="88" y="1876"/>
                    <a:pt x="177" y="1929"/>
                    <a:pt x="268" y="1981"/>
                  </a:cubicBezTo>
                  <a:cubicBezTo>
                    <a:pt x="345" y="985"/>
                    <a:pt x="894" y="443"/>
                    <a:pt x="1371" y="157"/>
                  </a:cubicBezTo>
                  <a:cubicBezTo>
                    <a:pt x="1280" y="107"/>
                    <a:pt x="1191" y="55"/>
                    <a:pt x="1106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62;p24">
              <a:extLst>
                <a:ext uri="{FF2B5EF4-FFF2-40B4-BE49-F238E27FC236}">
                  <a16:creationId xmlns:a16="http://schemas.microsoft.com/office/drawing/2014/main" id="{3B87EF0E-AF94-DB47-DEAA-537A4D9F6347}"/>
                </a:ext>
              </a:extLst>
            </p:cNvPr>
            <p:cNvSpPr/>
            <p:nvPr/>
          </p:nvSpPr>
          <p:spPr>
            <a:xfrm>
              <a:off x="4420950" y="2921975"/>
              <a:ext cx="43075" cy="45100"/>
            </a:xfrm>
            <a:custGeom>
              <a:avLst/>
              <a:gdLst/>
              <a:ahLst/>
              <a:cxnLst/>
              <a:rect l="l" t="t" r="r" b="b"/>
              <a:pathLst>
                <a:path w="1723" h="1804" extrusionOk="0">
                  <a:moveTo>
                    <a:pt x="1579" y="1"/>
                  </a:moveTo>
                  <a:cubicBezTo>
                    <a:pt x="1005" y="190"/>
                    <a:pt x="303" y="603"/>
                    <a:pt x="0" y="1503"/>
                  </a:cubicBezTo>
                  <a:cubicBezTo>
                    <a:pt x="67" y="1606"/>
                    <a:pt x="137" y="1705"/>
                    <a:pt x="211" y="1803"/>
                  </a:cubicBezTo>
                  <a:cubicBezTo>
                    <a:pt x="443" y="818"/>
                    <a:pt x="1162" y="411"/>
                    <a:pt x="1723" y="243"/>
                  </a:cubicBezTo>
                  <a:cubicBezTo>
                    <a:pt x="1673" y="163"/>
                    <a:pt x="1626" y="82"/>
                    <a:pt x="157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63;p24">
              <a:extLst>
                <a:ext uri="{FF2B5EF4-FFF2-40B4-BE49-F238E27FC236}">
                  <a16:creationId xmlns:a16="http://schemas.microsoft.com/office/drawing/2014/main" id="{FF1E1C81-20CC-80E5-F175-D531E3A6E09D}"/>
                </a:ext>
              </a:extLst>
            </p:cNvPr>
            <p:cNvSpPr/>
            <p:nvPr/>
          </p:nvSpPr>
          <p:spPr>
            <a:xfrm>
              <a:off x="4390800" y="2860925"/>
              <a:ext cx="53375" cy="18200"/>
            </a:xfrm>
            <a:custGeom>
              <a:avLst/>
              <a:gdLst/>
              <a:ahLst/>
              <a:cxnLst/>
              <a:rect l="l" t="t" r="r" b="b"/>
              <a:pathLst>
                <a:path w="2135" h="728" extrusionOk="0">
                  <a:moveTo>
                    <a:pt x="1480" y="1"/>
                  </a:moveTo>
                  <a:cubicBezTo>
                    <a:pt x="1005" y="1"/>
                    <a:pt x="505" y="80"/>
                    <a:pt x="99" y="327"/>
                  </a:cubicBezTo>
                  <a:cubicBezTo>
                    <a:pt x="66" y="346"/>
                    <a:pt x="32" y="367"/>
                    <a:pt x="1" y="392"/>
                  </a:cubicBezTo>
                  <a:cubicBezTo>
                    <a:pt x="8" y="504"/>
                    <a:pt x="20" y="616"/>
                    <a:pt x="34" y="728"/>
                  </a:cubicBezTo>
                  <a:cubicBezTo>
                    <a:pt x="99" y="669"/>
                    <a:pt x="169" y="614"/>
                    <a:pt x="246" y="569"/>
                  </a:cubicBezTo>
                  <a:cubicBezTo>
                    <a:pt x="597" y="356"/>
                    <a:pt x="1039" y="287"/>
                    <a:pt x="1469" y="287"/>
                  </a:cubicBezTo>
                  <a:cubicBezTo>
                    <a:pt x="1700" y="287"/>
                    <a:pt x="1928" y="307"/>
                    <a:pt x="2135" y="336"/>
                  </a:cubicBezTo>
                  <a:cubicBezTo>
                    <a:pt x="2126" y="239"/>
                    <a:pt x="2118" y="142"/>
                    <a:pt x="2115" y="43"/>
                  </a:cubicBezTo>
                  <a:cubicBezTo>
                    <a:pt x="1917" y="18"/>
                    <a:pt x="1701" y="1"/>
                    <a:pt x="1480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64;p24">
              <a:extLst>
                <a:ext uri="{FF2B5EF4-FFF2-40B4-BE49-F238E27FC236}">
                  <a16:creationId xmlns:a16="http://schemas.microsoft.com/office/drawing/2014/main" id="{139D6F5B-44F4-EF6D-7F47-4810CD41AB76}"/>
                </a:ext>
              </a:extLst>
            </p:cNvPr>
            <p:cNvSpPr/>
            <p:nvPr/>
          </p:nvSpPr>
          <p:spPr>
            <a:xfrm>
              <a:off x="4402425" y="2780550"/>
              <a:ext cx="54775" cy="22625"/>
            </a:xfrm>
            <a:custGeom>
              <a:avLst/>
              <a:gdLst/>
              <a:ahLst/>
              <a:cxnLst/>
              <a:rect l="l" t="t" r="r" b="b"/>
              <a:pathLst>
                <a:path w="2191" h="905" extrusionOk="0">
                  <a:moveTo>
                    <a:pt x="404" y="1"/>
                  </a:moveTo>
                  <a:cubicBezTo>
                    <a:pt x="386" y="1"/>
                    <a:pt x="368" y="1"/>
                    <a:pt x="351" y="2"/>
                  </a:cubicBezTo>
                  <a:cubicBezTo>
                    <a:pt x="275" y="3"/>
                    <a:pt x="201" y="11"/>
                    <a:pt x="129" y="21"/>
                  </a:cubicBezTo>
                  <a:lnTo>
                    <a:pt x="128" y="21"/>
                  </a:lnTo>
                  <a:cubicBezTo>
                    <a:pt x="84" y="126"/>
                    <a:pt x="40" y="232"/>
                    <a:pt x="1" y="338"/>
                  </a:cubicBezTo>
                  <a:cubicBezTo>
                    <a:pt x="114" y="306"/>
                    <a:pt x="234" y="289"/>
                    <a:pt x="358" y="286"/>
                  </a:cubicBezTo>
                  <a:cubicBezTo>
                    <a:pt x="373" y="286"/>
                    <a:pt x="388" y="286"/>
                    <a:pt x="404" y="286"/>
                  </a:cubicBezTo>
                  <a:cubicBezTo>
                    <a:pt x="997" y="286"/>
                    <a:pt x="1612" y="599"/>
                    <a:pt x="2071" y="904"/>
                  </a:cubicBezTo>
                  <a:cubicBezTo>
                    <a:pt x="2109" y="815"/>
                    <a:pt x="2149" y="727"/>
                    <a:pt x="2191" y="641"/>
                  </a:cubicBezTo>
                  <a:cubicBezTo>
                    <a:pt x="1703" y="319"/>
                    <a:pt x="1054" y="1"/>
                    <a:pt x="404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65;p24">
              <a:extLst>
                <a:ext uri="{FF2B5EF4-FFF2-40B4-BE49-F238E27FC236}">
                  <a16:creationId xmlns:a16="http://schemas.microsoft.com/office/drawing/2014/main" id="{E67B903F-8FD2-1E96-A79B-3AE1B36D85F5}"/>
                </a:ext>
              </a:extLst>
            </p:cNvPr>
            <p:cNvSpPr/>
            <p:nvPr/>
          </p:nvSpPr>
          <p:spPr>
            <a:xfrm>
              <a:off x="4448400" y="2716850"/>
              <a:ext cx="46000" cy="41400"/>
            </a:xfrm>
            <a:custGeom>
              <a:avLst/>
              <a:gdLst/>
              <a:ahLst/>
              <a:cxnLst/>
              <a:rect l="l" t="t" r="r" b="b"/>
              <a:pathLst>
                <a:path w="1840" h="1656" extrusionOk="0">
                  <a:moveTo>
                    <a:pt x="255" y="0"/>
                  </a:moveTo>
                  <a:cubicBezTo>
                    <a:pt x="169" y="62"/>
                    <a:pt x="82" y="126"/>
                    <a:pt x="0" y="194"/>
                  </a:cubicBezTo>
                  <a:cubicBezTo>
                    <a:pt x="840" y="546"/>
                    <a:pt x="1324" y="1135"/>
                    <a:pt x="1603" y="1656"/>
                  </a:cubicBezTo>
                  <a:cubicBezTo>
                    <a:pt x="1680" y="1607"/>
                    <a:pt x="1759" y="1561"/>
                    <a:pt x="1839" y="1520"/>
                  </a:cubicBezTo>
                  <a:cubicBezTo>
                    <a:pt x="1550" y="985"/>
                    <a:pt x="1064" y="385"/>
                    <a:pt x="25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66;p24">
              <a:extLst>
                <a:ext uri="{FF2B5EF4-FFF2-40B4-BE49-F238E27FC236}">
                  <a16:creationId xmlns:a16="http://schemas.microsoft.com/office/drawing/2014/main" id="{D35EA41A-AA80-5934-7145-B36C04566D2A}"/>
                </a:ext>
              </a:extLst>
            </p:cNvPr>
            <p:cNvSpPr/>
            <p:nvPr/>
          </p:nvSpPr>
          <p:spPr>
            <a:xfrm>
              <a:off x="4512700" y="2693975"/>
              <a:ext cx="25925" cy="53825"/>
            </a:xfrm>
            <a:custGeom>
              <a:avLst/>
              <a:gdLst/>
              <a:ahLst/>
              <a:cxnLst/>
              <a:rect l="l" t="t" r="r" b="b"/>
              <a:pathLst>
                <a:path w="1037" h="2153" extrusionOk="0">
                  <a:moveTo>
                    <a:pt x="359" y="0"/>
                  </a:moveTo>
                  <a:cubicBezTo>
                    <a:pt x="240" y="5"/>
                    <a:pt x="120" y="14"/>
                    <a:pt x="0" y="29"/>
                  </a:cubicBezTo>
                  <a:cubicBezTo>
                    <a:pt x="647" y="655"/>
                    <a:pt x="765" y="1506"/>
                    <a:pt x="744" y="2124"/>
                  </a:cubicBezTo>
                  <a:cubicBezTo>
                    <a:pt x="837" y="2129"/>
                    <a:pt x="927" y="2139"/>
                    <a:pt x="1018" y="2153"/>
                  </a:cubicBezTo>
                  <a:cubicBezTo>
                    <a:pt x="1037" y="1529"/>
                    <a:pt x="931" y="676"/>
                    <a:pt x="35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67;p24">
              <a:extLst>
                <a:ext uri="{FF2B5EF4-FFF2-40B4-BE49-F238E27FC236}">
                  <a16:creationId xmlns:a16="http://schemas.microsoft.com/office/drawing/2014/main" id="{DC0DD2F2-3A49-246E-C793-EBE3D5252DE0}"/>
                </a:ext>
              </a:extLst>
            </p:cNvPr>
            <p:cNvSpPr/>
            <p:nvPr/>
          </p:nvSpPr>
          <p:spPr>
            <a:xfrm>
              <a:off x="4579075" y="3019075"/>
              <a:ext cx="70150" cy="84325"/>
            </a:xfrm>
            <a:custGeom>
              <a:avLst/>
              <a:gdLst/>
              <a:ahLst/>
              <a:cxnLst/>
              <a:rect l="l" t="t" r="r" b="b"/>
              <a:pathLst>
                <a:path w="2806" h="3373" extrusionOk="0">
                  <a:moveTo>
                    <a:pt x="1568" y="0"/>
                  </a:moveTo>
                  <a:cubicBezTo>
                    <a:pt x="1422" y="0"/>
                    <a:pt x="1251" y="77"/>
                    <a:pt x="1076" y="214"/>
                  </a:cubicBezTo>
                  <a:cubicBezTo>
                    <a:pt x="832" y="403"/>
                    <a:pt x="579" y="711"/>
                    <a:pt x="378" y="1088"/>
                  </a:cubicBezTo>
                  <a:cubicBezTo>
                    <a:pt x="192" y="1435"/>
                    <a:pt x="78" y="1783"/>
                    <a:pt x="43" y="2075"/>
                  </a:cubicBezTo>
                  <a:cubicBezTo>
                    <a:pt x="1" y="2425"/>
                    <a:pt x="69" y="2698"/>
                    <a:pt x="255" y="2796"/>
                  </a:cubicBezTo>
                  <a:lnTo>
                    <a:pt x="1328" y="3372"/>
                  </a:lnTo>
                  <a:lnTo>
                    <a:pt x="2806" y="615"/>
                  </a:lnTo>
                  <a:lnTo>
                    <a:pt x="1732" y="40"/>
                  </a:lnTo>
                  <a:cubicBezTo>
                    <a:pt x="1683" y="13"/>
                    <a:pt x="1627" y="0"/>
                    <a:pt x="15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68;p24">
              <a:extLst>
                <a:ext uri="{FF2B5EF4-FFF2-40B4-BE49-F238E27FC236}">
                  <a16:creationId xmlns:a16="http://schemas.microsoft.com/office/drawing/2014/main" id="{C78A5160-2FAB-9DDE-BA8E-53429AB7F488}"/>
                </a:ext>
              </a:extLst>
            </p:cNvPr>
            <p:cNvSpPr/>
            <p:nvPr/>
          </p:nvSpPr>
          <p:spPr>
            <a:xfrm>
              <a:off x="4648500" y="3125450"/>
              <a:ext cx="87500" cy="43550"/>
            </a:xfrm>
            <a:custGeom>
              <a:avLst/>
              <a:gdLst/>
              <a:ahLst/>
              <a:cxnLst/>
              <a:rect l="l" t="t" r="r" b="b"/>
              <a:pathLst>
                <a:path w="3500" h="1742" extrusionOk="0">
                  <a:moveTo>
                    <a:pt x="598" y="0"/>
                  </a:moveTo>
                  <a:cubicBezTo>
                    <a:pt x="442" y="0"/>
                    <a:pt x="287" y="69"/>
                    <a:pt x="182" y="202"/>
                  </a:cubicBezTo>
                  <a:cubicBezTo>
                    <a:pt x="0" y="432"/>
                    <a:pt x="38" y="765"/>
                    <a:pt x="267" y="948"/>
                  </a:cubicBezTo>
                  <a:cubicBezTo>
                    <a:pt x="326" y="995"/>
                    <a:pt x="542" y="1162"/>
                    <a:pt x="851" y="1330"/>
                  </a:cubicBezTo>
                  <a:cubicBezTo>
                    <a:pt x="1223" y="1534"/>
                    <a:pt x="1729" y="1741"/>
                    <a:pt x="2248" y="1741"/>
                  </a:cubicBezTo>
                  <a:cubicBezTo>
                    <a:pt x="2569" y="1741"/>
                    <a:pt x="2894" y="1663"/>
                    <a:pt x="3196" y="1456"/>
                  </a:cubicBezTo>
                  <a:cubicBezTo>
                    <a:pt x="3439" y="1289"/>
                    <a:pt x="3499" y="957"/>
                    <a:pt x="3334" y="715"/>
                  </a:cubicBezTo>
                  <a:cubicBezTo>
                    <a:pt x="3231" y="565"/>
                    <a:pt x="3064" y="484"/>
                    <a:pt x="2894" y="484"/>
                  </a:cubicBezTo>
                  <a:cubicBezTo>
                    <a:pt x="2790" y="484"/>
                    <a:pt x="2685" y="514"/>
                    <a:pt x="2593" y="577"/>
                  </a:cubicBezTo>
                  <a:cubicBezTo>
                    <a:pt x="2497" y="644"/>
                    <a:pt x="2378" y="671"/>
                    <a:pt x="2249" y="671"/>
                  </a:cubicBezTo>
                  <a:cubicBezTo>
                    <a:pt x="1796" y="671"/>
                    <a:pt x="1206" y="332"/>
                    <a:pt x="929" y="115"/>
                  </a:cubicBezTo>
                  <a:cubicBezTo>
                    <a:pt x="831" y="38"/>
                    <a:pt x="714" y="0"/>
                    <a:pt x="598" y="0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69;p24">
              <a:extLst>
                <a:ext uri="{FF2B5EF4-FFF2-40B4-BE49-F238E27FC236}">
                  <a16:creationId xmlns:a16="http://schemas.microsoft.com/office/drawing/2014/main" id="{D8B96D10-764B-4EC8-FA4E-16B9A3AC6423}"/>
                </a:ext>
              </a:extLst>
            </p:cNvPr>
            <p:cNvSpPr/>
            <p:nvPr/>
          </p:nvSpPr>
          <p:spPr>
            <a:xfrm>
              <a:off x="4603800" y="3032650"/>
              <a:ext cx="98225" cy="111025"/>
            </a:xfrm>
            <a:custGeom>
              <a:avLst/>
              <a:gdLst/>
              <a:ahLst/>
              <a:cxnLst/>
              <a:rect l="l" t="t" r="r" b="b"/>
              <a:pathLst>
                <a:path w="3929" h="4441" extrusionOk="0">
                  <a:moveTo>
                    <a:pt x="2489" y="0"/>
                  </a:moveTo>
                  <a:cubicBezTo>
                    <a:pt x="2282" y="0"/>
                    <a:pt x="2057" y="21"/>
                    <a:pt x="1817" y="72"/>
                  </a:cubicBezTo>
                  <a:cubicBezTo>
                    <a:pt x="1767" y="45"/>
                    <a:pt x="1712" y="33"/>
                    <a:pt x="1652" y="33"/>
                  </a:cubicBezTo>
                  <a:cubicBezTo>
                    <a:pt x="1303" y="33"/>
                    <a:pt x="809" y="470"/>
                    <a:pt x="461" y="1120"/>
                  </a:cubicBezTo>
                  <a:cubicBezTo>
                    <a:pt x="63" y="1863"/>
                    <a:pt x="1" y="2609"/>
                    <a:pt x="314" y="2814"/>
                  </a:cubicBezTo>
                  <a:lnTo>
                    <a:pt x="308" y="2824"/>
                  </a:lnTo>
                  <a:cubicBezTo>
                    <a:pt x="763" y="4036"/>
                    <a:pt x="1703" y="4441"/>
                    <a:pt x="1703" y="4441"/>
                  </a:cubicBezTo>
                  <a:lnTo>
                    <a:pt x="3929" y="378"/>
                  </a:lnTo>
                  <a:cubicBezTo>
                    <a:pt x="3929" y="378"/>
                    <a:pt x="3373" y="0"/>
                    <a:pt x="2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70;p24">
              <a:extLst>
                <a:ext uri="{FF2B5EF4-FFF2-40B4-BE49-F238E27FC236}">
                  <a16:creationId xmlns:a16="http://schemas.microsoft.com/office/drawing/2014/main" id="{A1336641-91BD-E3DA-CD2F-E4C4780C0979}"/>
                </a:ext>
              </a:extLst>
            </p:cNvPr>
            <p:cNvSpPr/>
            <p:nvPr/>
          </p:nvSpPr>
          <p:spPr>
            <a:xfrm>
              <a:off x="4634850" y="3040650"/>
              <a:ext cx="79750" cy="104700"/>
            </a:xfrm>
            <a:custGeom>
              <a:avLst/>
              <a:gdLst/>
              <a:ahLst/>
              <a:cxnLst/>
              <a:rect l="l" t="t" r="r" b="b"/>
              <a:pathLst>
                <a:path w="3190" h="4188" extrusionOk="0">
                  <a:moveTo>
                    <a:pt x="2444" y="0"/>
                  </a:moveTo>
                  <a:cubicBezTo>
                    <a:pt x="1928" y="0"/>
                    <a:pt x="1199" y="646"/>
                    <a:pt x="684" y="1606"/>
                  </a:cubicBezTo>
                  <a:cubicBezTo>
                    <a:pt x="81" y="2730"/>
                    <a:pt x="1" y="3860"/>
                    <a:pt x="504" y="4130"/>
                  </a:cubicBezTo>
                  <a:cubicBezTo>
                    <a:pt x="577" y="4169"/>
                    <a:pt x="659" y="4188"/>
                    <a:pt x="747" y="4188"/>
                  </a:cubicBezTo>
                  <a:cubicBezTo>
                    <a:pt x="1262" y="4188"/>
                    <a:pt x="1991" y="3543"/>
                    <a:pt x="2506" y="2582"/>
                  </a:cubicBezTo>
                  <a:cubicBezTo>
                    <a:pt x="3109" y="1458"/>
                    <a:pt x="3189" y="328"/>
                    <a:pt x="2687" y="58"/>
                  </a:cubicBezTo>
                  <a:cubicBezTo>
                    <a:pt x="2613" y="19"/>
                    <a:pt x="2531" y="0"/>
                    <a:pt x="2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71;p24">
              <a:extLst>
                <a:ext uri="{FF2B5EF4-FFF2-40B4-BE49-F238E27FC236}">
                  <a16:creationId xmlns:a16="http://schemas.microsoft.com/office/drawing/2014/main" id="{29DE40B0-DF26-CEF9-DCE6-240D9DDE8D39}"/>
                </a:ext>
              </a:extLst>
            </p:cNvPr>
            <p:cNvSpPr/>
            <p:nvPr/>
          </p:nvSpPr>
          <p:spPr>
            <a:xfrm>
              <a:off x="4653975" y="3055700"/>
              <a:ext cx="54575" cy="78775"/>
            </a:xfrm>
            <a:custGeom>
              <a:avLst/>
              <a:gdLst/>
              <a:ahLst/>
              <a:cxnLst/>
              <a:rect l="l" t="t" r="r" b="b"/>
              <a:pathLst>
                <a:path w="2183" h="3151" extrusionOk="0">
                  <a:moveTo>
                    <a:pt x="1620" y="0"/>
                  </a:moveTo>
                  <a:cubicBezTo>
                    <a:pt x="1608" y="0"/>
                    <a:pt x="1596" y="1"/>
                    <a:pt x="1584" y="2"/>
                  </a:cubicBezTo>
                  <a:cubicBezTo>
                    <a:pt x="1770" y="339"/>
                    <a:pt x="1662" y="1039"/>
                    <a:pt x="1288" y="1734"/>
                  </a:cubicBezTo>
                  <a:cubicBezTo>
                    <a:pt x="913" y="2436"/>
                    <a:pt x="386" y="2914"/>
                    <a:pt x="1" y="2942"/>
                  </a:cubicBezTo>
                  <a:cubicBezTo>
                    <a:pt x="40" y="3014"/>
                    <a:pt x="93" y="3072"/>
                    <a:pt x="161" y="3107"/>
                  </a:cubicBezTo>
                  <a:cubicBezTo>
                    <a:pt x="217" y="3136"/>
                    <a:pt x="278" y="3151"/>
                    <a:pt x="345" y="3151"/>
                  </a:cubicBezTo>
                  <a:cubicBezTo>
                    <a:pt x="732" y="3151"/>
                    <a:pt x="1279" y="2665"/>
                    <a:pt x="1667" y="1942"/>
                  </a:cubicBezTo>
                  <a:cubicBezTo>
                    <a:pt x="2120" y="1097"/>
                    <a:pt x="2182" y="247"/>
                    <a:pt x="1803" y="44"/>
                  </a:cubicBezTo>
                  <a:cubicBezTo>
                    <a:pt x="1748" y="14"/>
                    <a:pt x="1687" y="0"/>
                    <a:pt x="1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72;p24">
              <a:extLst>
                <a:ext uri="{FF2B5EF4-FFF2-40B4-BE49-F238E27FC236}">
                  <a16:creationId xmlns:a16="http://schemas.microsoft.com/office/drawing/2014/main" id="{FDF9A6F7-904B-8255-E642-8BEFE6855FF0}"/>
                </a:ext>
              </a:extLst>
            </p:cNvPr>
            <p:cNvSpPr/>
            <p:nvPr/>
          </p:nvSpPr>
          <p:spPr>
            <a:xfrm>
              <a:off x="4649375" y="3055725"/>
              <a:ext cx="48875" cy="73525"/>
            </a:xfrm>
            <a:custGeom>
              <a:avLst/>
              <a:gdLst/>
              <a:ahLst/>
              <a:cxnLst/>
              <a:rect l="l" t="t" r="r" b="b"/>
              <a:pathLst>
                <a:path w="1955" h="2941" extrusionOk="0">
                  <a:moveTo>
                    <a:pt x="1768" y="1"/>
                  </a:moveTo>
                  <a:lnTo>
                    <a:pt x="1768" y="1"/>
                  </a:lnTo>
                  <a:cubicBezTo>
                    <a:pt x="1385" y="29"/>
                    <a:pt x="857" y="506"/>
                    <a:pt x="482" y="1206"/>
                  </a:cubicBezTo>
                  <a:lnTo>
                    <a:pt x="482" y="1208"/>
                  </a:lnTo>
                  <a:cubicBezTo>
                    <a:pt x="108" y="1903"/>
                    <a:pt x="0" y="2601"/>
                    <a:pt x="185" y="2941"/>
                  </a:cubicBezTo>
                  <a:cubicBezTo>
                    <a:pt x="570" y="2913"/>
                    <a:pt x="1097" y="2435"/>
                    <a:pt x="1472" y="1733"/>
                  </a:cubicBezTo>
                  <a:cubicBezTo>
                    <a:pt x="1846" y="1038"/>
                    <a:pt x="1954" y="338"/>
                    <a:pt x="17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73;p24">
              <a:extLst>
                <a:ext uri="{FF2B5EF4-FFF2-40B4-BE49-F238E27FC236}">
                  <a16:creationId xmlns:a16="http://schemas.microsoft.com/office/drawing/2014/main" id="{BCF5B458-8DFD-403F-6774-DCD04CFE0F63}"/>
                </a:ext>
              </a:extLst>
            </p:cNvPr>
            <p:cNvSpPr/>
            <p:nvPr/>
          </p:nvSpPr>
          <p:spPr>
            <a:xfrm>
              <a:off x="4674425" y="3037025"/>
              <a:ext cx="111900" cy="75200"/>
            </a:xfrm>
            <a:custGeom>
              <a:avLst/>
              <a:gdLst/>
              <a:ahLst/>
              <a:cxnLst/>
              <a:rect l="l" t="t" r="r" b="b"/>
              <a:pathLst>
                <a:path w="4476" h="3008" extrusionOk="0">
                  <a:moveTo>
                    <a:pt x="1924" y="0"/>
                  </a:moveTo>
                  <a:cubicBezTo>
                    <a:pt x="1473" y="0"/>
                    <a:pt x="975" y="91"/>
                    <a:pt x="431" y="273"/>
                  </a:cubicBezTo>
                  <a:cubicBezTo>
                    <a:pt x="151" y="365"/>
                    <a:pt x="1" y="667"/>
                    <a:pt x="95" y="945"/>
                  </a:cubicBezTo>
                  <a:cubicBezTo>
                    <a:pt x="139" y="1079"/>
                    <a:pt x="230" y="1182"/>
                    <a:pt x="343" y="1244"/>
                  </a:cubicBezTo>
                  <a:cubicBezTo>
                    <a:pt x="421" y="1286"/>
                    <a:pt x="509" y="1310"/>
                    <a:pt x="600" y="1310"/>
                  </a:cubicBezTo>
                  <a:cubicBezTo>
                    <a:pt x="655" y="1310"/>
                    <a:pt x="712" y="1301"/>
                    <a:pt x="767" y="1282"/>
                  </a:cubicBezTo>
                  <a:cubicBezTo>
                    <a:pt x="1203" y="1136"/>
                    <a:pt x="1588" y="1063"/>
                    <a:pt x="1919" y="1063"/>
                  </a:cubicBezTo>
                  <a:cubicBezTo>
                    <a:pt x="2255" y="1063"/>
                    <a:pt x="2537" y="1139"/>
                    <a:pt x="2761" y="1289"/>
                  </a:cubicBezTo>
                  <a:cubicBezTo>
                    <a:pt x="3339" y="1680"/>
                    <a:pt x="3397" y="2498"/>
                    <a:pt x="3397" y="2506"/>
                  </a:cubicBezTo>
                  <a:cubicBezTo>
                    <a:pt x="3414" y="2789"/>
                    <a:pt x="3651" y="3008"/>
                    <a:pt x="3931" y="3008"/>
                  </a:cubicBezTo>
                  <a:cubicBezTo>
                    <a:pt x="3940" y="3008"/>
                    <a:pt x="3949" y="3007"/>
                    <a:pt x="3959" y="3007"/>
                  </a:cubicBezTo>
                  <a:cubicBezTo>
                    <a:pt x="4251" y="2990"/>
                    <a:pt x="4475" y="2742"/>
                    <a:pt x="4460" y="2450"/>
                  </a:cubicBezTo>
                  <a:cubicBezTo>
                    <a:pt x="4457" y="2395"/>
                    <a:pt x="4381" y="1107"/>
                    <a:pt x="3366" y="415"/>
                  </a:cubicBezTo>
                  <a:cubicBezTo>
                    <a:pt x="2962" y="138"/>
                    <a:pt x="2479" y="0"/>
                    <a:pt x="1924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74;p24">
              <a:extLst>
                <a:ext uri="{FF2B5EF4-FFF2-40B4-BE49-F238E27FC236}">
                  <a16:creationId xmlns:a16="http://schemas.microsoft.com/office/drawing/2014/main" id="{0C0E98B9-1A11-5B43-FD6F-943E50994A6C}"/>
                </a:ext>
              </a:extLst>
            </p:cNvPr>
            <p:cNvSpPr/>
            <p:nvPr/>
          </p:nvSpPr>
          <p:spPr>
            <a:xfrm>
              <a:off x="4650925" y="3071025"/>
              <a:ext cx="109950" cy="70200"/>
            </a:xfrm>
            <a:custGeom>
              <a:avLst/>
              <a:gdLst/>
              <a:ahLst/>
              <a:cxnLst/>
              <a:rect l="l" t="t" r="r" b="b"/>
              <a:pathLst>
                <a:path w="4398" h="2808" extrusionOk="0">
                  <a:moveTo>
                    <a:pt x="1629" y="0"/>
                  </a:moveTo>
                  <a:cubicBezTo>
                    <a:pt x="1264" y="0"/>
                    <a:pt x="871" y="55"/>
                    <a:pt x="453" y="166"/>
                  </a:cubicBezTo>
                  <a:cubicBezTo>
                    <a:pt x="170" y="241"/>
                    <a:pt x="0" y="532"/>
                    <a:pt x="76" y="817"/>
                  </a:cubicBezTo>
                  <a:cubicBezTo>
                    <a:pt x="114" y="964"/>
                    <a:pt x="211" y="1080"/>
                    <a:pt x="335" y="1147"/>
                  </a:cubicBezTo>
                  <a:cubicBezTo>
                    <a:pt x="412" y="1190"/>
                    <a:pt x="500" y="1213"/>
                    <a:pt x="591" y="1213"/>
                  </a:cubicBezTo>
                  <a:cubicBezTo>
                    <a:pt x="635" y="1213"/>
                    <a:pt x="681" y="1208"/>
                    <a:pt x="726" y="1196"/>
                  </a:cubicBezTo>
                  <a:cubicBezTo>
                    <a:pt x="1054" y="1109"/>
                    <a:pt x="1354" y="1066"/>
                    <a:pt x="1625" y="1066"/>
                  </a:cubicBezTo>
                  <a:cubicBezTo>
                    <a:pt x="1999" y="1066"/>
                    <a:pt x="2318" y="1148"/>
                    <a:pt x="2580" y="1312"/>
                  </a:cubicBezTo>
                  <a:cubicBezTo>
                    <a:pt x="3161" y="1679"/>
                    <a:pt x="3298" y="2362"/>
                    <a:pt x="3299" y="2369"/>
                  </a:cubicBezTo>
                  <a:cubicBezTo>
                    <a:pt x="3344" y="2627"/>
                    <a:pt x="3567" y="2808"/>
                    <a:pt x="3820" y="2808"/>
                  </a:cubicBezTo>
                  <a:cubicBezTo>
                    <a:pt x="3851" y="2808"/>
                    <a:pt x="3883" y="2805"/>
                    <a:pt x="3914" y="2800"/>
                  </a:cubicBezTo>
                  <a:cubicBezTo>
                    <a:pt x="4203" y="2750"/>
                    <a:pt x="4397" y="2472"/>
                    <a:pt x="4347" y="2183"/>
                  </a:cubicBezTo>
                  <a:cubicBezTo>
                    <a:pt x="4340" y="2136"/>
                    <a:pt x="4140" y="1047"/>
                    <a:pt x="3164" y="423"/>
                  </a:cubicBezTo>
                  <a:cubicBezTo>
                    <a:pt x="2726" y="141"/>
                    <a:pt x="2212" y="0"/>
                    <a:pt x="1629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75;p24">
              <a:extLst>
                <a:ext uri="{FF2B5EF4-FFF2-40B4-BE49-F238E27FC236}">
                  <a16:creationId xmlns:a16="http://schemas.microsoft.com/office/drawing/2014/main" id="{687758B1-51E4-D162-50E4-CF1E8A8917D1}"/>
                </a:ext>
              </a:extLst>
            </p:cNvPr>
            <p:cNvSpPr/>
            <p:nvPr/>
          </p:nvSpPr>
          <p:spPr>
            <a:xfrm>
              <a:off x="4388650" y="2693825"/>
              <a:ext cx="217350" cy="377150"/>
            </a:xfrm>
            <a:custGeom>
              <a:avLst/>
              <a:gdLst/>
              <a:ahLst/>
              <a:cxnLst/>
              <a:rect l="l" t="t" r="r" b="b"/>
              <a:pathLst>
                <a:path w="8694" h="15086" extrusionOk="0">
                  <a:moveTo>
                    <a:pt x="5539" y="0"/>
                  </a:moveTo>
                  <a:cubicBezTo>
                    <a:pt x="5467" y="0"/>
                    <a:pt x="5394" y="2"/>
                    <a:pt x="5321" y="5"/>
                  </a:cubicBezTo>
                  <a:cubicBezTo>
                    <a:pt x="5202" y="11"/>
                    <a:pt x="5082" y="20"/>
                    <a:pt x="4962" y="35"/>
                  </a:cubicBezTo>
                  <a:cubicBezTo>
                    <a:pt x="4785" y="55"/>
                    <a:pt x="4610" y="85"/>
                    <a:pt x="4434" y="125"/>
                  </a:cubicBezTo>
                  <a:cubicBezTo>
                    <a:pt x="3786" y="272"/>
                    <a:pt x="3178" y="544"/>
                    <a:pt x="2645" y="921"/>
                  </a:cubicBezTo>
                  <a:cubicBezTo>
                    <a:pt x="2559" y="983"/>
                    <a:pt x="2472" y="1047"/>
                    <a:pt x="2390" y="1115"/>
                  </a:cubicBezTo>
                  <a:cubicBezTo>
                    <a:pt x="2066" y="1377"/>
                    <a:pt x="1774" y="1682"/>
                    <a:pt x="1523" y="2023"/>
                  </a:cubicBezTo>
                  <a:cubicBezTo>
                    <a:pt x="1185" y="2482"/>
                    <a:pt x="902" y="2974"/>
                    <a:pt x="679" y="3490"/>
                  </a:cubicBezTo>
                  <a:cubicBezTo>
                    <a:pt x="635" y="3595"/>
                    <a:pt x="591" y="3701"/>
                    <a:pt x="552" y="3807"/>
                  </a:cubicBezTo>
                  <a:cubicBezTo>
                    <a:pt x="161" y="4840"/>
                    <a:pt x="0" y="5956"/>
                    <a:pt x="87" y="7076"/>
                  </a:cubicBezTo>
                  <a:cubicBezTo>
                    <a:pt x="94" y="7188"/>
                    <a:pt x="106" y="7300"/>
                    <a:pt x="120" y="7412"/>
                  </a:cubicBezTo>
                  <a:cubicBezTo>
                    <a:pt x="149" y="7654"/>
                    <a:pt x="191" y="7898"/>
                    <a:pt x="244" y="8139"/>
                  </a:cubicBezTo>
                  <a:cubicBezTo>
                    <a:pt x="443" y="9046"/>
                    <a:pt x="799" y="9884"/>
                    <a:pt x="1292" y="10629"/>
                  </a:cubicBezTo>
                  <a:cubicBezTo>
                    <a:pt x="1360" y="10732"/>
                    <a:pt x="1429" y="10832"/>
                    <a:pt x="1503" y="10929"/>
                  </a:cubicBezTo>
                  <a:cubicBezTo>
                    <a:pt x="2054" y="11679"/>
                    <a:pt x="2753" y="12323"/>
                    <a:pt x="3575" y="12833"/>
                  </a:cubicBezTo>
                  <a:cubicBezTo>
                    <a:pt x="3663" y="12889"/>
                    <a:pt x="3752" y="12942"/>
                    <a:pt x="3843" y="12994"/>
                  </a:cubicBezTo>
                  <a:cubicBezTo>
                    <a:pt x="3881" y="13015"/>
                    <a:pt x="3917" y="13036"/>
                    <a:pt x="3955" y="13056"/>
                  </a:cubicBezTo>
                  <a:lnTo>
                    <a:pt x="7660" y="15085"/>
                  </a:lnTo>
                  <a:cubicBezTo>
                    <a:pt x="7695" y="14793"/>
                    <a:pt x="7809" y="14445"/>
                    <a:pt x="7995" y="14098"/>
                  </a:cubicBezTo>
                  <a:cubicBezTo>
                    <a:pt x="8196" y="13721"/>
                    <a:pt x="8448" y="13413"/>
                    <a:pt x="8693" y="13224"/>
                  </a:cubicBezTo>
                  <a:lnTo>
                    <a:pt x="7960" y="12824"/>
                  </a:lnTo>
                  <a:cubicBezTo>
                    <a:pt x="7948" y="12839"/>
                    <a:pt x="7936" y="12857"/>
                    <a:pt x="7924" y="12874"/>
                  </a:cubicBezTo>
                  <a:cubicBezTo>
                    <a:pt x="7592" y="13330"/>
                    <a:pt x="7074" y="13578"/>
                    <a:pt x="6547" y="13578"/>
                  </a:cubicBezTo>
                  <a:cubicBezTo>
                    <a:pt x="6252" y="13578"/>
                    <a:pt x="5954" y="13500"/>
                    <a:pt x="5685" y="13337"/>
                  </a:cubicBezTo>
                  <a:cubicBezTo>
                    <a:pt x="2247" y="11259"/>
                    <a:pt x="11" y="9592"/>
                    <a:pt x="1429" y="4623"/>
                  </a:cubicBezTo>
                  <a:cubicBezTo>
                    <a:pt x="2251" y="1748"/>
                    <a:pt x="4039" y="1040"/>
                    <a:pt x="5603" y="1040"/>
                  </a:cubicBezTo>
                  <a:cubicBezTo>
                    <a:pt x="7123" y="1040"/>
                    <a:pt x="8430" y="1709"/>
                    <a:pt x="8430" y="1709"/>
                  </a:cubicBezTo>
                  <a:cubicBezTo>
                    <a:pt x="8513" y="1262"/>
                    <a:pt x="8299" y="794"/>
                    <a:pt x="7875" y="570"/>
                  </a:cubicBezTo>
                  <a:cubicBezTo>
                    <a:pt x="7150" y="193"/>
                    <a:pt x="6346" y="0"/>
                    <a:pt x="553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0" name="Google Shape;382;p38">
            <a:extLst>
              <a:ext uri="{FF2B5EF4-FFF2-40B4-BE49-F238E27FC236}">
                <a16:creationId xmlns:a16="http://schemas.microsoft.com/office/drawing/2014/main" id="{8A3ADC97-79F9-29FF-0E3D-D8CE7F08F5E7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382;p38">
            <a:extLst>
              <a:ext uri="{FF2B5EF4-FFF2-40B4-BE49-F238E27FC236}">
                <a16:creationId xmlns:a16="http://schemas.microsoft.com/office/drawing/2014/main" id="{44F998E8-FFBF-2F39-8672-A51C688E060A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382;p38">
            <a:extLst>
              <a:ext uri="{FF2B5EF4-FFF2-40B4-BE49-F238E27FC236}">
                <a16:creationId xmlns:a16="http://schemas.microsoft.com/office/drawing/2014/main" id="{91F1EBE0-3132-4547-1020-B148D0F1BEBB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02854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6"/>
          <p:cNvSpPr txBox="1">
            <a:spLocks noGrp="1"/>
          </p:cNvSpPr>
          <p:nvPr>
            <p:ph type="title"/>
          </p:nvPr>
        </p:nvSpPr>
        <p:spPr>
          <a:xfrm>
            <a:off x="715100" y="1659751"/>
            <a:ext cx="72478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Foundations of </a:t>
            </a:r>
            <a:br>
              <a:rPr lang="en-US" dirty="0"/>
            </a:br>
            <a:r>
              <a:rPr lang="en-US" dirty="0"/>
              <a:t>Deep Q-Network(</a:t>
            </a:r>
            <a:r>
              <a:rPr lang="en-US" dirty="0" err="1"/>
              <a:t>DQN</a:t>
            </a:r>
            <a:r>
              <a:rPr lang="en-US" dirty="0"/>
              <a:t>)</a:t>
            </a:r>
          </a:p>
        </p:txBody>
      </p:sp>
      <p:sp>
        <p:nvSpPr>
          <p:cNvPr id="446" name="Google Shape;446;p26"/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447" name="Google Shape;447;p26"/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" name="Hình chữ nhật: Góc Tròn 1">
            <a:extLst>
              <a:ext uri="{FF2B5EF4-FFF2-40B4-BE49-F238E27FC236}">
                <a16:creationId xmlns:a16="http://schemas.microsoft.com/office/drawing/2014/main" id="{FF0D7178-413A-7575-7891-4A7756299425}"/>
              </a:ext>
            </a:extLst>
          </p:cNvPr>
          <p:cNvSpPr/>
          <p:nvPr/>
        </p:nvSpPr>
        <p:spPr>
          <a:xfrm>
            <a:off x="8086092" y="4494213"/>
            <a:ext cx="802322" cy="365125"/>
          </a:xfrm>
          <a:prstGeom prst="roundRect">
            <a:avLst/>
          </a:prstGeom>
          <a:solidFill>
            <a:srgbClr val="5B62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Squad 4</a:t>
            </a:r>
          </a:p>
        </p:txBody>
      </p:sp>
      <p:sp>
        <p:nvSpPr>
          <p:cNvPr id="3" name="Google Shape;382;p38">
            <a:extLst>
              <a:ext uri="{FF2B5EF4-FFF2-40B4-BE49-F238E27FC236}">
                <a16:creationId xmlns:a16="http://schemas.microsoft.com/office/drawing/2014/main" id="{EDCBDE9C-0F0C-6236-F8DA-F82D3E08826F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82;p38">
            <a:extLst>
              <a:ext uri="{FF2B5EF4-FFF2-40B4-BE49-F238E27FC236}">
                <a16:creationId xmlns:a16="http://schemas.microsoft.com/office/drawing/2014/main" id="{4D74DF52-18AB-E10C-DAA2-281E3368C63D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82;p38">
            <a:extLst>
              <a:ext uri="{FF2B5EF4-FFF2-40B4-BE49-F238E27FC236}">
                <a16:creationId xmlns:a16="http://schemas.microsoft.com/office/drawing/2014/main" id="{E27789A4-F32F-2063-F827-ACC9E016FD6D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3;p27">
            <a:extLst>
              <a:ext uri="{FF2B5EF4-FFF2-40B4-BE49-F238E27FC236}">
                <a16:creationId xmlns:a16="http://schemas.microsoft.com/office/drawing/2014/main" id="{3CD7F09B-5C68-C6D0-B901-C1CC132AD8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7250" y="329484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Deep Q-Network(</a:t>
            </a:r>
            <a:r>
              <a:rPr lang="en-US" dirty="0" err="1"/>
              <a:t>DQN</a:t>
            </a:r>
            <a:r>
              <a:rPr lang="en-US" dirty="0"/>
              <a:t>)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EC4EED54-7B3F-D05D-7E13-84BC4101BFBE}"/>
              </a:ext>
            </a:extLst>
          </p:cNvPr>
          <p:cNvSpPr txBox="1"/>
          <p:nvPr/>
        </p:nvSpPr>
        <p:spPr>
          <a:xfrm>
            <a:off x="537250" y="1401573"/>
            <a:ext cx="81779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Golos Text" panose="020B0604020202020204" charset="0"/>
                <a:cs typeface="Golos Text" panose="020B0604020202020204" charset="0"/>
              </a:rPr>
              <a:t>DQN</a:t>
            </a:r>
            <a:r>
              <a:rPr lang="en-US" dirty="0">
                <a:latin typeface="Golos Text" panose="020B0604020202020204" charset="0"/>
                <a:cs typeface="Golos Text" panose="020B0604020202020204" charset="0"/>
              </a:rPr>
              <a:t> is a breakthrough in reinforcement learning, utilizing a deep neural network to approximate the Q-function. This enables the algorithm to handle complex environments and make more accurate predictions.</a:t>
            </a:r>
          </a:p>
          <a:p>
            <a:endParaRPr lang="en-US" dirty="0">
              <a:latin typeface="Golos Text" panose="020B0604020202020204" charset="0"/>
              <a:cs typeface="Golos Text" panose="020B0604020202020204" charset="0"/>
            </a:endParaRPr>
          </a:p>
        </p:txBody>
      </p:sp>
      <p:sp>
        <p:nvSpPr>
          <p:cNvPr id="9" name="Google Shape;382;p38">
            <a:extLst>
              <a:ext uri="{FF2B5EF4-FFF2-40B4-BE49-F238E27FC236}">
                <a16:creationId xmlns:a16="http://schemas.microsoft.com/office/drawing/2014/main" id="{DE38E07A-211F-C65A-7E3F-A4E0B7B59D81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82;p38">
            <a:extLst>
              <a:ext uri="{FF2B5EF4-FFF2-40B4-BE49-F238E27FC236}">
                <a16:creationId xmlns:a16="http://schemas.microsoft.com/office/drawing/2014/main" id="{B0CC9A9A-D7AB-D677-35B2-C19713339485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82;p38">
            <a:extLst>
              <a:ext uri="{FF2B5EF4-FFF2-40B4-BE49-F238E27FC236}">
                <a16:creationId xmlns:a16="http://schemas.microsoft.com/office/drawing/2014/main" id="{91C1DD94-6420-FAE2-3EF2-A5D0DEE31D3C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Hình ảnh 11" descr="Ảnh có chứa ảnh chụp màn hình, văn bản, Nhiều màu sắc, Phông chữ&#10;&#10;Mô tả được tạo tự động">
            <a:extLst>
              <a:ext uri="{FF2B5EF4-FFF2-40B4-BE49-F238E27FC236}">
                <a16:creationId xmlns:a16="http://schemas.microsoft.com/office/drawing/2014/main" id="{35CB4C9E-F6F1-92C8-388C-2DE9A3093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23" y="2042554"/>
            <a:ext cx="8119353" cy="279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0114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Wor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82;p38">
            <a:extLst>
              <a:ext uri="{FF2B5EF4-FFF2-40B4-BE49-F238E27FC236}">
                <a16:creationId xmlns:a16="http://schemas.microsoft.com/office/drawing/2014/main" id="{E631BF9B-905A-E229-8186-BCCE24957471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82;p38">
            <a:extLst>
              <a:ext uri="{FF2B5EF4-FFF2-40B4-BE49-F238E27FC236}">
                <a16:creationId xmlns:a16="http://schemas.microsoft.com/office/drawing/2014/main" id="{C4F91911-9499-DD89-FC1E-B3BDEE21EA5D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82;p38">
            <a:extLst>
              <a:ext uri="{FF2B5EF4-FFF2-40B4-BE49-F238E27FC236}">
                <a16:creationId xmlns:a16="http://schemas.microsoft.com/office/drawing/2014/main" id="{6D6744BC-EAF2-3234-04EE-1475BBBCDD2E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46BEA77A-8D53-6ABA-A142-091CA45DE31C}"/>
                  </a:ext>
                </a:extLst>
              </p:cNvPr>
              <p:cNvSpPr txBox="1"/>
              <p:nvPr/>
            </p:nvSpPr>
            <p:spPr>
              <a:xfrm>
                <a:off x="523086" y="1394504"/>
                <a:ext cx="3764001" cy="23544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100" b="1" dirty="0">
                    <a:latin typeface="Golos Text" panose="020B0604020202020204" charset="0"/>
                    <a:cs typeface="Golos Text" panose="020B0604020202020204" charset="0"/>
                  </a:rPr>
                  <a:t>Experience Replay</a:t>
                </a:r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 is a crucial technique in </a:t>
                </a:r>
                <a:r>
                  <a:rPr lang="en-US" sz="1100" b="1" dirty="0" err="1">
                    <a:latin typeface="Golos Text" panose="020B0604020202020204" charset="0"/>
                    <a:cs typeface="Golos Text" panose="020B0604020202020204" charset="0"/>
                  </a:rPr>
                  <a:t>DQN</a:t>
                </a:r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 to address correlated data issues. Instead of training directly on sequential data, we sample randomly from an experience replay buffer to ensure each update is independent and uncorrelated.</a:t>
                </a:r>
              </a:p>
              <a:p>
                <a:pPr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Data consists of tuples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(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𝑠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,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𝑎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,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𝑟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,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𝑠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′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)</m:t>
                    </m:r>
                  </m:oMath>
                </a14:m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  <a:cs typeface="Golos Text" panose="020B0604020202020204" charset="0"/>
                      </a:rPr>
                      <m:t>𝑠</m:t>
                    </m:r>
                  </m:oMath>
                </a14:m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 is the current state,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  <a:cs typeface="Golos Text" panose="020B0604020202020204" charset="0"/>
                      </a:rPr>
                      <m:t>𝑎</m:t>
                    </m:r>
                  </m:oMath>
                </a14:m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 is the action,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  <a:cs typeface="Golos Text" panose="020B0604020202020204" charset="0"/>
                      </a:rPr>
                      <m:t>𝑟</m:t>
                    </m:r>
                  </m:oMath>
                </a14:m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 is the reward,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  <a:cs typeface="Golos Text" panose="020B0604020202020204" charset="0"/>
                      </a:rPr>
                      <m:t>𝑠</m:t>
                    </m:r>
                    <m:r>
                      <a:rPr lang="en-US" sz="1100" i="1">
                        <a:latin typeface="Cambria Math" panose="02040503050406030204" pitchFamily="18" charset="0"/>
                        <a:cs typeface="Golos Text" panose="020B0604020202020204" charset="0"/>
                      </a:rPr>
                      <m:t>′</m:t>
                    </m:r>
                  </m:oMath>
                </a14:m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 is the next state</a:t>
                </a:r>
              </a:p>
              <a:p>
                <a:pPr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Randomly sample tuples from the buffer to update the </a:t>
                </a:r>
                <a:r>
                  <a:rPr lang="en-US" sz="1100" b="1" dirty="0" err="1">
                    <a:latin typeface="Golos Text" panose="020B0604020202020204" charset="0"/>
                    <a:cs typeface="Golos Text" panose="020B0604020202020204" charset="0"/>
                  </a:rPr>
                  <a:t>DQN</a:t>
                </a:r>
                <a:r>
                  <a:rPr lang="en-US" sz="1100" b="1" dirty="0">
                    <a:latin typeface="Golos Text" panose="020B0604020202020204" charset="0"/>
                    <a:cs typeface="Golos Text" panose="020B0604020202020204" charset="0"/>
                  </a:rPr>
                  <a:t> </a:t>
                </a:r>
              </a:p>
              <a:p>
                <a:pPr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Helps alleviate correlated data, improves generalization ability</a:t>
                </a:r>
              </a:p>
            </p:txBody>
          </p:sp>
        </mc:Choice>
        <mc:Fallback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46BEA77A-8D53-6ABA-A142-091CA45DE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86" y="1394504"/>
                <a:ext cx="3764001" cy="2354491"/>
              </a:xfrm>
              <a:prstGeom prst="rect">
                <a:avLst/>
              </a:prstGeom>
              <a:blipFill>
                <a:blip r:embed="rId2"/>
                <a:stretch>
                  <a:fillRect t="-259" b="-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Hình ảnh 13" descr="Ảnh có chứa văn bản, ảnh chụp màn hình, Phông chữ, thiết kế&#10;&#10;Mô tả được tạo tự động">
            <a:extLst>
              <a:ext uri="{FF2B5EF4-FFF2-40B4-BE49-F238E27FC236}">
                <a16:creationId xmlns:a16="http://schemas.microsoft.com/office/drawing/2014/main" id="{F467375B-3890-FF78-0B90-CC1F6927D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885" y="1891880"/>
            <a:ext cx="4572002" cy="135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177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82;p38">
            <a:extLst>
              <a:ext uri="{FF2B5EF4-FFF2-40B4-BE49-F238E27FC236}">
                <a16:creationId xmlns:a16="http://schemas.microsoft.com/office/drawing/2014/main" id="{E631BF9B-905A-E229-8186-BCCE24957471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82;p38">
            <a:extLst>
              <a:ext uri="{FF2B5EF4-FFF2-40B4-BE49-F238E27FC236}">
                <a16:creationId xmlns:a16="http://schemas.microsoft.com/office/drawing/2014/main" id="{C4F91911-9499-DD89-FC1E-B3BDEE21EA5D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82;p38">
            <a:extLst>
              <a:ext uri="{FF2B5EF4-FFF2-40B4-BE49-F238E27FC236}">
                <a16:creationId xmlns:a16="http://schemas.microsoft.com/office/drawing/2014/main" id="{6D6744BC-EAF2-3234-04EE-1475BBBCDD2E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46BEA77A-8D53-6ABA-A142-091CA45DE31C}"/>
                  </a:ext>
                </a:extLst>
              </p:cNvPr>
              <p:cNvSpPr txBox="1"/>
              <p:nvPr/>
            </p:nvSpPr>
            <p:spPr>
              <a:xfrm>
                <a:off x="1119943" y="1384918"/>
                <a:ext cx="6904114" cy="2373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To optimize the </a:t>
                </a:r>
                <a:r>
                  <a:rPr lang="en-US" sz="1200" b="1" dirty="0" err="1">
                    <a:latin typeface="Golos Text" panose="020B0604020202020204" charset="0"/>
                    <a:cs typeface="Golos Text" panose="020B0604020202020204" charset="0"/>
                  </a:rPr>
                  <a:t>DQN</a:t>
                </a:r>
                <a:r>
                  <a:rPr lang="en-US" sz="1200" b="1" dirty="0">
                    <a:latin typeface="Golos Text" panose="020B0604020202020204" charset="0"/>
                    <a:cs typeface="Golos Text" panose="020B0604020202020204" charset="0"/>
                  </a:rPr>
                  <a:t> network</a:t>
                </a:r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, we utilize </a:t>
                </a:r>
                <a:r>
                  <a:rPr lang="en-US" sz="1200" b="1" dirty="0">
                    <a:latin typeface="Golos Text" panose="020B0604020202020204" charset="0"/>
                    <a:cs typeface="Golos Text" panose="020B0604020202020204" charset="0"/>
                  </a:rPr>
                  <a:t>Gradient Descent </a:t>
                </a:r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to update the network weights according to the following </a:t>
                </a:r>
                <a:r>
                  <a:rPr lang="en-US" sz="1200" b="1" dirty="0">
                    <a:latin typeface="Golos Text" panose="020B0604020202020204" charset="0"/>
                    <a:cs typeface="Golos Text" panose="020B0604020202020204" charset="0"/>
                  </a:rPr>
                  <a:t>loss function</a:t>
                </a:r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: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cs typeface="Golos Text" panose="020B0604020202020204" charset="0"/>
                        </a:rPr>
                        <m:t>𝐿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Golos Text" panose="020B0604020202020204" charset="0"/>
                        </a:rPr>
                        <m:t>=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cs typeface="Golos Text" panose="020B060402020202020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cs typeface="Golos Text" panose="020B0604020202020204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cs typeface="Golos Text" panose="020B0604020202020204" charset="0"/>
                                </a:rPr>
                                <m:t>𝑟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cs typeface="Golos Text" panose="020B0604020202020204" charset="0"/>
                                </a:rPr>
                                <m:t>+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cs typeface="Golos Text" panose="020B0604020202020204" charset="0"/>
                                </a:rPr>
                                <m:t>𝛾</m:t>
                              </m:r>
                              <m:func>
                                <m:func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cs typeface="Golos Text" panose="020B0604020202020204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cs typeface="Golos Text" panose="020B0604020202020204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 b="0" i="0" smtClean="0">
                                          <a:latin typeface="Cambria Math" panose="02040503050406030204" pitchFamily="18" charset="0"/>
                                          <a:cs typeface="Golos Text" panose="020B0604020202020204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sSup>
                                        <m:sSup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  <a:cs typeface="Golos Text" panose="020B060402020202020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  <a:cs typeface="Golos Text" panose="020B0604020202020204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  <a:cs typeface="Golos Text" panose="020B0604020202020204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lim>
                                  </m:limLow>
                                </m:fName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cs typeface="Golos Text" panose="020B0604020202020204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cs typeface="Golos Text" panose="020B0604020202020204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  <a:cs typeface="Golos Text" panose="020B060402020202020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  <a:cs typeface="Golos Text" panose="020B0604020202020204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  <a:cs typeface="Golos Text" panose="020B0604020202020204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cs typeface="Golos Text" panose="020B0604020202020204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  <a:cs typeface="Golos Text" panose="020B060402020202020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  <a:cs typeface="Golos Text" panose="020B0604020202020204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  <a:cs typeface="Golos Text" panose="020B0604020202020204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cs typeface="Golos Text" panose="020B0604020202020204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  <a:cs typeface="Golos Text" panose="020B060402020202020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  <a:cs typeface="Golos Text" panose="020B0604020202020204" charset="0"/>
                                            </a:rPr>
                                            <m:t>𝑤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  <a:cs typeface="Golos Text" panose="020B0604020202020204" charset="0"/>
                                            </a:rPr>
                                            <m:t>−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cs typeface="Golos Text" panose="020B0604020202020204" charset="0"/>
                                    </a:rPr>
                                    <m:t>−</m:t>
                                  </m:r>
                                </m:e>
                              </m:func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cs typeface="Golos Text" panose="020B0604020202020204" charset="0"/>
                                </a:rPr>
                                <m:t>𝑄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cs typeface="Golos Text" panose="020B0604020202020204" charset="0"/>
                                </a:rPr>
                                <m:t>(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cs typeface="Golos Text" panose="020B0604020202020204" charset="0"/>
                                </a:rPr>
                                <m:t>𝑠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cs typeface="Golos Text" panose="020B0604020202020204" charset="0"/>
                                </a:rPr>
                                <m:t>,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cs typeface="Golos Text" panose="020B0604020202020204" charset="0"/>
                                </a:rPr>
                                <m:t>𝑎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cs typeface="Golos Text" panose="020B0604020202020204" charset="0"/>
                                </a:rPr>
                                <m:t>,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cs typeface="Golos Text" panose="020B0604020202020204" charset="0"/>
                                </a:rPr>
                                <m:t>𝑤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cs typeface="Golos Text" panose="020B0604020202020204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Golos Text" panose="020B060402020202020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200" dirty="0"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L="171450" indent="-171450" algn="l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Subsequently, we update the weights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𝑤</m:t>
                    </m:r>
                  </m:oMath>
                </a14:m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 according to the </a:t>
                </a:r>
                <a:r>
                  <a:rPr lang="en-US" sz="1200" b="1" dirty="0">
                    <a:latin typeface="Golos Text" panose="020B0604020202020204" charset="0"/>
                    <a:cs typeface="Golos Text" panose="020B0604020202020204" charset="0"/>
                  </a:rPr>
                  <a:t>gradient descent rule</a:t>
                </a:r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:</a:t>
                </a:r>
              </a:p>
              <a:p>
                <a:pPr algn="l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cs typeface="Golos Text" panose="020B0604020202020204" charset="0"/>
                        </a:rPr>
                        <m:t>𝑤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Golos Text" panose="020B0604020202020204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Golos Text" panose="020B0604020202020204" charset="0"/>
                        </a:rPr>
                        <m:t>𝑤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Golos Text" panose="020B0604020202020204" charset="0"/>
                        </a:rPr>
                        <m:t>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Golos Text" panose="020B0604020202020204" charset="0"/>
                        </a:rPr>
                        <m:t>𝛼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cs typeface="Golos Text" panose="020B0604020202020204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Golos Text" panose="020B0604020202020204" charset="0"/>
                            </a:rPr>
                            <m:t>𝜕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Golos Text" panose="020B0604020202020204" charset="0"/>
                            </a:rPr>
                            <m:t>𝐿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Golos Text" panose="020B0604020202020204" charset="0"/>
                            </a:rPr>
                            <m:t>𝜕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Golos Text" panose="020B0604020202020204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sz="1200" dirty="0"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algn="l">
                  <a:spcAft>
                    <a:spcPts val="600"/>
                  </a:spcAft>
                </a:pPr>
                <a:r>
                  <a:rPr lang="en-US" sz="1050" dirty="0">
                    <a:latin typeface="Golos Text" panose="020B0604020202020204" charset="0"/>
                    <a:cs typeface="Golos Text" panose="020B0604020202020204" charset="0"/>
                  </a:rPr>
                  <a:t>* </a:t>
                </a:r>
                <a14:m>
                  <m:oMath xmlns:m="http://schemas.openxmlformats.org/officeDocument/2006/math">
                    <m:r>
                      <a:rPr lang="en-US" sz="105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𝛼</m:t>
                    </m:r>
                    <m:r>
                      <a:rPr lang="en-US" sz="105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 </m:t>
                    </m:r>
                  </m:oMath>
                </a14:m>
                <a:r>
                  <a:rPr lang="en-US" sz="1050" dirty="0">
                    <a:latin typeface="Golos Text" panose="020B0604020202020204" charset="0"/>
                    <a:cs typeface="Golos Text" panose="020B0604020202020204" charset="0"/>
                  </a:rPr>
                  <a:t>denotes the learning rate</a:t>
                </a:r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This process is repeated iteratively until the neural network converges or achieves the desired performance.</a:t>
                </a:r>
              </a:p>
              <a:p>
                <a:pPr>
                  <a:spcAft>
                    <a:spcPts val="600"/>
                  </a:spcAft>
                </a:pPr>
                <a:endParaRPr lang="en-US" sz="1200" dirty="0">
                  <a:latin typeface="Golos Text" panose="020B0604020202020204" charset="0"/>
                  <a:cs typeface="Golos Text" panose="020B0604020202020204" charset="0"/>
                </a:endParaRPr>
              </a:p>
            </p:txBody>
          </p:sp>
        </mc:Choice>
        <mc:Fallback xmlns="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46BEA77A-8D53-6ABA-A142-091CA45DE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943" y="1384918"/>
                <a:ext cx="6904114" cy="2373663"/>
              </a:xfrm>
              <a:prstGeom prst="rect">
                <a:avLst/>
              </a:prstGeom>
              <a:blipFill>
                <a:blip r:embed="rId2"/>
                <a:stretch>
                  <a:fillRect r="-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16726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9"/>
          <p:cNvSpPr txBox="1">
            <a:spLocks noGrp="1"/>
          </p:cNvSpPr>
          <p:nvPr>
            <p:ph type="title"/>
          </p:nvPr>
        </p:nvSpPr>
        <p:spPr>
          <a:xfrm>
            <a:off x="715100" y="1925850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Modeling the Project</a:t>
            </a:r>
          </a:p>
        </p:txBody>
      </p:sp>
      <p:sp>
        <p:nvSpPr>
          <p:cNvPr id="470" name="Google Shape;470;p29"/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471" name="Google Shape;471;p29"/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" name="Hình chữ nhật: Góc Tròn 1">
            <a:extLst>
              <a:ext uri="{FF2B5EF4-FFF2-40B4-BE49-F238E27FC236}">
                <a16:creationId xmlns:a16="http://schemas.microsoft.com/office/drawing/2014/main" id="{194215A6-48FF-CCC6-C7BC-444EBB59F6C9}"/>
              </a:ext>
            </a:extLst>
          </p:cNvPr>
          <p:cNvSpPr/>
          <p:nvPr/>
        </p:nvSpPr>
        <p:spPr>
          <a:xfrm>
            <a:off x="8086092" y="4494213"/>
            <a:ext cx="802322" cy="365125"/>
          </a:xfrm>
          <a:prstGeom prst="roundRect">
            <a:avLst/>
          </a:prstGeom>
          <a:solidFill>
            <a:srgbClr val="5B62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Squad 4</a:t>
            </a:r>
          </a:p>
        </p:txBody>
      </p:sp>
      <p:sp>
        <p:nvSpPr>
          <p:cNvPr id="3" name="Google Shape;382;p38">
            <a:extLst>
              <a:ext uri="{FF2B5EF4-FFF2-40B4-BE49-F238E27FC236}">
                <a16:creationId xmlns:a16="http://schemas.microsoft.com/office/drawing/2014/main" id="{CC1DEC4B-B21E-03D6-10FC-7C672A922EB7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82;p38">
            <a:extLst>
              <a:ext uri="{FF2B5EF4-FFF2-40B4-BE49-F238E27FC236}">
                <a16:creationId xmlns:a16="http://schemas.microsoft.com/office/drawing/2014/main" id="{2114AF45-CBE5-DE0F-9666-DBE5DE2C5B4B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82;p38">
            <a:extLst>
              <a:ext uri="{FF2B5EF4-FFF2-40B4-BE49-F238E27FC236}">
                <a16:creationId xmlns:a16="http://schemas.microsoft.com/office/drawing/2014/main" id="{B25E2836-BD80-B9A9-55BB-B85FBF8097A8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Hình ảnh 10" descr="Ảnh có chứa văn bản, ảnh chụp màn hình, biểu đồ, màu đen&#10;&#10;Mô tả được tạo tự động">
            <a:extLst>
              <a:ext uri="{FF2B5EF4-FFF2-40B4-BE49-F238E27FC236}">
                <a16:creationId xmlns:a16="http://schemas.microsoft.com/office/drawing/2014/main" id="{EBF97AD0-D845-EAED-7682-C40893467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226" y="1300909"/>
            <a:ext cx="5121548" cy="3114455"/>
          </a:xfrm>
          <a:prstGeom prst="rect">
            <a:avLst/>
          </a:prstGeom>
        </p:spPr>
      </p:pic>
      <p:sp>
        <p:nvSpPr>
          <p:cNvPr id="12" name="Google Shape;469;p29">
            <a:extLst>
              <a:ext uri="{FF2B5EF4-FFF2-40B4-BE49-F238E27FC236}">
                <a16:creationId xmlns:a16="http://schemas.microsoft.com/office/drawing/2014/main" id="{33F4793A-F5EA-8E7D-7566-D44CCA48A1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249" y="213782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Modeling the Project</a:t>
            </a:r>
          </a:p>
        </p:txBody>
      </p:sp>
      <p:sp>
        <p:nvSpPr>
          <p:cNvPr id="15" name="Google Shape;382;p38">
            <a:extLst>
              <a:ext uri="{FF2B5EF4-FFF2-40B4-BE49-F238E27FC236}">
                <a16:creationId xmlns:a16="http://schemas.microsoft.com/office/drawing/2014/main" id="{768579D3-0B6F-B2F0-1FA7-5B6257D7CAC6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82;p38">
            <a:extLst>
              <a:ext uri="{FF2B5EF4-FFF2-40B4-BE49-F238E27FC236}">
                <a16:creationId xmlns:a16="http://schemas.microsoft.com/office/drawing/2014/main" id="{E5BC75EB-E0DD-B668-DF7E-270752D3ABF4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82;p38">
            <a:extLst>
              <a:ext uri="{FF2B5EF4-FFF2-40B4-BE49-F238E27FC236}">
                <a16:creationId xmlns:a16="http://schemas.microsoft.com/office/drawing/2014/main" id="{FF53A791-239E-68EC-D743-8587FC61BE48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B279D63F-454A-32AE-C696-E3CA6A527426}"/>
              </a:ext>
            </a:extLst>
          </p:cNvPr>
          <p:cNvSpPr txBox="1"/>
          <p:nvPr/>
        </p:nvSpPr>
        <p:spPr>
          <a:xfrm>
            <a:off x="410249" y="962355"/>
            <a:ext cx="8512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States</a:t>
            </a:r>
          </a:p>
        </p:txBody>
      </p:sp>
    </p:spTree>
    <p:extLst>
      <p:ext uri="{BB962C8B-B14F-4D97-AF65-F5344CB8AC3E}">
        <p14:creationId xmlns:p14="http://schemas.microsoft.com/office/powerpoint/2010/main" val="39097887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Hình ảnh 10" descr="Ảnh có chứa văn bản, ảnh chụp màn hình, biểu đồ, màu đen&#10;&#10;Mô tả được tạo tự động">
            <a:extLst>
              <a:ext uri="{FF2B5EF4-FFF2-40B4-BE49-F238E27FC236}">
                <a16:creationId xmlns:a16="http://schemas.microsoft.com/office/drawing/2014/main" id="{EBF97AD0-D845-EAED-7682-C40893467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924" y="1446096"/>
            <a:ext cx="3702151" cy="2251308"/>
          </a:xfrm>
          <a:prstGeom prst="rect">
            <a:avLst/>
          </a:prstGeom>
        </p:spPr>
      </p:pic>
      <p:sp>
        <p:nvSpPr>
          <p:cNvPr id="12" name="Google Shape;469;p29">
            <a:extLst>
              <a:ext uri="{FF2B5EF4-FFF2-40B4-BE49-F238E27FC236}">
                <a16:creationId xmlns:a16="http://schemas.microsoft.com/office/drawing/2014/main" id="{33F4793A-F5EA-8E7D-7566-D44CCA48A1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249" y="213782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Modeling the Project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43062A0C-566F-7ABA-832D-D75F50773A79}"/>
              </a:ext>
            </a:extLst>
          </p:cNvPr>
          <p:cNvSpPr txBox="1"/>
          <p:nvPr/>
        </p:nvSpPr>
        <p:spPr>
          <a:xfrm>
            <a:off x="2380277" y="3918309"/>
            <a:ext cx="43834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Golos Text" panose="020B0604020202020204" charset="0"/>
                <a:cs typeface="Golos Text" panose="020B0604020202020204" charset="0"/>
              </a:rPr>
              <a:t>State = feature of the patch(4096) + action history (</a:t>
            </a:r>
            <a:r>
              <a:rPr lang="en-US" sz="1200" dirty="0" err="1">
                <a:latin typeface="Golos Text" panose="020B0604020202020204" charset="0"/>
                <a:cs typeface="Golos Text" panose="020B0604020202020204" charset="0"/>
              </a:rPr>
              <a:t>9x10</a:t>
            </a:r>
            <a:r>
              <a:rPr lang="en-US" sz="1200" dirty="0">
                <a:latin typeface="Golos Text" panose="020B0604020202020204" charset="0"/>
                <a:cs typeface="Golos Text" panose="020B0604020202020204" charset="0"/>
              </a:rPr>
              <a:t>)</a:t>
            </a:r>
          </a:p>
        </p:txBody>
      </p:sp>
      <p:sp>
        <p:nvSpPr>
          <p:cNvPr id="2" name="Google Shape;382;p38">
            <a:extLst>
              <a:ext uri="{FF2B5EF4-FFF2-40B4-BE49-F238E27FC236}">
                <a16:creationId xmlns:a16="http://schemas.microsoft.com/office/drawing/2014/main" id="{E3A46869-5C48-119A-5623-CF1FFBDBE909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82;p38">
            <a:extLst>
              <a:ext uri="{FF2B5EF4-FFF2-40B4-BE49-F238E27FC236}">
                <a16:creationId xmlns:a16="http://schemas.microsoft.com/office/drawing/2014/main" id="{2DC40E3B-8DCF-4D1E-7932-A7F979CD71CD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82;p38">
            <a:extLst>
              <a:ext uri="{FF2B5EF4-FFF2-40B4-BE49-F238E27FC236}">
                <a16:creationId xmlns:a16="http://schemas.microsoft.com/office/drawing/2014/main" id="{A65E5822-EABF-ADD4-FE04-A4152CFACE43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291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69;p29">
            <a:extLst>
              <a:ext uri="{FF2B5EF4-FFF2-40B4-BE49-F238E27FC236}">
                <a16:creationId xmlns:a16="http://schemas.microsoft.com/office/drawing/2014/main" id="{33F4793A-F5EA-8E7D-7566-D44CCA48A1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249" y="213782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Modeling the Project</a:t>
            </a:r>
          </a:p>
        </p:txBody>
      </p:sp>
      <p:sp>
        <p:nvSpPr>
          <p:cNvPr id="15" name="Google Shape;382;p38">
            <a:extLst>
              <a:ext uri="{FF2B5EF4-FFF2-40B4-BE49-F238E27FC236}">
                <a16:creationId xmlns:a16="http://schemas.microsoft.com/office/drawing/2014/main" id="{768579D3-0B6F-B2F0-1FA7-5B6257D7CAC6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82;p38">
            <a:extLst>
              <a:ext uri="{FF2B5EF4-FFF2-40B4-BE49-F238E27FC236}">
                <a16:creationId xmlns:a16="http://schemas.microsoft.com/office/drawing/2014/main" id="{E5BC75EB-E0DD-B668-DF7E-270752D3ABF4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82;p38">
            <a:extLst>
              <a:ext uri="{FF2B5EF4-FFF2-40B4-BE49-F238E27FC236}">
                <a16:creationId xmlns:a16="http://schemas.microsoft.com/office/drawing/2014/main" id="{FF53A791-239E-68EC-D743-8587FC61BE48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B279D63F-454A-32AE-C696-E3CA6A527426}"/>
              </a:ext>
            </a:extLst>
          </p:cNvPr>
          <p:cNvSpPr txBox="1"/>
          <p:nvPr/>
        </p:nvSpPr>
        <p:spPr>
          <a:xfrm>
            <a:off x="410249" y="962355"/>
            <a:ext cx="15624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Bounding Box</a:t>
            </a:r>
          </a:p>
        </p:txBody>
      </p:sp>
    </p:spTree>
    <p:extLst>
      <p:ext uri="{BB962C8B-B14F-4D97-AF65-F5344CB8AC3E}">
        <p14:creationId xmlns:p14="http://schemas.microsoft.com/office/powerpoint/2010/main" val="6355259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382;p38">
            <a:extLst>
              <a:ext uri="{FF2B5EF4-FFF2-40B4-BE49-F238E27FC236}">
                <a16:creationId xmlns:a16="http://schemas.microsoft.com/office/drawing/2014/main" id="{768579D3-0B6F-B2F0-1FA7-5B6257D7CAC6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82;p38">
            <a:extLst>
              <a:ext uri="{FF2B5EF4-FFF2-40B4-BE49-F238E27FC236}">
                <a16:creationId xmlns:a16="http://schemas.microsoft.com/office/drawing/2014/main" id="{E5BC75EB-E0DD-B668-DF7E-270752D3ABF4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82;p38">
            <a:extLst>
              <a:ext uri="{FF2B5EF4-FFF2-40B4-BE49-F238E27FC236}">
                <a16:creationId xmlns:a16="http://schemas.microsoft.com/office/drawing/2014/main" id="{FF53A791-239E-68EC-D743-8587FC61BE48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B279D63F-454A-32AE-C696-E3CA6A527426}"/>
              </a:ext>
            </a:extLst>
          </p:cNvPr>
          <p:cNvSpPr txBox="1"/>
          <p:nvPr/>
        </p:nvSpPr>
        <p:spPr>
          <a:xfrm>
            <a:off x="400304" y="316453"/>
            <a:ext cx="35811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Golos Text Medium" panose="020B0604020202020204" charset="0"/>
                <a:cs typeface="Golos Text Medium" panose="020B0604020202020204" charset="0"/>
              </a:rPr>
              <a:t>Bounding Box</a:t>
            </a:r>
          </a:p>
        </p:txBody>
      </p:sp>
      <p:pic>
        <p:nvPicPr>
          <p:cNvPr id="5" name="Hình ảnh 4" descr="Ảnh có chứa ngoài trời, bảng chỉ dẫn, văn bản, Biển báo giao thông&#10;&#10;Mô tả được tạo tự động">
            <a:extLst>
              <a:ext uri="{FF2B5EF4-FFF2-40B4-BE49-F238E27FC236}">
                <a16:creationId xmlns:a16="http://schemas.microsoft.com/office/drawing/2014/main" id="{9ECF500D-D024-BA90-B0D8-4C2848B2D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013" y="1102986"/>
            <a:ext cx="4515973" cy="338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434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382;p38">
            <a:extLst>
              <a:ext uri="{FF2B5EF4-FFF2-40B4-BE49-F238E27FC236}">
                <a16:creationId xmlns:a16="http://schemas.microsoft.com/office/drawing/2014/main" id="{768579D3-0B6F-B2F0-1FA7-5B6257D7CAC6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82;p38">
            <a:extLst>
              <a:ext uri="{FF2B5EF4-FFF2-40B4-BE49-F238E27FC236}">
                <a16:creationId xmlns:a16="http://schemas.microsoft.com/office/drawing/2014/main" id="{E5BC75EB-E0DD-B668-DF7E-270752D3ABF4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82;p38">
            <a:extLst>
              <a:ext uri="{FF2B5EF4-FFF2-40B4-BE49-F238E27FC236}">
                <a16:creationId xmlns:a16="http://schemas.microsoft.com/office/drawing/2014/main" id="{FF53A791-239E-68EC-D743-8587FC61BE48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B279D63F-454A-32AE-C696-E3CA6A527426}"/>
              </a:ext>
            </a:extLst>
          </p:cNvPr>
          <p:cNvSpPr txBox="1"/>
          <p:nvPr/>
        </p:nvSpPr>
        <p:spPr>
          <a:xfrm>
            <a:off x="400304" y="316453"/>
            <a:ext cx="35811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Golos Text Medium" panose="020B0604020202020204" charset="0"/>
                <a:cs typeface="Golos Text Medium" panose="020B0604020202020204" charset="0"/>
              </a:rPr>
              <a:t>Bounding Box</a:t>
            </a:r>
          </a:p>
        </p:txBody>
      </p:sp>
      <p:pic>
        <p:nvPicPr>
          <p:cNvPr id="5" name="Hình ảnh 4" descr="Ảnh có chứa ngoài trời, bảng chỉ dẫn, văn bản, Biển báo giao thông&#10;&#10;Mô tả được tạo tự động">
            <a:extLst>
              <a:ext uri="{FF2B5EF4-FFF2-40B4-BE49-F238E27FC236}">
                <a16:creationId xmlns:a16="http://schemas.microsoft.com/office/drawing/2014/main" id="{9ECF500D-D024-BA90-B0D8-4C2848B2D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775" y="1335314"/>
            <a:ext cx="3751421" cy="281356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FBA71D29-162D-089F-CF85-80CC61A16467}"/>
                  </a:ext>
                </a:extLst>
              </p:cNvPr>
              <p:cNvSpPr txBox="1"/>
              <p:nvPr/>
            </p:nvSpPr>
            <p:spPr>
              <a:xfrm>
                <a:off x="261258" y="2368918"/>
                <a:ext cx="4100286" cy="7463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indent="-285750" algn="l" rtl="0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1" i="0" dirty="0">
                    <a:solidFill>
                      <a:srgbClr val="000000"/>
                    </a:solidFill>
                    <a:effectLst/>
                    <a:latin typeface="Golos Text" panose="020B0604020202020204" charset="0"/>
                    <a:ea typeface="Arial" panose="020B0604020202020204" pitchFamily="34" charset="0"/>
                    <a:cs typeface="Golos Text" panose="020B0604020202020204" charset="0"/>
                  </a:rPr>
                  <a:t>Definition</a:t>
                </a:r>
                <a:r>
                  <a:rPr lang="en-US" sz="1200" i="0" dirty="0">
                    <a:solidFill>
                      <a:srgbClr val="000000"/>
                    </a:solidFill>
                    <a:effectLst/>
                    <a:latin typeface="Golos Text" panose="020B0604020202020204" charset="0"/>
                    <a:ea typeface="Arial" panose="020B0604020202020204" pitchFamily="34" charset="0"/>
                    <a:cs typeface="Golos Text" panose="020B0604020202020204" charset="0"/>
                  </a:rPr>
                  <a:t>:</a:t>
                </a:r>
                <a:r>
                  <a:rPr lang="en-US" sz="1200" b="1" dirty="0">
                    <a:latin typeface="Golos Text" panose="020B0604020202020204" charset="0"/>
                    <a:ea typeface="Arial" panose="020B0604020202020204" pitchFamily="34" charset="0"/>
                    <a:cs typeface="Golos Text" panose="020B0604020202020204" charset="0"/>
                  </a:rPr>
                  <a:t> </a:t>
                </a:r>
                <a:r>
                  <a:rPr lang="en-US" sz="1200" b="0" i="0" dirty="0">
                    <a:solidFill>
                      <a:srgbClr val="000000"/>
                    </a:solidFill>
                    <a:effectLst/>
                    <a:latin typeface="Golos Text" panose="020B0604020202020204" charset="0"/>
                    <a:ea typeface="Arial" panose="020B0604020202020204" pitchFamily="34" charset="0"/>
                    <a:cs typeface="Golos Text" panose="020B0604020202020204" charset="0"/>
                  </a:rPr>
                  <a:t>The bounding box is represented by the coordinates of its two corners: </a:t>
                </a:r>
                <a:endParaRPr lang="en-US" sz="1200" b="0" i="1" dirty="0">
                  <a:solidFill>
                    <a:srgbClr val="000000"/>
                  </a:solidFill>
                  <a:effectLst/>
                  <a:latin typeface="Golos Text" panose="020B0604020202020204" charset="0"/>
                  <a:ea typeface="Arial" panose="020B0604020202020204" pitchFamily="34" charset="0"/>
                  <a:cs typeface="Golos Text" panose="020B0604020202020204" charset="0"/>
                </a:endParaRPr>
              </a:p>
              <a:p>
                <a:pPr marR="0" algn="l" rtl="0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Golos Text" panose="020B060402020202020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Golos Text" panose="020B0604020202020204" charset="0"/>
                        </a:rPr>
                        <m:t>=[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Golos Text" panose="020B0604020202020204" charset="0"/>
                        </a:rPr>
                        <m:t>,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Golos Text" panose="020B0604020202020204" charset="0"/>
                        </a:rPr>
                        <m:t>,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Golos Text" panose="020B0604020202020204" charset="0"/>
                        </a:rPr>
                        <m:t>,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Golos Text" panose="020B0604020202020204" charset="0"/>
                        </a:rPr>
                        <m:t>]</m:t>
                      </m:r>
                    </m:oMath>
                  </m:oMathPara>
                </a14:m>
                <a:endParaRPr lang="en-US" sz="1200" b="0" i="0" dirty="0">
                  <a:solidFill>
                    <a:srgbClr val="000000"/>
                  </a:solidFill>
                  <a:effectLst/>
                  <a:latin typeface="Golos Text" panose="020B0604020202020204" charset="0"/>
                  <a:ea typeface="Arial" panose="020B0604020202020204" pitchFamily="34" charset="0"/>
                  <a:cs typeface="Golos Text" panose="020B0604020202020204" charset="0"/>
                </a:endParaRPr>
              </a:p>
            </p:txBody>
          </p:sp>
        </mc:Choice>
        <mc:Fallback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FBA71D29-162D-089F-CF85-80CC61A16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8" y="2368918"/>
                <a:ext cx="4100286" cy="746358"/>
              </a:xfrm>
              <a:prstGeom prst="rect">
                <a:avLst/>
              </a:prstGeom>
              <a:blipFill>
                <a:blip r:embed="rId4"/>
                <a:stretch>
                  <a:fillRect t="-820" b="-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DFEC8385-6D5E-6BB4-13A6-245E4A486F4D}"/>
                  </a:ext>
                </a:extLst>
              </p:cNvPr>
              <p:cNvSpPr txBox="1"/>
              <p:nvPr/>
            </p:nvSpPr>
            <p:spPr>
              <a:xfrm>
                <a:off x="261258" y="5594350"/>
                <a:ext cx="4100286" cy="1554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3464" indent="-283464">
                  <a:spcAft>
                    <a:spcPts val="600"/>
                  </a:spcAft>
                  <a:buSzPts val="1250"/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latin typeface="Golos Text" panose="020B0604020202020204" charset="0"/>
                    <a:ea typeface="Arial" panose="020B0604020202020204" pitchFamily="34" charset="0"/>
                    <a:cs typeface="Golos Text" panose="020B0604020202020204" charset="0"/>
                  </a:rPr>
                  <a:t>T</a:t>
                </a:r>
                <a:r>
                  <a:rPr lang="en-US" sz="1200" b="1" i="0" dirty="0">
                    <a:solidFill>
                      <a:srgbClr val="000000"/>
                    </a:solidFill>
                    <a:effectLst/>
                    <a:latin typeface="Golos Text" panose="020B0604020202020204" charset="0"/>
                    <a:ea typeface="Arial" panose="020B0604020202020204" pitchFamily="34" charset="0"/>
                    <a:cs typeface="Golos Text" panose="020B0604020202020204" charset="0"/>
                  </a:rPr>
                  <a:t>ransformation actions</a:t>
                </a:r>
                <a:r>
                  <a:rPr lang="en-US" sz="1200" b="0" i="0" dirty="0">
                    <a:solidFill>
                      <a:srgbClr val="000000"/>
                    </a:solidFill>
                    <a:effectLst/>
                    <a:latin typeface="Golos Text" panose="020B0604020202020204" charset="0"/>
                    <a:ea typeface="Arial" panose="020B0604020202020204" pitchFamily="34" charset="0"/>
                    <a:cs typeface="Golos Text" panose="020B0604020202020204" charset="0"/>
                  </a:rPr>
                  <a:t> make a discrete change to the box by a factor relative to its current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1200" dirty="0">
                    <a:latin typeface="Golos Text" panose="020B0604020202020204" charset="0"/>
                    <a:ea typeface="Arial" panose="020B0604020202020204" pitchFamily="34" charset="0"/>
                    <a:cs typeface="Golos Text" panose="020B0604020202020204" charset="0"/>
                  </a:rPr>
                  <a:t>(factor of the box's width)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200" dirty="0">
                    <a:latin typeface="Golos Text" panose="020B0604020202020204" charset="0"/>
                    <a:ea typeface="Arial" panose="020B0604020202020204" pitchFamily="34" charset="0"/>
                    <a:cs typeface="Golos Text" panose="020B0604020202020204" charset="0"/>
                  </a:rPr>
                  <a:t>(factor of the box’s height): </a:t>
                </a:r>
                <a:endParaRPr lang="en-US" sz="1200" dirty="0">
                  <a:effectLst/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R="0" algn="l" rtl="0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m:t>𝑤</m:t>
                          </m:r>
                        </m:sub>
                      </m:sSub>
                      <m:r>
                        <a:rPr lang="en-US" sz="12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2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m:t>𝛼</m:t>
                      </m:r>
                      <m:r>
                        <a:rPr lang="en-US" sz="12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m:t>∗</m:t>
                      </m:r>
                      <m:d>
                        <m:dPr>
                          <m:ctrlP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dirty="0">
                  <a:effectLst/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R="0" algn="l" rtl="0">
                  <a:spcBef>
                    <a:spcPts val="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r>
                        <a:rPr lang="en-US" sz="12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2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m:t>𝛼</m:t>
                      </m:r>
                      <m:r>
                        <a:rPr lang="en-US" sz="12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m:t>∗(</m:t>
                      </m:r>
                      <m:sSub>
                        <m:sSubPr>
                          <m:ctrlP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effectLst/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R="0" algn="l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dirty="0">
                    <a:latin typeface="Golos Text" panose="020B0604020202020204" charset="0"/>
                    <a:cs typeface="Golos Text" panose="020B0604020202020204" charset="0"/>
                  </a:rPr>
                  <a:t>*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𝛼</m:t>
                    </m:r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0</m:t>
                    </m:r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.</m:t>
                    </m:r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2</m:t>
                    </m:r>
                  </m:oMath>
                </a14:m>
                <a:endParaRPr lang="en-US" sz="1250" dirty="0">
                  <a:effectLst/>
                  <a:latin typeface="Golos Text" panose="020B0604020202020204" charset="0"/>
                  <a:cs typeface="Golos Text" panose="020B0604020202020204" charset="0"/>
                </a:endParaRPr>
              </a:p>
            </p:txBody>
          </p:sp>
        </mc:Choice>
        <mc:Fallback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DFEC8385-6D5E-6BB4-13A6-245E4A486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8" y="5594350"/>
                <a:ext cx="4100286" cy="1554272"/>
              </a:xfrm>
              <a:prstGeom prst="rect">
                <a:avLst/>
              </a:prstGeom>
              <a:blipFill>
                <a:blip r:embed="rId5"/>
                <a:stretch>
                  <a:fillRect l="-149" t="-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96365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382;p38">
            <a:extLst>
              <a:ext uri="{FF2B5EF4-FFF2-40B4-BE49-F238E27FC236}">
                <a16:creationId xmlns:a16="http://schemas.microsoft.com/office/drawing/2014/main" id="{768579D3-0B6F-B2F0-1FA7-5B6257D7CAC6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82;p38">
            <a:extLst>
              <a:ext uri="{FF2B5EF4-FFF2-40B4-BE49-F238E27FC236}">
                <a16:creationId xmlns:a16="http://schemas.microsoft.com/office/drawing/2014/main" id="{E5BC75EB-E0DD-B668-DF7E-270752D3ABF4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82;p38">
            <a:extLst>
              <a:ext uri="{FF2B5EF4-FFF2-40B4-BE49-F238E27FC236}">
                <a16:creationId xmlns:a16="http://schemas.microsoft.com/office/drawing/2014/main" id="{FF53A791-239E-68EC-D743-8587FC61BE48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B279D63F-454A-32AE-C696-E3CA6A527426}"/>
              </a:ext>
            </a:extLst>
          </p:cNvPr>
          <p:cNvSpPr txBox="1"/>
          <p:nvPr/>
        </p:nvSpPr>
        <p:spPr>
          <a:xfrm>
            <a:off x="400304" y="316453"/>
            <a:ext cx="35811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Golos Text Medium" panose="020B0604020202020204" charset="0"/>
                <a:cs typeface="Golos Text Medium" panose="020B0604020202020204" charset="0"/>
              </a:rPr>
              <a:t>Bounding Box</a:t>
            </a:r>
          </a:p>
        </p:txBody>
      </p:sp>
      <p:pic>
        <p:nvPicPr>
          <p:cNvPr id="5" name="Hình ảnh 4" descr="Ảnh có chứa ngoài trời, bảng chỉ dẫn, văn bản, Biển báo giao thông&#10;&#10;Mô tả được tạo tự động">
            <a:extLst>
              <a:ext uri="{FF2B5EF4-FFF2-40B4-BE49-F238E27FC236}">
                <a16:creationId xmlns:a16="http://schemas.microsoft.com/office/drawing/2014/main" id="{9ECF500D-D024-BA90-B0D8-4C2848B2D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775" y="1335314"/>
            <a:ext cx="3751421" cy="281356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FBA71D29-162D-089F-CF85-80CC61A16467}"/>
                  </a:ext>
                </a:extLst>
              </p:cNvPr>
              <p:cNvSpPr txBox="1"/>
              <p:nvPr/>
            </p:nvSpPr>
            <p:spPr>
              <a:xfrm>
                <a:off x="261258" y="1589979"/>
                <a:ext cx="4100286" cy="7463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indent="-285750" algn="l" rtl="0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1" i="0" dirty="0">
                    <a:solidFill>
                      <a:srgbClr val="000000"/>
                    </a:solidFill>
                    <a:effectLst/>
                    <a:latin typeface="Golos Text" panose="020B0604020202020204" charset="0"/>
                    <a:ea typeface="Arial" panose="020B0604020202020204" pitchFamily="34" charset="0"/>
                    <a:cs typeface="Golos Text" panose="020B0604020202020204" charset="0"/>
                  </a:rPr>
                  <a:t>Definition</a:t>
                </a:r>
                <a:r>
                  <a:rPr lang="en-US" sz="1200" i="0" dirty="0">
                    <a:solidFill>
                      <a:srgbClr val="000000"/>
                    </a:solidFill>
                    <a:effectLst/>
                    <a:latin typeface="Golos Text" panose="020B0604020202020204" charset="0"/>
                    <a:ea typeface="Arial" panose="020B0604020202020204" pitchFamily="34" charset="0"/>
                    <a:cs typeface="Golos Text" panose="020B0604020202020204" charset="0"/>
                  </a:rPr>
                  <a:t>:</a:t>
                </a:r>
                <a:r>
                  <a:rPr lang="en-US" sz="1200" b="1" dirty="0">
                    <a:latin typeface="Golos Text" panose="020B0604020202020204" charset="0"/>
                    <a:ea typeface="Arial" panose="020B0604020202020204" pitchFamily="34" charset="0"/>
                    <a:cs typeface="Golos Text" panose="020B0604020202020204" charset="0"/>
                  </a:rPr>
                  <a:t> </a:t>
                </a:r>
                <a:r>
                  <a:rPr lang="en-US" sz="1200" b="0" i="0" dirty="0">
                    <a:solidFill>
                      <a:srgbClr val="000000"/>
                    </a:solidFill>
                    <a:effectLst/>
                    <a:latin typeface="Golos Text" panose="020B0604020202020204" charset="0"/>
                    <a:ea typeface="Arial" panose="020B0604020202020204" pitchFamily="34" charset="0"/>
                    <a:cs typeface="Golos Text" panose="020B0604020202020204" charset="0"/>
                  </a:rPr>
                  <a:t>The bounding box is represented by the coordinates of its two corners: </a:t>
                </a:r>
                <a:endParaRPr lang="en-US" sz="1200" b="0" i="1" dirty="0">
                  <a:solidFill>
                    <a:srgbClr val="000000"/>
                  </a:solidFill>
                  <a:effectLst/>
                  <a:latin typeface="Golos Text" panose="020B0604020202020204" charset="0"/>
                  <a:ea typeface="Arial" panose="020B0604020202020204" pitchFamily="34" charset="0"/>
                  <a:cs typeface="Golos Text" panose="020B0604020202020204" charset="0"/>
                </a:endParaRPr>
              </a:p>
              <a:p>
                <a:pPr marR="0" algn="l" rtl="0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Golos Text" panose="020B060402020202020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Golos Text" panose="020B0604020202020204" charset="0"/>
                        </a:rPr>
                        <m:t>=[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Golos Text" panose="020B0604020202020204" charset="0"/>
                        </a:rPr>
                        <m:t>,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Golos Text" panose="020B0604020202020204" charset="0"/>
                        </a:rPr>
                        <m:t>,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Golos Text" panose="020B0604020202020204" charset="0"/>
                        </a:rPr>
                        <m:t>,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Golos Text" panose="020B0604020202020204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Golos Text" panose="020B0604020202020204" charset="0"/>
                        </a:rPr>
                        <m:t>]</m:t>
                      </m:r>
                    </m:oMath>
                  </m:oMathPara>
                </a14:m>
                <a:endParaRPr lang="en-US" sz="1200" b="0" i="0" dirty="0">
                  <a:solidFill>
                    <a:srgbClr val="000000"/>
                  </a:solidFill>
                  <a:effectLst/>
                  <a:latin typeface="Golos Text" panose="020B0604020202020204" charset="0"/>
                  <a:ea typeface="Arial" panose="020B0604020202020204" pitchFamily="34" charset="0"/>
                  <a:cs typeface="Golos Text" panose="020B0604020202020204" charset="0"/>
                </a:endParaRPr>
              </a:p>
            </p:txBody>
          </p:sp>
        </mc:Choice>
        <mc:Fallback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FBA71D29-162D-089F-CF85-80CC61A16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8" y="1589979"/>
                <a:ext cx="4100286" cy="746358"/>
              </a:xfrm>
              <a:prstGeom prst="rect">
                <a:avLst/>
              </a:prstGeom>
              <a:blipFill>
                <a:blip r:embed="rId4"/>
                <a:stretch>
                  <a:fillRect t="-820" b="-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DFEC8385-6D5E-6BB4-13A6-245E4A486F4D}"/>
                  </a:ext>
                </a:extLst>
              </p:cNvPr>
              <p:cNvSpPr txBox="1"/>
              <p:nvPr/>
            </p:nvSpPr>
            <p:spPr>
              <a:xfrm>
                <a:off x="261258" y="2336337"/>
                <a:ext cx="4100286" cy="1554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3464" indent="-283464">
                  <a:spcAft>
                    <a:spcPts val="600"/>
                  </a:spcAft>
                  <a:buSzPts val="1250"/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latin typeface="Golos Text" panose="020B0604020202020204" charset="0"/>
                    <a:ea typeface="Arial" panose="020B0604020202020204" pitchFamily="34" charset="0"/>
                    <a:cs typeface="Golos Text" panose="020B0604020202020204" charset="0"/>
                  </a:rPr>
                  <a:t>T</a:t>
                </a:r>
                <a:r>
                  <a:rPr lang="en-US" sz="1200" b="1" i="0" dirty="0">
                    <a:solidFill>
                      <a:srgbClr val="000000"/>
                    </a:solidFill>
                    <a:effectLst/>
                    <a:latin typeface="Golos Text" panose="020B0604020202020204" charset="0"/>
                    <a:ea typeface="Arial" panose="020B0604020202020204" pitchFamily="34" charset="0"/>
                    <a:cs typeface="Golos Text" panose="020B0604020202020204" charset="0"/>
                  </a:rPr>
                  <a:t>ransformation actions</a:t>
                </a:r>
                <a:r>
                  <a:rPr lang="en-US" sz="1200" b="0" i="0" dirty="0">
                    <a:solidFill>
                      <a:srgbClr val="000000"/>
                    </a:solidFill>
                    <a:effectLst/>
                    <a:latin typeface="Golos Text" panose="020B0604020202020204" charset="0"/>
                    <a:ea typeface="Arial" panose="020B0604020202020204" pitchFamily="34" charset="0"/>
                    <a:cs typeface="Golos Text" panose="020B0604020202020204" charset="0"/>
                  </a:rPr>
                  <a:t> make a discrete change to the box by a factor relative to its current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1200" dirty="0">
                    <a:latin typeface="Golos Text" panose="020B0604020202020204" charset="0"/>
                    <a:ea typeface="Arial" panose="020B0604020202020204" pitchFamily="34" charset="0"/>
                    <a:cs typeface="Golos Text" panose="020B0604020202020204" charset="0"/>
                  </a:rPr>
                  <a:t>(factor of the box's width)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200" dirty="0">
                    <a:latin typeface="Golos Text" panose="020B0604020202020204" charset="0"/>
                    <a:ea typeface="Arial" panose="020B0604020202020204" pitchFamily="34" charset="0"/>
                    <a:cs typeface="Golos Text" panose="020B0604020202020204" charset="0"/>
                  </a:rPr>
                  <a:t>(factor of the box’s height): </a:t>
                </a:r>
                <a:endParaRPr lang="en-US" sz="1200" dirty="0">
                  <a:effectLst/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R="0" algn="l" rtl="0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m:t>𝑤</m:t>
                          </m:r>
                        </m:sub>
                      </m:sSub>
                      <m:r>
                        <a:rPr lang="en-US" sz="12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2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m:t>𝛼</m:t>
                      </m:r>
                      <m:r>
                        <a:rPr lang="en-US" sz="12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m:t>∗</m:t>
                      </m:r>
                      <m:d>
                        <m:dPr>
                          <m:ctrlP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dirty="0">
                  <a:effectLst/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R="0" algn="l" rtl="0">
                  <a:spcBef>
                    <a:spcPts val="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r>
                        <a:rPr lang="en-US" sz="12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2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m:t>𝛼</m:t>
                      </m:r>
                      <m:r>
                        <a:rPr lang="en-US" sz="12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m:t>∗(</m:t>
                      </m:r>
                      <m:sSub>
                        <m:sSubPr>
                          <m:ctrlP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effectLst/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R="0" algn="l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dirty="0">
                    <a:latin typeface="Golos Text" panose="020B0604020202020204" charset="0"/>
                    <a:cs typeface="Golos Text" panose="020B0604020202020204" charset="0"/>
                  </a:rPr>
                  <a:t>*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𝛼</m:t>
                    </m:r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0</m:t>
                    </m:r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.</m:t>
                    </m:r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2</m:t>
                    </m:r>
                  </m:oMath>
                </a14:m>
                <a:endParaRPr lang="en-US" sz="1250" dirty="0">
                  <a:effectLst/>
                  <a:latin typeface="Golos Text" panose="020B0604020202020204" charset="0"/>
                  <a:cs typeface="Golos Text" panose="020B0604020202020204" charset="0"/>
                </a:endParaRPr>
              </a:p>
            </p:txBody>
          </p:sp>
        </mc:Choice>
        <mc:Fallback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DFEC8385-6D5E-6BB4-13A6-245E4A486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8" y="2336337"/>
                <a:ext cx="4100286" cy="1554272"/>
              </a:xfrm>
              <a:prstGeom prst="rect">
                <a:avLst/>
              </a:prstGeom>
              <a:blipFill>
                <a:blip r:embed="rId5"/>
                <a:stretch>
                  <a:fillRect l="-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462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69;p29">
            <a:extLst>
              <a:ext uri="{FF2B5EF4-FFF2-40B4-BE49-F238E27FC236}">
                <a16:creationId xmlns:a16="http://schemas.microsoft.com/office/drawing/2014/main" id="{33F4793A-F5EA-8E7D-7566-D44CCA48A1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249" y="213782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Modeling the Project</a:t>
            </a:r>
          </a:p>
        </p:txBody>
      </p:sp>
      <p:sp>
        <p:nvSpPr>
          <p:cNvPr id="15" name="Google Shape;382;p38">
            <a:extLst>
              <a:ext uri="{FF2B5EF4-FFF2-40B4-BE49-F238E27FC236}">
                <a16:creationId xmlns:a16="http://schemas.microsoft.com/office/drawing/2014/main" id="{768579D3-0B6F-B2F0-1FA7-5B6257D7CAC6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82;p38">
            <a:extLst>
              <a:ext uri="{FF2B5EF4-FFF2-40B4-BE49-F238E27FC236}">
                <a16:creationId xmlns:a16="http://schemas.microsoft.com/office/drawing/2014/main" id="{E5BC75EB-E0DD-B668-DF7E-270752D3ABF4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82;p38">
            <a:extLst>
              <a:ext uri="{FF2B5EF4-FFF2-40B4-BE49-F238E27FC236}">
                <a16:creationId xmlns:a16="http://schemas.microsoft.com/office/drawing/2014/main" id="{FF53A791-239E-68EC-D743-8587FC61BE48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B279D63F-454A-32AE-C696-E3CA6A527426}"/>
              </a:ext>
            </a:extLst>
          </p:cNvPr>
          <p:cNvSpPr txBox="1"/>
          <p:nvPr/>
        </p:nvSpPr>
        <p:spPr>
          <a:xfrm>
            <a:off x="410249" y="962355"/>
            <a:ext cx="9382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Actions</a:t>
            </a:r>
          </a:p>
        </p:txBody>
      </p:sp>
      <p:pic>
        <p:nvPicPr>
          <p:cNvPr id="14" name="Hình ảnh 13" descr="Ảnh có chứa ảnh chụp màn hình, Phông chữ, văn bản, thiết kế&#10;&#10;Mô tả được tạo tự động">
            <a:extLst>
              <a:ext uri="{FF2B5EF4-FFF2-40B4-BE49-F238E27FC236}">
                <a16:creationId xmlns:a16="http://schemas.microsoft.com/office/drawing/2014/main" id="{887BA07E-3F0F-9C82-5F99-FB5CCFD38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266" y="2285496"/>
            <a:ext cx="2629267" cy="905001"/>
          </a:xfrm>
          <a:prstGeom prst="rect">
            <a:avLst/>
          </a:prstGeom>
        </p:spPr>
      </p:pic>
      <p:pic>
        <p:nvPicPr>
          <p:cNvPr id="20" name="Hình ảnh 19" descr="Ảnh có chứa ảnh chụp màn hình, văn bản, thiết kế&#10;&#10;Mô tả được tạo tự động">
            <a:extLst>
              <a:ext uri="{FF2B5EF4-FFF2-40B4-BE49-F238E27FC236}">
                <a16:creationId xmlns:a16="http://schemas.microsoft.com/office/drawing/2014/main" id="{ED682376-ED4E-D663-32EC-96DE28713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610" y="2285495"/>
            <a:ext cx="2829320" cy="905001"/>
          </a:xfrm>
          <a:prstGeom prst="rect">
            <a:avLst/>
          </a:prstGeom>
        </p:spPr>
      </p:pic>
      <p:pic>
        <p:nvPicPr>
          <p:cNvPr id="22" name="Hình ảnh 21" descr="Ảnh có chứa vòng tròn, ảnh chụp màn hình&#10;&#10;Mô tả được tạo tự động">
            <a:extLst>
              <a:ext uri="{FF2B5EF4-FFF2-40B4-BE49-F238E27FC236}">
                <a16:creationId xmlns:a16="http://schemas.microsoft.com/office/drawing/2014/main" id="{C165C1F9-56CC-AFFE-5808-4E4641D130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930" y="2285497"/>
            <a:ext cx="600159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0036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382;p38">
            <a:extLst>
              <a:ext uri="{FF2B5EF4-FFF2-40B4-BE49-F238E27FC236}">
                <a16:creationId xmlns:a16="http://schemas.microsoft.com/office/drawing/2014/main" id="{768579D3-0B6F-B2F0-1FA7-5B6257D7CAC6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82;p38">
            <a:extLst>
              <a:ext uri="{FF2B5EF4-FFF2-40B4-BE49-F238E27FC236}">
                <a16:creationId xmlns:a16="http://schemas.microsoft.com/office/drawing/2014/main" id="{E5BC75EB-E0DD-B668-DF7E-270752D3ABF4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82;p38">
            <a:extLst>
              <a:ext uri="{FF2B5EF4-FFF2-40B4-BE49-F238E27FC236}">
                <a16:creationId xmlns:a16="http://schemas.microsoft.com/office/drawing/2014/main" id="{FF53A791-239E-68EC-D743-8587FC61BE48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253B8121-AA26-AE52-C0C0-5A55576BB425}"/>
              </a:ext>
            </a:extLst>
          </p:cNvPr>
          <p:cNvSpPr txBox="1"/>
          <p:nvPr/>
        </p:nvSpPr>
        <p:spPr>
          <a:xfrm>
            <a:off x="4191000" y="1786597"/>
            <a:ext cx="4415536" cy="1570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kern="0" dirty="0">
                <a:effectLst/>
                <a:latin typeface="Golos Text" panose="020B0604020202020204" charset="0"/>
                <a:ea typeface="Times New Roman" panose="02020603050405020304" pitchFamily="18" charset="0"/>
                <a:cs typeface="Golos Text" panose="020B0604020202020204" charset="0"/>
              </a:rPr>
              <a:t>Horizontal moves: </a:t>
            </a:r>
            <a:endParaRPr lang="en-US" sz="1200" kern="100" dirty="0">
              <a:effectLst/>
              <a:latin typeface="Golos Text" panose="020B0604020202020204" charset="0"/>
              <a:ea typeface="Aptos" panose="020B0004020202020204" pitchFamily="34" charset="0"/>
              <a:cs typeface="Golos Text" panose="020B060402020202020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Golos Text" panose="020B0604020202020204" charset="0"/>
                <a:ea typeface="Times New Roman" panose="02020603050405020304" pitchFamily="18" charset="0"/>
                <a:cs typeface="Golos Text" panose="020B0604020202020204" charset="0"/>
              </a:rPr>
              <a:t>Right: Move the box horizontally to the right.</a:t>
            </a:r>
            <a:endParaRPr lang="en-US" sz="1200" kern="100" dirty="0">
              <a:effectLst/>
              <a:latin typeface="Golos Text" panose="020B0604020202020204" charset="0"/>
              <a:ea typeface="Aptos" panose="020B0004020202020204" pitchFamily="34" charset="0"/>
              <a:cs typeface="Golos Text" panose="020B060402020202020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Golos Text" panose="020B0604020202020204" charset="0"/>
                <a:ea typeface="Times New Roman" panose="02020603050405020304" pitchFamily="18" charset="0"/>
                <a:cs typeface="Golos Text" panose="020B0604020202020204" charset="0"/>
              </a:rPr>
              <a:t>Left: Move the box horizontally to the left.</a:t>
            </a:r>
            <a:endParaRPr lang="en-US" sz="1200" kern="100" dirty="0">
              <a:effectLst/>
              <a:latin typeface="Golos Text" panose="020B0604020202020204" charset="0"/>
              <a:ea typeface="Aptos" panose="020B0004020202020204" pitchFamily="34" charset="0"/>
              <a:cs typeface="Golos Text" panose="020B060402020202020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kern="0" dirty="0">
                <a:effectLst/>
                <a:latin typeface="Golos Text" panose="020B0604020202020204" charset="0"/>
                <a:ea typeface="Times New Roman" panose="02020603050405020304" pitchFamily="18" charset="0"/>
                <a:cs typeface="Golos Text" panose="020B0604020202020204" charset="0"/>
              </a:rPr>
              <a:t>Vertical moves: </a:t>
            </a:r>
            <a:endParaRPr lang="en-US" sz="1200" kern="100" dirty="0">
              <a:effectLst/>
              <a:latin typeface="Golos Text" panose="020B0604020202020204" charset="0"/>
              <a:ea typeface="Aptos" panose="020B0004020202020204" pitchFamily="34" charset="0"/>
              <a:cs typeface="Golos Text" panose="020B060402020202020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Golos Text" panose="020B0604020202020204" charset="0"/>
                <a:ea typeface="Times New Roman" panose="02020603050405020304" pitchFamily="18" charset="0"/>
                <a:cs typeface="Golos Text" panose="020B0604020202020204" charset="0"/>
              </a:rPr>
              <a:t>Up: Move the box vertically upward.</a:t>
            </a:r>
            <a:endParaRPr lang="en-US" sz="1200" kern="100" dirty="0">
              <a:effectLst/>
              <a:latin typeface="Golos Text" panose="020B0604020202020204" charset="0"/>
              <a:ea typeface="Aptos" panose="020B0004020202020204" pitchFamily="34" charset="0"/>
              <a:cs typeface="Golos Text" panose="020B060402020202020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Golos Text" panose="020B0604020202020204" charset="0"/>
                <a:ea typeface="Times New Roman" panose="02020603050405020304" pitchFamily="18" charset="0"/>
                <a:cs typeface="Golos Text" panose="020B0604020202020204" charset="0"/>
              </a:rPr>
              <a:t>Down: Move the box vertically downward.</a:t>
            </a:r>
            <a:endParaRPr lang="en-US" sz="1200" kern="100" dirty="0">
              <a:effectLst/>
              <a:latin typeface="Golos Text" panose="020B0604020202020204" charset="0"/>
              <a:ea typeface="Aptos" panose="020B0004020202020204" pitchFamily="34" charset="0"/>
              <a:cs typeface="Golos Text" panose="020B0604020202020204" charset="0"/>
            </a:endParaRPr>
          </a:p>
        </p:txBody>
      </p:sp>
      <p:pic>
        <p:nvPicPr>
          <p:cNvPr id="9" name="Hình ảnh 8" descr="Ảnh có chứa ảnh chụp màn hình, Phông chữ, văn bản, thiết kế&#10;&#10;Mô tả được tạo tự động">
            <a:extLst>
              <a:ext uri="{FF2B5EF4-FFF2-40B4-BE49-F238E27FC236}">
                <a16:creationId xmlns:a16="http://schemas.microsoft.com/office/drawing/2014/main" id="{DC92BB08-E8AD-0D37-C276-6A0FDC287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94" y="2119248"/>
            <a:ext cx="2629267" cy="905001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ECCB568D-8839-3D78-2E10-4114CF902669}"/>
              </a:ext>
            </a:extLst>
          </p:cNvPr>
          <p:cNvSpPr txBox="1"/>
          <p:nvPr/>
        </p:nvSpPr>
        <p:spPr>
          <a:xfrm>
            <a:off x="519106" y="316453"/>
            <a:ext cx="15128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Golos Text Medium" panose="020B0604020202020204" charset="0"/>
                <a:cs typeface="Golos Text Medium" panose="020B0604020202020204" charset="0"/>
              </a:rPr>
              <a:t>Actions</a:t>
            </a:r>
          </a:p>
        </p:txBody>
      </p:sp>
    </p:spTree>
    <p:extLst>
      <p:ext uri="{BB962C8B-B14F-4D97-AF65-F5344CB8AC3E}">
        <p14:creationId xmlns:p14="http://schemas.microsoft.com/office/powerpoint/2010/main" val="154520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253B8121-AA26-AE52-C0C0-5A55576BB425}"/>
              </a:ext>
            </a:extLst>
          </p:cNvPr>
          <p:cNvSpPr txBox="1"/>
          <p:nvPr/>
        </p:nvSpPr>
        <p:spPr>
          <a:xfrm>
            <a:off x="4187418" y="1786598"/>
            <a:ext cx="4419118" cy="1965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kern="0" dirty="0">
                <a:effectLst/>
                <a:latin typeface="Golos Text" panose="020B0604020202020204" charset="0"/>
                <a:ea typeface="Times New Roman" panose="02020603050405020304" pitchFamily="18" charset="0"/>
                <a:cs typeface="Golos Text" panose="020B0604020202020204" charset="0"/>
              </a:rPr>
              <a:t>Scale changes: </a:t>
            </a:r>
            <a:endParaRPr lang="en-US" sz="1200" kern="100" dirty="0">
              <a:effectLst/>
              <a:latin typeface="Golos Text" panose="020B0604020202020204" charset="0"/>
              <a:ea typeface="Aptos" panose="020B0004020202020204" pitchFamily="34" charset="0"/>
              <a:cs typeface="Golos Text" panose="020B060402020202020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Golos Text" panose="020B0604020202020204" charset="0"/>
                <a:ea typeface="Times New Roman" panose="02020603050405020304" pitchFamily="18" charset="0"/>
                <a:cs typeface="Golos Text" panose="020B0604020202020204" charset="0"/>
              </a:rPr>
              <a:t>Bigger: Increase the size or scale of the box.</a:t>
            </a:r>
            <a:endParaRPr lang="en-US" sz="1200" kern="100" dirty="0">
              <a:effectLst/>
              <a:latin typeface="Golos Text" panose="020B0604020202020204" charset="0"/>
              <a:ea typeface="Aptos" panose="020B0004020202020204" pitchFamily="34" charset="0"/>
              <a:cs typeface="Golos Text" panose="020B060402020202020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Golos Text" panose="020B0604020202020204" charset="0"/>
                <a:ea typeface="Times New Roman" panose="02020603050405020304" pitchFamily="18" charset="0"/>
                <a:cs typeface="Golos Text" panose="020B0604020202020204" charset="0"/>
              </a:rPr>
              <a:t>Smaller: Decrease the size or scale of the box.</a:t>
            </a:r>
            <a:endParaRPr lang="en-US" sz="1200" kern="100" dirty="0">
              <a:effectLst/>
              <a:latin typeface="Golos Text" panose="020B0604020202020204" charset="0"/>
              <a:ea typeface="Aptos" panose="020B0004020202020204" pitchFamily="34" charset="0"/>
              <a:cs typeface="Golos Text" panose="020B060402020202020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kern="0" dirty="0">
                <a:effectLst/>
                <a:latin typeface="Golos Text" panose="020B0604020202020204" charset="0"/>
                <a:ea typeface="Times New Roman" panose="02020603050405020304" pitchFamily="18" charset="0"/>
                <a:cs typeface="Golos Text" panose="020B0604020202020204" charset="0"/>
              </a:rPr>
              <a:t>Aspect ratio changes: </a:t>
            </a:r>
            <a:endParaRPr lang="en-US" sz="1200" kern="100" dirty="0">
              <a:effectLst/>
              <a:latin typeface="Golos Text" panose="020B0604020202020204" charset="0"/>
              <a:ea typeface="Aptos" panose="020B0004020202020204" pitchFamily="34" charset="0"/>
              <a:cs typeface="Golos Text" panose="020B060402020202020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Golos Text" panose="020B0604020202020204" charset="0"/>
                <a:ea typeface="Times New Roman" panose="02020603050405020304" pitchFamily="18" charset="0"/>
                <a:cs typeface="Golos Text" panose="020B0604020202020204" charset="0"/>
              </a:rPr>
              <a:t>Fatter: Increase the width-to-height ratio (make the box wider).</a:t>
            </a:r>
            <a:endParaRPr lang="en-US" sz="1200" kern="100" dirty="0">
              <a:effectLst/>
              <a:latin typeface="Golos Text" panose="020B0604020202020204" charset="0"/>
              <a:ea typeface="Aptos" panose="020B0004020202020204" pitchFamily="34" charset="0"/>
              <a:cs typeface="Golos Text" panose="020B060402020202020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Golos Text" panose="020B0604020202020204" charset="0"/>
                <a:ea typeface="Times New Roman" panose="02020603050405020304" pitchFamily="18" charset="0"/>
                <a:cs typeface="Golos Text" panose="020B0604020202020204" charset="0"/>
              </a:rPr>
              <a:t>Taller: Decrease the width-to-height ratio (make the box taller).</a:t>
            </a:r>
            <a:endParaRPr lang="en-US" sz="1200" kern="100" dirty="0">
              <a:effectLst/>
              <a:latin typeface="Golos Text" panose="020B0604020202020204" charset="0"/>
              <a:ea typeface="Aptos" panose="020B0004020202020204" pitchFamily="34" charset="0"/>
              <a:cs typeface="Golos Text" panose="020B0604020202020204" charset="0"/>
            </a:endParaRPr>
          </a:p>
        </p:txBody>
      </p:sp>
      <p:sp>
        <p:nvSpPr>
          <p:cNvPr id="15" name="Google Shape;382;p38">
            <a:extLst>
              <a:ext uri="{FF2B5EF4-FFF2-40B4-BE49-F238E27FC236}">
                <a16:creationId xmlns:a16="http://schemas.microsoft.com/office/drawing/2014/main" id="{768579D3-0B6F-B2F0-1FA7-5B6257D7CAC6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82;p38">
            <a:extLst>
              <a:ext uri="{FF2B5EF4-FFF2-40B4-BE49-F238E27FC236}">
                <a16:creationId xmlns:a16="http://schemas.microsoft.com/office/drawing/2014/main" id="{E5BC75EB-E0DD-B668-DF7E-270752D3ABF4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82;p38">
            <a:extLst>
              <a:ext uri="{FF2B5EF4-FFF2-40B4-BE49-F238E27FC236}">
                <a16:creationId xmlns:a16="http://schemas.microsoft.com/office/drawing/2014/main" id="{FF53A791-239E-68EC-D743-8587FC61BE48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Hình ảnh 9" descr="Ảnh có chứa ảnh chụp màn hình, văn bản, thiết kế&#10;&#10;Mô tả được tạo tự động">
            <a:extLst>
              <a:ext uri="{FF2B5EF4-FFF2-40B4-BE49-F238E27FC236}">
                <a16:creationId xmlns:a16="http://schemas.microsoft.com/office/drawing/2014/main" id="{0D57FB80-B82E-D24A-5E47-EA9A35AFB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16" y="2119248"/>
            <a:ext cx="2829320" cy="905001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CB094B51-DEC6-3C7F-CC01-0AC2E4AD7D4F}"/>
              </a:ext>
            </a:extLst>
          </p:cNvPr>
          <p:cNvSpPr txBox="1"/>
          <p:nvPr/>
        </p:nvSpPr>
        <p:spPr>
          <a:xfrm>
            <a:off x="519106" y="316453"/>
            <a:ext cx="15128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Golos Text Medium" panose="020B0604020202020204" charset="0"/>
                <a:cs typeface="Golos Text Medium" panose="020B0604020202020204" charset="0"/>
              </a:rPr>
              <a:t>Actions</a:t>
            </a:r>
          </a:p>
        </p:txBody>
      </p:sp>
    </p:spTree>
    <p:extLst>
      <p:ext uri="{BB962C8B-B14F-4D97-AF65-F5344CB8AC3E}">
        <p14:creationId xmlns:p14="http://schemas.microsoft.com/office/powerpoint/2010/main" val="17777440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382;p38">
            <a:extLst>
              <a:ext uri="{FF2B5EF4-FFF2-40B4-BE49-F238E27FC236}">
                <a16:creationId xmlns:a16="http://schemas.microsoft.com/office/drawing/2014/main" id="{768579D3-0B6F-B2F0-1FA7-5B6257D7CAC6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82;p38">
            <a:extLst>
              <a:ext uri="{FF2B5EF4-FFF2-40B4-BE49-F238E27FC236}">
                <a16:creationId xmlns:a16="http://schemas.microsoft.com/office/drawing/2014/main" id="{E5BC75EB-E0DD-B668-DF7E-270752D3ABF4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82;p38">
            <a:extLst>
              <a:ext uri="{FF2B5EF4-FFF2-40B4-BE49-F238E27FC236}">
                <a16:creationId xmlns:a16="http://schemas.microsoft.com/office/drawing/2014/main" id="{FF53A791-239E-68EC-D743-8587FC61BE48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253B8121-AA26-AE52-C0C0-5A55576BB425}"/>
              </a:ext>
            </a:extLst>
          </p:cNvPr>
          <p:cNvSpPr txBox="1"/>
          <p:nvPr/>
        </p:nvSpPr>
        <p:spPr>
          <a:xfrm>
            <a:off x="4172332" y="2236912"/>
            <a:ext cx="4434204" cy="669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0" dirty="0">
                <a:effectLst/>
                <a:latin typeface="Golos Text" panose="020B0604020202020204" charset="0"/>
                <a:ea typeface="Times New Roman" panose="02020603050405020304" pitchFamily="18" charset="0"/>
                <a:cs typeface="Golos Text" panose="020B0604020202020204" charset="0"/>
              </a:rPr>
              <a:t>Trigger: This terminates the sequence of the current search, and restarts the box in an initial position to begin the search for a new object.</a:t>
            </a:r>
            <a:endParaRPr lang="en-US" sz="1050" dirty="0">
              <a:latin typeface="Golos Text" panose="020B0604020202020204" charset="0"/>
              <a:cs typeface="Golos Text" panose="020B0604020202020204" charset="0"/>
            </a:endParaRPr>
          </a:p>
        </p:txBody>
      </p:sp>
      <p:pic>
        <p:nvPicPr>
          <p:cNvPr id="11" name="Hình ảnh 10" descr="Ảnh có chứa vòng tròn, ảnh chụp màn hình&#10;&#10;Mô tả được tạo tự động">
            <a:extLst>
              <a:ext uri="{FF2B5EF4-FFF2-40B4-BE49-F238E27FC236}">
                <a16:creationId xmlns:a16="http://schemas.microsoft.com/office/drawing/2014/main" id="{30E5A9F1-97AD-172F-E863-AEAB099BF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547" y="2119246"/>
            <a:ext cx="600159" cy="905001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30987203-91DB-DCC7-79AB-0661E9A50160}"/>
              </a:ext>
            </a:extLst>
          </p:cNvPr>
          <p:cNvSpPr txBox="1"/>
          <p:nvPr/>
        </p:nvSpPr>
        <p:spPr>
          <a:xfrm>
            <a:off x="519106" y="316453"/>
            <a:ext cx="15128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Golos Text Medium" panose="020B0604020202020204" charset="0"/>
                <a:cs typeface="Golos Text Medium" panose="020B0604020202020204" charset="0"/>
              </a:rPr>
              <a:t>Actions</a:t>
            </a:r>
          </a:p>
        </p:txBody>
      </p:sp>
    </p:spTree>
    <p:extLst>
      <p:ext uri="{BB962C8B-B14F-4D97-AF65-F5344CB8AC3E}">
        <p14:creationId xmlns:p14="http://schemas.microsoft.com/office/powerpoint/2010/main" val="3846194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382;p38">
            <a:extLst>
              <a:ext uri="{FF2B5EF4-FFF2-40B4-BE49-F238E27FC236}">
                <a16:creationId xmlns:a16="http://schemas.microsoft.com/office/drawing/2014/main" id="{768579D3-0B6F-B2F0-1FA7-5B6257D7CAC6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82;p38">
            <a:extLst>
              <a:ext uri="{FF2B5EF4-FFF2-40B4-BE49-F238E27FC236}">
                <a16:creationId xmlns:a16="http://schemas.microsoft.com/office/drawing/2014/main" id="{E5BC75EB-E0DD-B668-DF7E-270752D3ABF4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82;p38">
            <a:extLst>
              <a:ext uri="{FF2B5EF4-FFF2-40B4-BE49-F238E27FC236}">
                <a16:creationId xmlns:a16="http://schemas.microsoft.com/office/drawing/2014/main" id="{FF53A791-239E-68EC-D743-8587FC61BE48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Hình ảnh 4" descr="Ảnh có chứa ngoài trời, bảng chỉ dẫn, văn bản, Biển báo giao thông&#10;&#10;Mô tả được tạo tự động">
            <a:extLst>
              <a:ext uri="{FF2B5EF4-FFF2-40B4-BE49-F238E27FC236}">
                <a16:creationId xmlns:a16="http://schemas.microsoft.com/office/drawing/2014/main" id="{9ECF500D-D024-BA90-B0D8-4C2848B2D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775" y="1335314"/>
            <a:ext cx="3751421" cy="28135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Hộp Văn bản 2">
                <a:extLst>
                  <a:ext uri="{FF2B5EF4-FFF2-40B4-BE49-F238E27FC236}">
                    <a16:creationId xmlns:a16="http://schemas.microsoft.com/office/drawing/2014/main" id="{02CD360D-D432-F835-C83A-DCCE712F4EFD}"/>
                  </a:ext>
                </a:extLst>
              </p:cNvPr>
              <p:cNvSpPr txBox="1"/>
              <p:nvPr/>
            </p:nvSpPr>
            <p:spPr>
              <a:xfrm>
                <a:off x="717804" y="2117779"/>
                <a:ext cx="3860800" cy="907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 algn="l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latin typeface="Golos Text" panose="020B0604020202020204" charset="0"/>
                    <a:cs typeface="Golos Text" panose="020B0604020202020204" charset="0"/>
                  </a:rPr>
                  <a:t>Move Right</a:t>
                </a:r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:</a:t>
                </a:r>
              </a:p>
              <a:p>
                <a:pPr marL="742950" lvl="1" indent="-28575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′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+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sz="1200" dirty="0"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L="742950" lvl="1" indent="-28575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′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+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sz="1200" dirty="0"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L="742950" lvl="1" indent="-285750" algn="l">
                  <a:spcAft>
                    <a:spcPts val="6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 </m:t>
                    </m:r>
                  </m:oMath>
                </a14:m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 unchanged</a:t>
                </a:r>
              </a:p>
            </p:txBody>
          </p:sp>
        </mc:Choice>
        <mc:Fallback xmlns="">
          <p:sp>
            <p:nvSpPr>
              <p:cNvPr id="3" name="Hộp Văn bản 2">
                <a:extLst>
                  <a:ext uri="{FF2B5EF4-FFF2-40B4-BE49-F238E27FC236}">
                    <a16:creationId xmlns:a16="http://schemas.microsoft.com/office/drawing/2014/main" id="{02CD360D-D432-F835-C83A-DCCE712F4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04" y="2117779"/>
                <a:ext cx="3860800" cy="907941"/>
              </a:xfrm>
              <a:prstGeom prst="rect">
                <a:avLst/>
              </a:prstGeom>
              <a:blipFill>
                <a:blip r:embed="rId4"/>
                <a:stretch>
                  <a:fillRect b="-4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Hộp Văn bản 1">
                <a:extLst>
                  <a:ext uri="{FF2B5EF4-FFF2-40B4-BE49-F238E27FC236}">
                    <a16:creationId xmlns:a16="http://schemas.microsoft.com/office/drawing/2014/main" id="{238DEEB0-5AC3-D3C3-EA39-E7AE9815CC50}"/>
                  </a:ext>
                </a:extLst>
              </p:cNvPr>
              <p:cNvSpPr txBox="1"/>
              <p:nvPr/>
            </p:nvSpPr>
            <p:spPr>
              <a:xfrm>
                <a:off x="717804" y="5406191"/>
                <a:ext cx="3854196" cy="907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 algn="l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latin typeface="Golos Text" panose="020B0604020202020204" charset="0"/>
                    <a:cs typeface="Golos Text" panose="020B0604020202020204" charset="0"/>
                  </a:rPr>
                  <a:t>Make Taller</a:t>
                </a:r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:</a:t>
                </a:r>
              </a:p>
              <a:p>
                <a:pPr marL="742950" lvl="1" indent="-28575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′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+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sz="1200" dirty="0"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L="742950" lvl="1" indent="-28575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′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−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sz="1200" dirty="0"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L="742950" lvl="1" indent="-285750" algn="l">
                  <a:spcAft>
                    <a:spcPts val="6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 </m:t>
                    </m:r>
                  </m:oMath>
                </a14:m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 unchanged</a:t>
                </a:r>
              </a:p>
            </p:txBody>
          </p:sp>
        </mc:Choice>
        <mc:Fallback xmlns="">
          <p:sp>
            <p:nvSpPr>
              <p:cNvPr id="2" name="Hộp Văn bản 1">
                <a:extLst>
                  <a:ext uri="{FF2B5EF4-FFF2-40B4-BE49-F238E27FC236}">
                    <a16:creationId xmlns:a16="http://schemas.microsoft.com/office/drawing/2014/main" id="{238DEEB0-5AC3-D3C3-EA39-E7AE9815C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04" y="5406191"/>
                <a:ext cx="3854196" cy="907941"/>
              </a:xfrm>
              <a:prstGeom prst="rect">
                <a:avLst/>
              </a:prstGeom>
              <a:blipFill>
                <a:blip r:embed="rId5"/>
                <a:stretch>
                  <a:fillRect t="-671" b="-4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5931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382;p38">
            <a:extLst>
              <a:ext uri="{FF2B5EF4-FFF2-40B4-BE49-F238E27FC236}">
                <a16:creationId xmlns:a16="http://schemas.microsoft.com/office/drawing/2014/main" id="{768579D3-0B6F-B2F0-1FA7-5B6257D7CAC6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82;p38">
            <a:extLst>
              <a:ext uri="{FF2B5EF4-FFF2-40B4-BE49-F238E27FC236}">
                <a16:creationId xmlns:a16="http://schemas.microsoft.com/office/drawing/2014/main" id="{E5BC75EB-E0DD-B668-DF7E-270752D3ABF4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82;p38">
            <a:extLst>
              <a:ext uri="{FF2B5EF4-FFF2-40B4-BE49-F238E27FC236}">
                <a16:creationId xmlns:a16="http://schemas.microsoft.com/office/drawing/2014/main" id="{FF53A791-239E-68EC-D743-8587FC61BE48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Hình ảnh 4" descr="Ảnh có chứa ngoài trời, bảng chỉ dẫn, văn bản, Biển báo giao thông&#10;&#10;Mô tả được tạo tự động">
            <a:extLst>
              <a:ext uri="{FF2B5EF4-FFF2-40B4-BE49-F238E27FC236}">
                <a16:creationId xmlns:a16="http://schemas.microsoft.com/office/drawing/2014/main" id="{9ECF500D-D024-BA90-B0D8-4C2848B2D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775" y="1335314"/>
            <a:ext cx="3751421" cy="28135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Hộp Văn bản 2">
                <a:extLst>
                  <a:ext uri="{FF2B5EF4-FFF2-40B4-BE49-F238E27FC236}">
                    <a16:creationId xmlns:a16="http://schemas.microsoft.com/office/drawing/2014/main" id="{02CD360D-D432-F835-C83A-DCCE712F4EFD}"/>
                  </a:ext>
                </a:extLst>
              </p:cNvPr>
              <p:cNvSpPr txBox="1"/>
              <p:nvPr/>
            </p:nvSpPr>
            <p:spPr>
              <a:xfrm>
                <a:off x="717804" y="1858534"/>
                <a:ext cx="3854196" cy="907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 algn="l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latin typeface="Golos Text" panose="020B0604020202020204" charset="0"/>
                    <a:cs typeface="Golos Text" panose="020B0604020202020204" charset="0"/>
                  </a:rPr>
                  <a:t>Move Right</a:t>
                </a:r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:</a:t>
                </a:r>
              </a:p>
              <a:p>
                <a:pPr marL="742950" lvl="1" indent="-28575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′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+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sz="1200" dirty="0"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L="742950" lvl="1" indent="-28575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′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+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sz="1200" dirty="0"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L="742950" lvl="1" indent="-285750" algn="l">
                  <a:spcAft>
                    <a:spcPts val="6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 </m:t>
                    </m:r>
                  </m:oMath>
                </a14:m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 unchanged</a:t>
                </a:r>
              </a:p>
            </p:txBody>
          </p:sp>
        </mc:Choice>
        <mc:Fallback xmlns="">
          <p:sp>
            <p:nvSpPr>
              <p:cNvPr id="3" name="Hộp Văn bản 2">
                <a:extLst>
                  <a:ext uri="{FF2B5EF4-FFF2-40B4-BE49-F238E27FC236}">
                    <a16:creationId xmlns:a16="http://schemas.microsoft.com/office/drawing/2014/main" id="{02CD360D-D432-F835-C83A-DCCE712F4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04" y="1858534"/>
                <a:ext cx="3854196" cy="907941"/>
              </a:xfrm>
              <a:prstGeom prst="rect">
                <a:avLst/>
              </a:prstGeom>
              <a:blipFill>
                <a:blip r:embed="rId4"/>
                <a:stretch>
                  <a:fillRect t="-671" b="-4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F33F3EAE-404A-954B-C6A3-A701B3D0111E}"/>
                  </a:ext>
                </a:extLst>
              </p:cNvPr>
              <p:cNvSpPr txBox="1"/>
              <p:nvPr/>
            </p:nvSpPr>
            <p:spPr>
              <a:xfrm>
                <a:off x="717804" y="2808145"/>
                <a:ext cx="3854196" cy="907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 algn="l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latin typeface="Golos Text" panose="020B0604020202020204" charset="0"/>
                    <a:cs typeface="Golos Text" panose="020B0604020202020204" charset="0"/>
                  </a:rPr>
                  <a:t>Make Taller</a:t>
                </a:r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:</a:t>
                </a:r>
              </a:p>
              <a:p>
                <a:pPr marL="742950" lvl="1" indent="-28575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′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+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sz="1200" dirty="0"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L="742950" lvl="1" indent="-28575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′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−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sz="1200" dirty="0"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L="742950" lvl="1" indent="-285750" algn="l">
                  <a:spcAft>
                    <a:spcPts val="6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 </m:t>
                    </m:r>
                  </m:oMath>
                </a14:m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 unchanged</a:t>
                </a:r>
              </a:p>
            </p:txBody>
          </p:sp>
        </mc:Choice>
        <mc:Fallback xmlns="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F33F3EAE-404A-954B-C6A3-A701B3D01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04" y="2808145"/>
                <a:ext cx="3854196" cy="907941"/>
              </a:xfrm>
              <a:prstGeom prst="rect">
                <a:avLst/>
              </a:prstGeom>
              <a:blipFill>
                <a:blip r:embed="rId5"/>
                <a:stretch>
                  <a:fillRect t="-671" b="-4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9D986DD6-422F-9A9E-5282-3F807F511484}"/>
                  </a:ext>
                </a:extLst>
              </p:cNvPr>
              <p:cNvSpPr txBox="1"/>
              <p:nvPr/>
            </p:nvSpPr>
            <p:spPr>
              <a:xfrm>
                <a:off x="717804" y="5310071"/>
                <a:ext cx="3854196" cy="907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 algn="l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latin typeface="Golos Text" panose="020B0604020202020204" charset="0"/>
                    <a:cs typeface="Golos Text" panose="020B0604020202020204" charset="0"/>
                  </a:rPr>
                  <a:t>Move Down</a:t>
                </a:r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:</a:t>
                </a:r>
              </a:p>
              <a:p>
                <a:pPr marL="742950" lvl="1" indent="-28575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′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+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h</m:t>
                        </m:r>
                      </m:sub>
                    </m:sSub>
                  </m:oMath>
                </a14:m>
                <a:endParaRPr lang="en-US" sz="1200" dirty="0"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L="742950" lvl="1" indent="-28575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′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+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h</m:t>
                        </m:r>
                      </m:sub>
                    </m:sSub>
                  </m:oMath>
                </a14:m>
                <a:endParaRPr lang="en-US" sz="1200" dirty="0"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L="742950" lvl="1" indent="-285750" algn="l">
                  <a:spcAft>
                    <a:spcPts val="6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 </m:t>
                    </m:r>
                  </m:oMath>
                </a14:m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 unchanged</a:t>
                </a:r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9D986DD6-422F-9A9E-5282-3F807F511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04" y="5310071"/>
                <a:ext cx="3854196" cy="907941"/>
              </a:xfrm>
              <a:prstGeom prst="rect">
                <a:avLst/>
              </a:prstGeom>
              <a:blipFill>
                <a:blip r:embed="rId6"/>
                <a:stretch>
                  <a:fillRect b="-4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0005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382;p38">
            <a:extLst>
              <a:ext uri="{FF2B5EF4-FFF2-40B4-BE49-F238E27FC236}">
                <a16:creationId xmlns:a16="http://schemas.microsoft.com/office/drawing/2014/main" id="{768579D3-0B6F-B2F0-1FA7-5B6257D7CAC6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82;p38">
            <a:extLst>
              <a:ext uri="{FF2B5EF4-FFF2-40B4-BE49-F238E27FC236}">
                <a16:creationId xmlns:a16="http://schemas.microsoft.com/office/drawing/2014/main" id="{E5BC75EB-E0DD-B668-DF7E-270752D3ABF4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82;p38">
            <a:extLst>
              <a:ext uri="{FF2B5EF4-FFF2-40B4-BE49-F238E27FC236}">
                <a16:creationId xmlns:a16="http://schemas.microsoft.com/office/drawing/2014/main" id="{FF53A791-239E-68EC-D743-8587FC61BE48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Hình ảnh 4" descr="Ảnh có chứa ngoài trời, bảng chỉ dẫn, văn bản, Biển báo giao thông&#10;&#10;Mô tả được tạo tự động">
            <a:extLst>
              <a:ext uri="{FF2B5EF4-FFF2-40B4-BE49-F238E27FC236}">
                <a16:creationId xmlns:a16="http://schemas.microsoft.com/office/drawing/2014/main" id="{9ECF500D-D024-BA90-B0D8-4C2848B2D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775" y="1335314"/>
            <a:ext cx="3751421" cy="28135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Hộp Văn bản 2">
                <a:extLst>
                  <a:ext uri="{FF2B5EF4-FFF2-40B4-BE49-F238E27FC236}">
                    <a16:creationId xmlns:a16="http://schemas.microsoft.com/office/drawing/2014/main" id="{02CD360D-D432-F835-C83A-DCCE712F4EFD}"/>
                  </a:ext>
                </a:extLst>
              </p:cNvPr>
              <p:cNvSpPr txBox="1"/>
              <p:nvPr/>
            </p:nvSpPr>
            <p:spPr>
              <a:xfrm>
                <a:off x="717804" y="3234536"/>
                <a:ext cx="3854196" cy="907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 algn="l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latin typeface="Golos Text" panose="020B0604020202020204" charset="0"/>
                    <a:cs typeface="Golos Text" panose="020B0604020202020204" charset="0"/>
                  </a:rPr>
                  <a:t>Move Down</a:t>
                </a:r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:</a:t>
                </a:r>
              </a:p>
              <a:p>
                <a:pPr marL="742950" lvl="1" indent="-28575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′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+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h</m:t>
                        </m:r>
                      </m:sub>
                    </m:sSub>
                  </m:oMath>
                </a14:m>
                <a:endParaRPr lang="en-US" sz="1200" dirty="0"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L="742950" lvl="1" indent="-28575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′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+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h</m:t>
                        </m:r>
                      </m:sub>
                    </m:sSub>
                  </m:oMath>
                </a14:m>
                <a:endParaRPr lang="en-US" sz="1200" dirty="0"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L="742950" lvl="1" indent="-285750" algn="l">
                  <a:spcAft>
                    <a:spcPts val="6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 </m:t>
                    </m:r>
                  </m:oMath>
                </a14:m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 unchanged</a:t>
                </a:r>
              </a:p>
            </p:txBody>
          </p:sp>
        </mc:Choice>
        <mc:Fallback xmlns="">
          <p:sp>
            <p:nvSpPr>
              <p:cNvPr id="3" name="Hộp Văn bản 2">
                <a:extLst>
                  <a:ext uri="{FF2B5EF4-FFF2-40B4-BE49-F238E27FC236}">
                    <a16:creationId xmlns:a16="http://schemas.microsoft.com/office/drawing/2014/main" id="{02CD360D-D432-F835-C83A-DCCE712F4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04" y="3234536"/>
                <a:ext cx="3854196" cy="907941"/>
              </a:xfrm>
              <a:prstGeom prst="rect">
                <a:avLst/>
              </a:prstGeom>
              <a:blipFill>
                <a:blip r:embed="rId4"/>
                <a:stretch>
                  <a:fillRect t="-671" b="-4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72225A04-AE9B-99C2-B659-9535FE783486}"/>
                  </a:ext>
                </a:extLst>
              </p:cNvPr>
              <p:cNvSpPr txBox="1"/>
              <p:nvPr/>
            </p:nvSpPr>
            <p:spPr>
              <a:xfrm>
                <a:off x="717804" y="1335314"/>
                <a:ext cx="3854196" cy="907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 algn="l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latin typeface="Golos Text" panose="020B0604020202020204" charset="0"/>
                    <a:cs typeface="Golos Text" panose="020B0604020202020204" charset="0"/>
                  </a:rPr>
                  <a:t>Move Right</a:t>
                </a:r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:</a:t>
                </a:r>
              </a:p>
              <a:p>
                <a:pPr marL="742950" lvl="1" indent="-28575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′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+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sz="1200" dirty="0"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L="742950" lvl="1" indent="-28575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′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+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sz="1200" dirty="0"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L="742950" lvl="1" indent="-285750" algn="l">
                  <a:spcAft>
                    <a:spcPts val="6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 </m:t>
                    </m:r>
                  </m:oMath>
                </a14:m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 unchanged</a:t>
                </a:r>
              </a:p>
            </p:txBody>
          </p:sp>
        </mc:Choice>
        <mc:Fallback xmlns="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72225A04-AE9B-99C2-B659-9535FE783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04" y="1335314"/>
                <a:ext cx="3854196" cy="907941"/>
              </a:xfrm>
              <a:prstGeom prst="rect">
                <a:avLst/>
              </a:prstGeom>
              <a:blipFill>
                <a:blip r:embed="rId5"/>
                <a:stretch>
                  <a:fillRect b="-4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0529A194-DB41-0AF2-CB22-80C1D08F6C82}"/>
                  </a:ext>
                </a:extLst>
              </p:cNvPr>
              <p:cNvSpPr txBox="1"/>
              <p:nvPr/>
            </p:nvSpPr>
            <p:spPr>
              <a:xfrm>
                <a:off x="717804" y="2284925"/>
                <a:ext cx="3854196" cy="907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 algn="l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latin typeface="Golos Text" panose="020B0604020202020204" charset="0"/>
                    <a:cs typeface="Golos Text" panose="020B0604020202020204" charset="0"/>
                  </a:rPr>
                  <a:t>Make Taller</a:t>
                </a:r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:</a:t>
                </a:r>
              </a:p>
              <a:p>
                <a:pPr marL="742950" lvl="1" indent="-28575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′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+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sz="1200" dirty="0"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L="742950" lvl="1" indent="-285750" algn="l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′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−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sz="1200" dirty="0">
                  <a:latin typeface="Golos Text" panose="020B0604020202020204" charset="0"/>
                  <a:cs typeface="Golos Text" panose="020B0604020202020204" charset="0"/>
                </a:endParaRPr>
              </a:p>
              <a:p>
                <a:pPr marL="742950" lvl="1" indent="-285750" algn="l">
                  <a:spcAft>
                    <a:spcPts val="6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 </m:t>
                    </m:r>
                  </m:oMath>
                </a14:m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Golos Text" panose="020B060402020202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200" dirty="0">
                    <a:latin typeface="Golos Text" panose="020B0604020202020204" charset="0"/>
                    <a:cs typeface="Golos Text" panose="020B0604020202020204" charset="0"/>
                  </a:rPr>
                  <a:t> unchanged</a:t>
                </a:r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0529A194-DB41-0AF2-CB22-80C1D08F6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04" y="2284925"/>
                <a:ext cx="3854196" cy="907941"/>
              </a:xfrm>
              <a:prstGeom prst="rect">
                <a:avLst/>
              </a:prstGeom>
              <a:blipFill>
                <a:blip r:embed="rId6"/>
                <a:stretch>
                  <a:fillRect t="-671" b="-4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9350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382;p38">
            <a:extLst>
              <a:ext uri="{FF2B5EF4-FFF2-40B4-BE49-F238E27FC236}">
                <a16:creationId xmlns:a16="http://schemas.microsoft.com/office/drawing/2014/main" id="{768579D3-0B6F-B2F0-1FA7-5B6257D7CAC6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82;p38">
            <a:extLst>
              <a:ext uri="{FF2B5EF4-FFF2-40B4-BE49-F238E27FC236}">
                <a16:creationId xmlns:a16="http://schemas.microsoft.com/office/drawing/2014/main" id="{E5BC75EB-E0DD-B668-DF7E-270752D3ABF4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82;p38">
            <a:extLst>
              <a:ext uri="{FF2B5EF4-FFF2-40B4-BE49-F238E27FC236}">
                <a16:creationId xmlns:a16="http://schemas.microsoft.com/office/drawing/2014/main" id="{FF53A791-239E-68EC-D743-8587FC61BE48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469;p29">
            <a:extLst>
              <a:ext uri="{FF2B5EF4-FFF2-40B4-BE49-F238E27FC236}">
                <a16:creationId xmlns:a16="http://schemas.microsoft.com/office/drawing/2014/main" id="{472BF041-62E2-9210-8D22-D196278F07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249" y="213782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Modeling the Project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28432F40-8049-00CE-D1B6-DA1726FD95A7}"/>
              </a:ext>
            </a:extLst>
          </p:cNvPr>
          <p:cNvSpPr txBox="1"/>
          <p:nvPr/>
        </p:nvSpPr>
        <p:spPr>
          <a:xfrm>
            <a:off x="410249" y="962355"/>
            <a:ext cx="10714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Rewards</a:t>
            </a: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934F72E2-6D47-C8CB-50CB-62FE7B4B0F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0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211233" y="1461605"/>
            <a:ext cx="2912916" cy="22202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EBA3181C-1F80-57BE-13B4-50596E943AE6}"/>
                  </a:ext>
                </a:extLst>
              </p:cNvPr>
              <p:cNvSpPr txBox="1"/>
              <p:nvPr/>
            </p:nvSpPr>
            <p:spPr>
              <a:xfrm>
                <a:off x="1114887" y="2243383"/>
                <a:ext cx="284024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𝐼𝑜𝑈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𝐼𝑜𝑈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EBA3181C-1F80-57BE-13B4-50596E943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887" y="2243383"/>
                <a:ext cx="2840242" cy="276999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Hình ảnh 9" descr="Ảnh có chứa ảnh chụp màn hình, Phông chữ, văn bản, thiết kế&#10;&#10;Mô tả được tạo tự động">
            <a:extLst>
              <a:ext uri="{FF2B5EF4-FFF2-40B4-BE49-F238E27FC236}">
                <a16:creationId xmlns:a16="http://schemas.microsoft.com/office/drawing/2014/main" id="{A1858295-126A-1013-9201-61C68051FF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076" y="1630941"/>
            <a:ext cx="1580933" cy="544162"/>
          </a:xfrm>
          <a:prstGeom prst="rect">
            <a:avLst/>
          </a:prstGeom>
        </p:spPr>
      </p:pic>
      <p:pic>
        <p:nvPicPr>
          <p:cNvPr id="11" name="Hình ảnh 10" descr="Ảnh có chứa ảnh chụp màn hình, văn bản, thiết kế&#10;&#10;Mô tả được tạo tự động">
            <a:extLst>
              <a:ext uri="{FF2B5EF4-FFF2-40B4-BE49-F238E27FC236}">
                <a16:creationId xmlns:a16="http://schemas.microsoft.com/office/drawing/2014/main" id="{7451F5A2-68BE-3A1D-4554-A4FE3DA4A0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5009" y="1630942"/>
            <a:ext cx="1701221" cy="544161"/>
          </a:xfrm>
          <a:prstGeom prst="rect">
            <a:avLst/>
          </a:prstGeom>
        </p:spPr>
      </p:pic>
      <p:pic>
        <p:nvPicPr>
          <p:cNvPr id="12" name="Hình ảnh 11" descr="Ảnh có chứa vòng tròn, ảnh chụp màn hình&#10;&#10;Mô tả được tạo tự động">
            <a:extLst>
              <a:ext uri="{FF2B5EF4-FFF2-40B4-BE49-F238E27FC236}">
                <a16:creationId xmlns:a16="http://schemas.microsoft.com/office/drawing/2014/main" id="{07675ADD-AD23-C62A-78F1-7A283800AE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4576" y="2778651"/>
            <a:ext cx="360865" cy="54416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FA01DA72-78F2-A6DA-D061-0A9A54A4B2C5}"/>
                  </a:ext>
                </a:extLst>
              </p:cNvPr>
              <p:cNvSpPr txBox="1"/>
              <p:nvPr/>
            </p:nvSpPr>
            <p:spPr>
              <a:xfrm>
                <a:off x="954550" y="3338346"/>
                <a:ext cx="3281680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1200" b="0" dirty="0">
                    <a:latin typeface="Golos Text" panose="020B0604020202020204" charset="0"/>
                    <a:cs typeface="Golos Text" panose="020B0604020202020204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𝐼𝑜𝑈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;−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1200" b="0" dirty="0">
                    <a:latin typeface="Golos Text" panose="020B0604020202020204" charset="0"/>
                    <a:cs typeface="Golos Text" panose="020B0604020202020204" charset="0"/>
                  </a:rPr>
                  <a:t> otherwise</a:t>
                </a:r>
              </a:p>
              <a:p>
                <a:r>
                  <a:rPr lang="en-US" sz="1000" dirty="0">
                    <a:latin typeface="Golos Text" panose="020B0604020202020204" charset="0"/>
                    <a:cs typeface="Golos Text" panose="020B0604020202020204" charset="0"/>
                  </a:rPr>
                  <a:t>*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𝜂</m:t>
                    </m:r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3</m:t>
                    </m:r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.</m:t>
                    </m:r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0</m:t>
                    </m:r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; </m:t>
                    </m:r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𝜏</m:t>
                    </m:r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=</m:t>
                    </m:r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0</m:t>
                    </m:r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.</m:t>
                    </m:r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6</m:t>
                    </m:r>
                    <m:r>
                      <a:rPr lang="en-US" sz="10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 </m:t>
                    </m:r>
                  </m:oMath>
                </a14:m>
                <a:endParaRPr lang="en-US" sz="1000" dirty="0">
                  <a:effectLst/>
                  <a:latin typeface="Golos Text" panose="020B0604020202020204" charset="0"/>
                  <a:cs typeface="Golos Text" panose="020B0604020202020204" charset="0"/>
                </a:endParaRPr>
              </a:p>
            </p:txBody>
          </p:sp>
        </mc:Choice>
        <mc:Fallback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FA01DA72-78F2-A6DA-D061-0A9A54A4B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550" y="3338346"/>
                <a:ext cx="3281680" cy="507831"/>
              </a:xfrm>
              <a:prstGeom prst="rect">
                <a:avLst/>
              </a:prstGeom>
              <a:blipFill>
                <a:blip r:embed="rId9"/>
                <a:stretch>
                  <a:fillRect t="-2410" b="-6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620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9"/>
          <p:cNvSpPr txBox="1">
            <a:spLocks noGrp="1"/>
          </p:cNvSpPr>
          <p:nvPr>
            <p:ph type="title"/>
          </p:nvPr>
        </p:nvSpPr>
        <p:spPr>
          <a:xfrm>
            <a:off x="715100" y="1925850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Training and testing agent</a:t>
            </a:r>
          </a:p>
        </p:txBody>
      </p:sp>
      <p:sp>
        <p:nvSpPr>
          <p:cNvPr id="470" name="Google Shape;470;p29"/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471" name="Google Shape;471;p29"/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" name="Hình chữ nhật: Góc Tròn 1">
            <a:extLst>
              <a:ext uri="{FF2B5EF4-FFF2-40B4-BE49-F238E27FC236}">
                <a16:creationId xmlns:a16="http://schemas.microsoft.com/office/drawing/2014/main" id="{194215A6-48FF-CCC6-C7BC-444EBB59F6C9}"/>
              </a:ext>
            </a:extLst>
          </p:cNvPr>
          <p:cNvSpPr/>
          <p:nvPr/>
        </p:nvSpPr>
        <p:spPr>
          <a:xfrm>
            <a:off x="8086092" y="4494213"/>
            <a:ext cx="802322" cy="365125"/>
          </a:xfrm>
          <a:prstGeom prst="roundRect">
            <a:avLst/>
          </a:prstGeom>
          <a:solidFill>
            <a:srgbClr val="5B62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Squad 4</a:t>
            </a:r>
          </a:p>
        </p:txBody>
      </p:sp>
      <p:sp>
        <p:nvSpPr>
          <p:cNvPr id="3" name="Google Shape;382;p38">
            <a:extLst>
              <a:ext uri="{FF2B5EF4-FFF2-40B4-BE49-F238E27FC236}">
                <a16:creationId xmlns:a16="http://schemas.microsoft.com/office/drawing/2014/main" id="{CC1DEC4B-B21E-03D6-10FC-7C672A922EB7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82;p38">
            <a:extLst>
              <a:ext uri="{FF2B5EF4-FFF2-40B4-BE49-F238E27FC236}">
                <a16:creationId xmlns:a16="http://schemas.microsoft.com/office/drawing/2014/main" id="{2114AF45-CBE5-DE0F-9666-DBE5DE2C5B4B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82;p38">
            <a:extLst>
              <a:ext uri="{FF2B5EF4-FFF2-40B4-BE49-F238E27FC236}">
                <a16:creationId xmlns:a16="http://schemas.microsoft.com/office/drawing/2014/main" id="{B25E2836-BD80-B9A9-55BB-B85FBF8097A8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22227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9;p29">
            <a:extLst>
              <a:ext uri="{FF2B5EF4-FFF2-40B4-BE49-F238E27FC236}">
                <a16:creationId xmlns:a16="http://schemas.microsoft.com/office/drawing/2014/main" id="{6E6AD7DE-8413-509B-3DC3-90FF08AB47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249" y="213782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latin typeface="Golos Text Medium" panose="020B0604020202020204" charset="0"/>
                <a:cs typeface="Golos Text Medium" panose="020B0604020202020204" charset="0"/>
              </a:rPr>
              <a:t>Training</a:t>
            </a:r>
          </a:p>
        </p:txBody>
      </p:sp>
      <p:pic>
        <p:nvPicPr>
          <p:cNvPr id="5" name="Hình ảnh 4" descr="Ảnh có chứa ảnh chụp màn hình, văn bản, Nhiều màu sắc, Phông chữ&#10;&#10;Mô tả được tạo tự động">
            <a:extLst>
              <a:ext uri="{FF2B5EF4-FFF2-40B4-BE49-F238E27FC236}">
                <a16:creationId xmlns:a16="http://schemas.microsoft.com/office/drawing/2014/main" id="{6D3ED21F-0228-F09F-E441-4E1858888D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628" t="10441" r="30995" b="23916"/>
          <a:stretch/>
        </p:blipFill>
        <p:spPr>
          <a:xfrm>
            <a:off x="5234247" y="1653899"/>
            <a:ext cx="3034723" cy="1835701"/>
          </a:xfrm>
          <a:prstGeom prst="rect">
            <a:avLst/>
          </a:prstGeom>
        </p:spPr>
      </p:pic>
      <p:sp>
        <p:nvSpPr>
          <p:cNvPr id="8" name="Google Shape;382;p38">
            <a:extLst>
              <a:ext uri="{FF2B5EF4-FFF2-40B4-BE49-F238E27FC236}">
                <a16:creationId xmlns:a16="http://schemas.microsoft.com/office/drawing/2014/main" id="{AB380A85-6B36-B05D-3B07-F3176C2BE862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82;p38">
            <a:extLst>
              <a:ext uri="{FF2B5EF4-FFF2-40B4-BE49-F238E27FC236}">
                <a16:creationId xmlns:a16="http://schemas.microsoft.com/office/drawing/2014/main" id="{79D63C51-1800-73FE-805F-7BEDEE2EE72F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82;p38">
            <a:extLst>
              <a:ext uri="{FF2B5EF4-FFF2-40B4-BE49-F238E27FC236}">
                <a16:creationId xmlns:a16="http://schemas.microsoft.com/office/drawing/2014/main" id="{AD81A99E-1527-FF98-7D63-273BA1AC95D8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64BB48DC-DEAE-3DB0-349E-C63995862E5F}"/>
                  </a:ext>
                </a:extLst>
              </p:cNvPr>
              <p:cNvSpPr txBox="1"/>
              <p:nvPr/>
            </p:nvSpPr>
            <p:spPr>
              <a:xfrm>
                <a:off x="699489" y="2223098"/>
                <a:ext cx="393065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Golos Text" panose="020B0604020202020204" charset="0"/>
                    <a:cs typeface="Golos Text" panose="020B0604020202020204" charset="0"/>
                  </a:rPr>
                  <a:t>Initialization</a:t>
                </a:r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:</a:t>
                </a:r>
              </a:p>
              <a:p>
                <a:pPr algn="l"/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Q-network parameters (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𝑤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, 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𝑏</m:t>
                    </m:r>
                  </m:oMath>
                </a14:m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) initialized randomly</a:t>
                </a:r>
              </a:p>
            </p:txBody>
          </p:sp>
        </mc:Choice>
        <mc:Fallback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64BB48DC-DEAE-3DB0-349E-C63995862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89" y="2223098"/>
                <a:ext cx="3930650" cy="430887"/>
              </a:xfrm>
              <a:prstGeom prst="rect">
                <a:avLst/>
              </a:prstGeom>
              <a:blipFill>
                <a:blip r:embed="rId4"/>
                <a:stretch>
                  <a:fillRect t="-142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AEBC6EEE-051F-72F0-B3FE-8F6DB16CE6BD}"/>
                  </a:ext>
                </a:extLst>
              </p:cNvPr>
              <p:cNvSpPr txBox="1"/>
              <p:nvPr/>
            </p:nvSpPr>
            <p:spPr>
              <a:xfrm>
                <a:off x="699489" y="5528362"/>
                <a:ext cx="4572000" cy="1600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lvl="1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Golos Text" panose="020B0604020202020204" charset="0"/>
                    <a:cs typeface="Golos Text" panose="020B0604020202020204" charset="0"/>
                  </a:rPr>
                  <a:t>Training Process</a:t>
                </a:r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:</a:t>
                </a:r>
              </a:p>
              <a:p>
                <a:pPr marL="171450" lvl="1" indent="-171450">
                  <a:buFont typeface="Courier New" panose="02070309020205020404" pitchFamily="49" charset="0"/>
                  <a:buChar char="o"/>
                </a:pPr>
                <a:r>
                  <a:rPr lang="en-US" sz="1100" b="1" dirty="0">
                    <a:latin typeface="Golos Text" panose="020B0604020202020204" charset="0"/>
                    <a:cs typeface="Golos Text" panose="020B0604020202020204" charset="0"/>
                  </a:rPr>
                  <a:t>Guided Exploration</a:t>
                </a:r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:</a:t>
                </a:r>
              </a:p>
              <a:p>
                <a:pPr marL="628650" lvl="1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Uses apprenticeship learning principles</a:t>
                </a:r>
              </a:p>
              <a:p>
                <a:pPr marL="171450" lvl="1" indent="-17145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1100" b="1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𝝐</m:t>
                    </m:r>
                  </m:oMath>
                </a14:m>
                <a:r>
                  <a:rPr lang="en-US" sz="1100" b="1" dirty="0">
                    <a:latin typeface="Golos Text" panose="020B0604020202020204" charset="0"/>
                    <a:cs typeface="Golos Text" panose="020B0604020202020204" charset="0"/>
                  </a:rPr>
                  <a:t>-greedy strategy</a:t>
                </a:r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:</a:t>
                </a:r>
              </a:p>
              <a:p>
                <a:pPr marL="628650" lvl="2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Shifts from exploration to exploitation.</a:t>
                </a:r>
              </a:p>
              <a:p>
                <a:pPr marL="628650" lvl="2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Run for 15 epochs: 𝜀 annealed linearly from 1.0 to 0.1 over the first 5 epochs, 𝜀 fixed to 0.1 after the fifth epoch</a:t>
                </a:r>
              </a:p>
            </p:txBody>
          </p:sp>
        </mc:Choice>
        <mc:Fallback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AEBC6EEE-051F-72F0-B3FE-8F6DB16CE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89" y="5528362"/>
                <a:ext cx="4572000" cy="1600438"/>
              </a:xfrm>
              <a:prstGeom prst="rect">
                <a:avLst/>
              </a:prstGeom>
              <a:blipFill>
                <a:blip r:embed="rId5"/>
                <a:stretch>
                  <a:fillRect t="-382" b="-1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97117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Word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9;p29">
            <a:extLst>
              <a:ext uri="{FF2B5EF4-FFF2-40B4-BE49-F238E27FC236}">
                <a16:creationId xmlns:a16="http://schemas.microsoft.com/office/drawing/2014/main" id="{6E6AD7DE-8413-509B-3DC3-90FF08AB47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249" y="213782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latin typeface="Golos Text Medium" panose="020B0604020202020204" charset="0"/>
                <a:cs typeface="Golos Text Medium" panose="020B0604020202020204" charset="0"/>
              </a:rPr>
              <a:t>Training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E55A8992-B207-43DE-989A-1EA1306BB9FF}"/>
                  </a:ext>
                </a:extLst>
              </p:cNvPr>
              <p:cNvSpPr txBox="1"/>
              <p:nvPr/>
            </p:nvSpPr>
            <p:spPr>
              <a:xfrm>
                <a:off x="712081" y="1651488"/>
                <a:ext cx="393065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Golos Text" panose="020B0604020202020204" charset="0"/>
                    <a:cs typeface="Golos Text" panose="020B0604020202020204" charset="0"/>
                  </a:rPr>
                  <a:t>Initialization</a:t>
                </a:r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:</a:t>
                </a:r>
              </a:p>
              <a:p>
                <a:pPr algn="l"/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Q-network parameters (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𝑤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, 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𝑏</m:t>
                    </m:r>
                  </m:oMath>
                </a14:m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) initialized randomly</a:t>
                </a:r>
              </a:p>
            </p:txBody>
          </p:sp>
        </mc:Choice>
        <mc:Fallback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E55A8992-B207-43DE-989A-1EA1306BB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81" y="1651488"/>
                <a:ext cx="3930650" cy="430887"/>
              </a:xfrm>
              <a:prstGeom prst="rect">
                <a:avLst/>
              </a:prstGeom>
              <a:blipFill>
                <a:blip r:embed="rId3"/>
                <a:stretch>
                  <a:fillRect t="-1408" b="-8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Hộp Văn bản 2">
                <a:extLst>
                  <a:ext uri="{FF2B5EF4-FFF2-40B4-BE49-F238E27FC236}">
                    <a16:creationId xmlns:a16="http://schemas.microsoft.com/office/drawing/2014/main" id="{19401B6D-5217-3659-96FB-8562E046325A}"/>
                  </a:ext>
                </a:extLst>
              </p:cNvPr>
              <p:cNvSpPr txBox="1"/>
              <p:nvPr/>
            </p:nvSpPr>
            <p:spPr>
              <a:xfrm>
                <a:off x="712081" y="2112872"/>
                <a:ext cx="4572000" cy="1600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lvl="1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Golos Text" panose="020B0604020202020204" charset="0"/>
                    <a:cs typeface="Golos Text" panose="020B0604020202020204" charset="0"/>
                  </a:rPr>
                  <a:t>Training Process</a:t>
                </a:r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:</a:t>
                </a:r>
              </a:p>
              <a:p>
                <a:pPr marL="171450" lvl="1" indent="-171450">
                  <a:buFont typeface="Courier New" panose="02070309020205020404" pitchFamily="49" charset="0"/>
                  <a:buChar char="o"/>
                </a:pPr>
                <a:r>
                  <a:rPr lang="en-US" sz="1100" b="1" dirty="0">
                    <a:latin typeface="Golos Text" panose="020B0604020202020204" charset="0"/>
                    <a:cs typeface="Golos Text" panose="020B0604020202020204" charset="0"/>
                  </a:rPr>
                  <a:t>Guided Exploration</a:t>
                </a:r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:</a:t>
                </a:r>
              </a:p>
              <a:p>
                <a:pPr marL="628650" lvl="1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Uses apprenticeship learning principles</a:t>
                </a:r>
              </a:p>
              <a:p>
                <a:pPr marL="171450" lvl="1" indent="-17145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1100" b="1" i="1" smtClean="0">
                        <a:latin typeface="Cambria Math" panose="02040503050406030204" pitchFamily="18" charset="0"/>
                        <a:cs typeface="Golos Text" panose="020B0604020202020204" charset="0"/>
                      </a:rPr>
                      <m:t>𝝐</m:t>
                    </m:r>
                  </m:oMath>
                </a14:m>
                <a:r>
                  <a:rPr lang="en-US" sz="1100" b="1" dirty="0">
                    <a:latin typeface="Golos Text" panose="020B0604020202020204" charset="0"/>
                    <a:cs typeface="Golos Text" panose="020B0604020202020204" charset="0"/>
                  </a:rPr>
                  <a:t>-greedy strategy</a:t>
                </a:r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:</a:t>
                </a:r>
              </a:p>
              <a:p>
                <a:pPr marL="628650" lvl="2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Shifts from exploration to exploitation.</a:t>
                </a:r>
              </a:p>
              <a:p>
                <a:pPr marL="628650" lvl="2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Golos Text" panose="020B0604020202020204" charset="0"/>
                    <a:cs typeface="Golos Text" panose="020B0604020202020204" charset="0"/>
                  </a:rPr>
                  <a:t>Run for 15 epochs: 𝜀 annealed linearly from 1.0 to 0.1 over the first 5 epochs, 𝜀 fixed to 0.1 after the fifth epoch</a:t>
                </a:r>
              </a:p>
            </p:txBody>
          </p:sp>
        </mc:Choice>
        <mc:Fallback>
          <p:sp>
            <p:nvSpPr>
              <p:cNvPr id="3" name="Hộp Văn bản 2">
                <a:extLst>
                  <a:ext uri="{FF2B5EF4-FFF2-40B4-BE49-F238E27FC236}">
                    <a16:creationId xmlns:a16="http://schemas.microsoft.com/office/drawing/2014/main" id="{19401B6D-5217-3659-96FB-8562E0463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81" y="2112872"/>
                <a:ext cx="4572000" cy="1600438"/>
              </a:xfrm>
              <a:prstGeom prst="rect">
                <a:avLst/>
              </a:prstGeom>
              <a:blipFill>
                <a:blip r:embed="rId4"/>
                <a:stretch>
                  <a:fillRect t="-382" b="-1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>
            <a:extLst>
              <a:ext uri="{FF2B5EF4-FFF2-40B4-BE49-F238E27FC236}">
                <a16:creationId xmlns:a16="http://schemas.microsoft.com/office/drawing/2014/main" id="{A62A5E2E-5FEE-E71F-7090-CE732F278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86128" y="1588098"/>
            <a:ext cx="3122223" cy="2081482"/>
          </a:xfrm>
          <a:prstGeom prst="rect">
            <a:avLst/>
          </a:prstGeom>
          <a:noFill/>
        </p:spPr>
      </p:pic>
      <p:sp>
        <p:nvSpPr>
          <p:cNvPr id="8" name="Google Shape;382;p38">
            <a:extLst>
              <a:ext uri="{FF2B5EF4-FFF2-40B4-BE49-F238E27FC236}">
                <a16:creationId xmlns:a16="http://schemas.microsoft.com/office/drawing/2014/main" id="{6ABD74AB-8924-072E-6862-EF5E28568FDE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82;p38">
            <a:extLst>
              <a:ext uri="{FF2B5EF4-FFF2-40B4-BE49-F238E27FC236}">
                <a16:creationId xmlns:a16="http://schemas.microsoft.com/office/drawing/2014/main" id="{E2489F30-8A31-07AC-4C65-EBDD49DA28AB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82;p38">
            <a:extLst>
              <a:ext uri="{FF2B5EF4-FFF2-40B4-BE49-F238E27FC236}">
                <a16:creationId xmlns:a16="http://schemas.microsoft.com/office/drawing/2014/main" id="{A5930DAC-6A3C-E8BD-4610-3596C659847E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83583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9;p29">
            <a:extLst>
              <a:ext uri="{FF2B5EF4-FFF2-40B4-BE49-F238E27FC236}">
                <a16:creationId xmlns:a16="http://schemas.microsoft.com/office/drawing/2014/main" id="{6E6AD7DE-8413-509B-3DC3-90FF08AB47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249" y="213782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latin typeface="Golos Text Medium" panose="020B0604020202020204" charset="0"/>
                <a:cs typeface="Golos Text Medium" panose="020B0604020202020204" charset="0"/>
              </a:rPr>
              <a:t>Testing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33391573-557D-5C47-09A4-0377D66AA826}"/>
              </a:ext>
            </a:extLst>
          </p:cNvPr>
          <p:cNvSpPr txBox="1"/>
          <p:nvPr/>
        </p:nvSpPr>
        <p:spPr>
          <a:xfrm>
            <a:off x="683301" y="1810003"/>
            <a:ext cx="457200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Golos Text" panose="020B0604020202020204" charset="0"/>
                <a:cs typeface="Golos Text" panose="020B0604020202020204" charset="0"/>
              </a:rPr>
              <a:t>Maximum Steps</a:t>
            </a: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: Agent runs for a maximum of 200 steps per test image.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b="1" dirty="0">
                <a:latin typeface="Golos Text" panose="020B0604020202020204" charset="0"/>
                <a:cs typeface="Golos Text" panose="020B0604020202020204" charset="0"/>
              </a:rPr>
              <a:t>Decision Making</a:t>
            </a: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: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At each step, the agent decides to either transform the current box or trigger indication of object found.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When the trigger is used, the search for other objects continues from a new box covering a large portion of the image.</a:t>
            </a: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1D617F39-9E4E-83D0-4BF1-E66C67ED8ABA}"/>
              </a:ext>
            </a:extLst>
          </p:cNvPr>
          <p:cNvSpPr txBox="1"/>
          <p:nvPr/>
        </p:nvSpPr>
        <p:spPr>
          <a:xfrm>
            <a:off x="683301" y="5487226"/>
            <a:ext cx="45720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b="1" dirty="0">
                <a:latin typeface="Golos Text" panose="020B0604020202020204" charset="0"/>
                <a:cs typeface="Golos Text" panose="020B0604020202020204" charset="0"/>
              </a:rPr>
              <a:t>Restart Strategy</a:t>
            </a: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: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Search for objects is restarted under two conditions:</a:t>
            </a:r>
          </a:p>
          <a:p>
            <a:pPr marL="1085850" lvl="2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The agent uses the trigger.</a:t>
            </a:r>
          </a:p>
          <a:p>
            <a:pPr marL="1085850" lvl="2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40 steps pass without using the trigger.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b="1" dirty="0">
                <a:latin typeface="Golos Text" panose="020B0604020202020204" charset="0"/>
                <a:cs typeface="Golos Text" panose="020B0604020202020204" charset="0"/>
              </a:rPr>
              <a:t>Box Resetting</a:t>
            </a: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: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The very first box covers the entire scene.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After any restarting event, the new box has a reduced size (75% of image size).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The new box is placed in one of the four corners of the image in the same order (from top-left to right-bottom).</a:t>
            </a:r>
          </a:p>
        </p:txBody>
      </p:sp>
      <p:grpSp>
        <p:nvGrpSpPr>
          <p:cNvPr id="10" name="Nhóm 9">
            <a:extLst>
              <a:ext uri="{FF2B5EF4-FFF2-40B4-BE49-F238E27FC236}">
                <a16:creationId xmlns:a16="http://schemas.microsoft.com/office/drawing/2014/main" id="{A2BC593A-69B9-EA58-8D97-B9981D55BABD}"/>
              </a:ext>
            </a:extLst>
          </p:cNvPr>
          <p:cNvGrpSpPr/>
          <p:nvPr/>
        </p:nvGrpSpPr>
        <p:grpSpPr>
          <a:xfrm>
            <a:off x="6124412" y="1510540"/>
            <a:ext cx="2336287" cy="2257814"/>
            <a:chOff x="6255263" y="1566641"/>
            <a:chExt cx="2336287" cy="2257814"/>
          </a:xfrm>
        </p:grpSpPr>
        <p:pic>
          <p:nvPicPr>
            <p:cNvPr id="7" name="Hình ảnh 6" descr="Ảnh có chứa ảnh chụp màn hình, Phông chữ, văn bản, thiết kế&#10;&#10;Mô tả được tạo tự động">
              <a:extLst>
                <a:ext uri="{FF2B5EF4-FFF2-40B4-BE49-F238E27FC236}">
                  <a16:creationId xmlns:a16="http://schemas.microsoft.com/office/drawing/2014/main" id="{D40B8162-55A2-4650-9F2D-86DCF2DDE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5263" y="1566641"/>
              <a:ext cx="2178653" cy="749899"/>
            </a:xfrm>
            <a:prstGeom prst="rect">
              <a:avLst/>
            </a:prstGeom>
          </p:spPr>
        </p:pic>
        <p:pic>
          <p:nvPicPr>
            <p:cNvPr id="8" name="Hình ảnh 7" descr="Ảnh có chứa ảnh chụp màn hình, văn bản, thiết kế&#10;&#10;Mô tả được tạo tự động">
              <a:extLst>
                <a:ext uri="{FF2B5EF4-FFF2-40B4-BE49-F238E27FC236}">
                  <a16:creationId xmlns:a16="http://schemas.microsoft.com/office/drawing/2014/main" id="{BD1FBDDF-3143-11EC-A790-E39F8779A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5263" y="2397929"/>
              <a:ext cx="2336287" cy="747296"/>
            </a:xfrm>
            <a:prstGeom prst="rect">
              <a:avLst/>
            </a:prstGeom>
          </p:spPr>
        </p:pic>
        <p:pic>
          <p:nvPicPr>
            <p:cNvPr id="9" name="Hình ảnh 8" descr="Ảnh có chứa vòng tròn, ảnh chụp màn hình&#10;&#10;Mô tả được tạo tự động">
              <a:extLst>
                <a:ext uri="{FF2B5EF4-FFF2-40B4-BE49-F238E27FC236}">
                  <a16:creationId xmlns:a16="http://schemas.microsoft.com/office/drawing/2014/main" id="{46948DFE-7D05-BA0F-42FB-C102F3B2F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64660" y="2980227"/>
              <a:ext cx="559857" cy="844228"/>
            </a:xfrm>
            <a:prstGeom prst="rect">
              <a:avLst/>
            </a:prstGeom>
          </p:spPr>
        </p:pic>
      </p:grpSp>
      <p:sp>
        <p:nvSpPr>
          <p:cNvPr id="11" name="Google Shape;382;p38">
            <a:extLst>
              <a:ext uri="{FF2B5EF4-FFF2-40B4-BE49-F238E27FC236}">
                <a16:creationId xmlns:a16="http://schemas.microsoft.com/office/drawing/2014/main" id="{8A6A9094-C434-7C08-6F82-D1B3ACAB9F50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82;p38">
            <a:extLst>
              <a:ext uri="{FF2B5EF4-FFF2-40B4-BE49-F238E27FC236}">
                <a16:creationId xmlns:a16="http://schemas.microsoft.com/office/drawing/2014/main" id="{2578BFD6-A2C1-883A-B87B-4F9C3D4D42FF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82;p38">
            <a:extLst>
              <a:ext uri="{FF2B5EF4-FFF2-40B4-BE49-F238E27FC236}">
                <a16:creationId xmlns:a16="http://schemas.microsoft.com/office/drawing/2014/main" id="{F5F24665-46FA-90C0-9233-BBFBFAA5DE15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2611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9;p29">
            <a:extLst>
              <a:ext uri="{FF2B5EF4-FFF2-40B4-BE49-F238E27FC236}">
                <a16:creationId xmlns:a16="http://schemas.microsoft.com/office/drawing/2014/main" id="{6E6AD7DE-8413-509B-3DC3-90FF08AB47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249" y="213782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latin typeface="Golos Text Medium" panose="020B0604020202020204" charset="0"/>
                <a:cs typeface="Golos Text Medium" panose="020B0604020202020204" charset="0"/>
              </a:rPr>
              <a:t>Testing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33391573-557D-5C47-09A4-0377D66AA826}"/>
              </a:ext>
            </a:extLst>
          </p:cNvPr>
          <p:cNvSpPr txBox="1"/>
          <p:nvPr/>
        </p:nvSpPr>
        <p:spPr>
          <a:xfrm>
            <a:off x="683301" y="1131632"/>
            <a:ext cx="457200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Golos Text" panose="020B0604020202020204" charset="0"/>
                <a:cs typeface="Golos Text" panose="020B0604020202020204" charset="0"/>
              </a:rPr>
              <a:t>Maximum Steps</a:t>
            </a: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: Agent runs for a maximum of 200 steps per test image.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b="1" dirty="0">
                <a:latin typeface="Golos Text" panose="020B0604020202020204" charset="0"/>
                <a:cs typeface="Golos Text" panose="020B0604020202020204" charset="0"/>
              </a:rPr>
              <a:t>Decision Making</a:t>
            </a: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: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At each step, the agent decides to either transform the current box or trigger indication of object found.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When the trigger is used, the search for other objects continues from a new box covering a large portion of the image.</a:t>
            </a: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1D617F39-9E4E-83D0-4BF1-E66C67ED8ABA}"/>
              </a:ext>
            </a:extLst>
          </p:cNvPr>
          <p:cNvSpPr txBox="1"/>
          <p:nvPr/>
        </p:nvSpPr>
        <p:spPr>
          <a:xfrm>
            <a:off x="683301" y="2655126"/>
            <a:ext cx="45720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b="1" dirty="0">
                <a:latin typeface="Golos Text" panose="020B0604020202020204" charset="0"/>
                <a:cs typeface="Golos Text" panose="020B0604020202020204" charset="0"/>
              </a:rPr>
              <a:t>Restart Strategy</a:t>
            </a: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: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Search for objects is restarted under two conditions:</a:t>
            </a:r>
          </a:p>
          <a:p>
            <a:pPr marL="1085850" lvl="2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The agent uses the trigger.</a:t>
            </a:r>
          </a:p>
          <a:p>
            <a:pPr marL="1085850" lvl="2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40 steps pass without using the trigger.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b="1" dirty="0">
                <a:latin typeface="Golos Text" panose="020B0604020202020204" charset="0"/>
                <a:cs typeface="Golos Text" panose="020B0604020202020204" charset="0"/>
              </a:rPr>
              <a:t>Box Resetting</a:t>
            </a: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: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The very first box covers the entire scene.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After any restarting event, the new box has a reduced size (75% of image size).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Golos Text" panose="020B0604020202020204" charset="0"/>
                <a:cs typeface="Golos Text" panose="020B0604020202020204" charset="0"/>
              </a:rPr>
              <a:t>The new box is placed in one of the four corners of the image in the same order (from top-left to right-bottom).</a:t>
            </a:r>
          </a:p>
        </p:txBody>
      </p:sp>
      <p:pic>
        <p:nvPicPr>
          <p:cNvPr id="16" name="Hình ảnh 15" descr="Ảnh có chứa động vật có vú, thú cưng, con mèo, Ria động vật&#10;&#10;Mô tả được tạo tự động">
            <a:extLst>
              <a:ext uri="{FF2B5EF4-FFF2-40B4-BE49-F238E27FC236}">
                <a16:creationId xmlns:a16="http://schemas.microsoft.com/office/drawing/2014/main" id="{956725F6-4137-445D-AFB2-1959D0E45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346" y="805656"/>
            <a:ext cx="1635101" cy="1226326"/>
          </a:xfrm>
          <a:prstGeom prst="rect">
            <a:avLst/>
          </a:prstGeom>
        </p:spPr>
      </p:pic>
      <p:pic>
        <p:nvPicPr>
          <p:cNvPr id="18" name="Hình ảnh 17" descr="Ảnh có chứa động vật có vú, thú cưng, con chó, Giống chó&#10;&#10;Mô tả được tạo tự động">
            <a:extLst>
              <a:ext uri="{FF2B5EF4-FFF2-40B4-BE49-F238E27FC236}">
                <a16:creationId xmlns:a16="http://schemas.microsoft.com/office/drawing/2014/main" id="{A4AAF105-4F6B-98A1-4863-87F6724A2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472" y="2150274"/>
            <a:ext cx="1635101" cy="1226326"/>
          </a:xfrm>
          <a:prstGeom prst="rect">
            <a:avLst/>
          </a:prstGeom>
        </p:spPr>
      </p:pic>
      <p:pic>
        <p:nvPicPr>
          <p:cNvPr id="20" name="Hình ảnh 19" descr="Ảnh có chứa động vật có vú, thú cưng, con mèo, Ria động vật&#10;&#10;Mô tả được tạo tự động">
            <a:extLst>
              <a:ext uri="{FF2B5EF4-FFF2-40B4-BE49-F238E27FC236}">
                <a16:creationId xmlns:a16="http://schemas.microsoft.com/office/drawing/2014/main" id="{D27F2915-AD29-482F-01DD-467CE2B25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4048" y="2150274"/>
            <a:ext cx="1635101" cy="1226326"/>
          </a:xfrm>
          <a:prstGeom prst="rect">
            <a:avLst/>
          </a:prstGeom>
        </p:spPr>
      </p:pic>
      <p:pic>
        <p:nvPicPr>
          <p:cNvPr id="22" name="Hình ảnh 21" descr="Ảnh có chứa động vật có vú, thú cưng, con chó, Giống chó&#10;&#10;Mô tả được tạo tự động">
            <a:extLst>
              <a:ext uri="{FF2B5EF4-FFF2-40B4-BE49-F238E27FC236}">
                <a16:creationId xmlns:a16="http://schemas.microsoft.com/office/drawing/2014/main" id="{A8274ACC-71FD-B4AD-3036-250E1ADA54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471" y="3493842"/>
            <a:ext cx="1635101" cy="1226326"/>
          </a:xfrm>
          <a:prstGeom prst="rect">
            <a:avLst/>
          </a:prstGeom>
        </p:spPr>
      </p:pic>
      <p:pic>
        <p:nvPicPr>
          <p:cNvPr id="24" name="Hình ảnh 23" descr="Ảnh có chứa động vật có vú, con mèo, thú cưng, Ria động vật&#10;&#10;Mô tả được tạo tự động">
            <a:extLst>
              <a:ext uri="{FF2B5EF4-FFF2-40B4-BE49-F238E27FC236}">
                <a16:creationId xmlns:a16="http://schemas.microsoft.com/office/drawing/2014/main" id="{67E92F52-E61F-4DF4-5D7E-617BBE423C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4048" y="3494892"/>
            <a:ext cx="1635101" cy="1226326"/>
          </a:xfrm>
          <a:prstGeom prst="rect">
            <a:avLst/>
          </a:prstGeom>
        </p:spPr>
      </p:pic>
      <p:sp>
        <p:nvSpPr>
          <p:cNvPr id="25" name="Google Shape;382;p38">
            <a:extLst>
              <a:ext uri="{FF2B5EF4-FFF2-40B4-BE49-F238E27FC236}">
                <a16:creationId xmlns:a16="http://schemas.microsoft.com/office/drawing/2014/main" id="{1C3C35BB-36F8-1799-2B5C-0EC95EAFD156}"/>
              </a:ext>
            </a:extLst>
          </p:cNvPr>
          <p:cNvSpPr/>
          <p:nvPr/>
        </p:nvSpPr>
        <p:spPr>
          <a:xfrm>
            <a:off x="8426196" y="179293"/>
            <a:ext cx="137160" cy="137160"/>
          </a:xfrm>
          <a:prstGeom prst="ellipse">
            <a:avLst/>
          </a:prstGeom>
          <a:solidFill>
            <a:srgbClr val="EC79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382;p38">
            <a:extLst>
              <a:ext uri="{FF2B5EF4-FFF2-40B4-BE49-F238E27FC236}">
                <a16:creationId xmlns:a16="http://schemas.microsoft.com/office/drawing/2014/main" id="{1806B542-50FE-8C93-8F8D-24E90AE94CCD}"/>
              </a:ext>
            </a:extLst>
          </p:cNvPr>
          <p:cNvSpPr/>
          <p:nvPr/>
        </p:nvSpPr>
        <p:spPr>
          <a:xfrm>
            <a:off x="8606536" y="179293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382;p38">
            <a:extLst>
              <a:ext uri="{FF2B5EF4-FFF2-40B4-BE49-F238E27FC236}">
                <a16:creationId xmlns:a16="http://schemas.microsoft.com/office/drawing/2014/main" id="{594CEA9A-DE19-4EDA-186E-C7FE64DB3A4E}"/>
              </a:ext>
            </a:extLst>
          </p:cNvPr>
          <p:cNvSpPr/>
          <p:nvPr/>
        </p:nvSpPr>
        <p:spPr>
          <a:xfrm>
            <a:off x="8786876" y="179293"/>
            <a:ext cx="137160" cy="137160"/>
          </a:xfrm>
          <a:prstGeom prst="ellipse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82406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rtificial Intelligence by Slidesgo">
  <a:themeElements>
    <a:clrScheme name="Simple Light">
      <a:dk1>
        <a:srgbClr val="333746"/>
      </a:dk1>
      <a:lt1>
        <a:srgbClr val="5B627D"/>
      </a:lt1>
      <a:dk2>
        <a:srgbClr val="C8D3F4"/>
      </a:dk2>
      <a:lt2>
        <a:srgbClr val="E6E9F8"/>
      </a:lt2>
      <a:accent1>
        <a:srgbClr val="6D6AF7"/>
      </a:accent1>
      <a:accent2>
        <a:srgbClr val="EDBBD8"/>
      </a:accent2>
      <a:accent3>
        <a:srgbClr val="E67CB9"/>
      </a:accent3>
      <a:accent4>
        <a:srgbClr val="FFFFFF"/>
      </a:accent4>
      <a:accent5>
        <a:srgbClr val="FFFFFF"/>
      </a:accent5>
      <a:accent6>
        <a:srgbClr val="FFFFFF"/>
      </a:accent6>
      <a:hlink>
        <a:srgbClr val="33374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1544</TotalTime>
  <Words>1257</Words>
  <Application>Microsoft Office PowerPoint</Application>
  <PresentationFormat>Trình chiếu Trên màn hình (16:9)</PresentationFormat>
  <Paragraphs>160</Paragraphs>
  <Slides>28</Slides>
  <Notes>23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8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28</vt:i4>
      </vt:variant>
    </vt:vector>
  </HeadingPairs>
  <TitlesOfParts>
    <vt:vector size="37" baseType="lpstr">
      <vt:lpstr>Arial</vt:lpstr>
      <vt:lpstr>Golos Text Medium</vt:lpstr>
      <vt:lpstr>Bebas Neue</vt:lpstr>
      <vt:lpstr>Times New Roman</vt:lpstr>
      <vt:lpstr>Symbol</vt:lpstr>
      <vt:lpstr>Cambria Math</vt:lpstr>
      <vt:lpstr>Golos Text</vt:lpstr>
      <vt:lpstr>Courier New</vt:lpstr>
      <vt:lpstr>Artificial Intelligence by Slidesgo</vt:lpstr>
      <vt:lpstr>Active Object Localization with Deep Reinforcement Learning</vt:lpstr>
      <vt:lpstr>01</vt:lpstr>
      <vt:lpstr>Introduction</vt:lpstr>
      <vt:lpstr>Introduction</vt:lpstr>
      <vt:lpstr>Foundations of  Deep Q-Network(DQN)</vt:lpstr>
      <vt:lpstr>Deep Q-Network(DQN)</vt:lpstr>
      <vt:lpstr>Bản trình bày PowerPoint</vt:lpstr>
      <vt:lpstr>Bản trình bày PowerPoint</vt:lpstr>
      <vt:lpstr>Modeling the Project</vt:lpstr>
      <vt:lpstr>Modeling the Project</vt:lpstr>
      <vt:lpstr>Modeling the Project</vt:lpstr>
      <vt:lpstr>Modeling the Project</vt:lpstr>
      <vt:lpstr>Bản trình bày PowerPoint</vt:lpstr>
      <vt:lpstr>Bản trình bày PowerPoint</vt:lpstr>
      <vt:lpstr>Bản trình bày PowerPoint</vt:lpstr>
      <vt:lpstr>Modeling the Project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Modeling the Project</vt:lpstr>
      <vt:lpstr>Training and testing agent</vt:lpstr>
      <vt:lpstr>Training</vt:lpstr>
      <vt:lpstr>Training</vt:lpstr>
      <vt:lpstr>Testing</vt:lpstr>
      <vt:lpstr>Testing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Active Object Localization with Deep Reinforcement Learning</dc:title>
  <cp:lastModifiedBy>Nguyễn Duy Hoàng</cp:lastModifiedBy>
  <cp:revision>10</cp:revision>
  <dcterms:modified xsi:type="dcterms:W3CDTF">2024-05-27T18:10:46Z</dcterms:modified>
</cp:coreProperties>
</file>